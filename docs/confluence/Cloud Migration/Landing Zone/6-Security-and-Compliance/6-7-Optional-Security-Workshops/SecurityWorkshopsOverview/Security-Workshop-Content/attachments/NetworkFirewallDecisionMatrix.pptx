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6"/>
  </p:notesMasterIdLst>
  <p:sldIdLst>
    <p:sldId id="256" r:id="rId2"/>
    <p:sldId id="332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4"/>
    <p:restoredTop sz="94654"/>
  </p:normalViewPr>
  <p:slideViewPr>
    <p:cSldViewPr snapToGrid="0" snapToObjects="1">
      <p:cViewPr varScale="1">
        <p:scale>
          <a:sx n="108" d="100"/>
          <a:sy n="108" d="100"/>
        </p:scale>
        <p:origin x="9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C3AAC-2068-1E4C-ADC0-0FD79A6CEBBC}" type="datetimeFigureOut">
              <a:rPr lang="en-US" smtClean="0"/>
              <a:t>1/6/22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96E5-050C-1A4B-B8E3-5E93ED9BE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96E5-050C-1A4B-B8E3-5E93ED9BE5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09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96E5-050C-1A4B-B8E3-5E93ED9BE5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1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Two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ircuit&#10;&#10;Description automatically generated">
            <a:extLst>
              <a:ext uri="{FF2B5EF4-FFF2-40B4-BE49-F238E27FC236}">
                <a16:creationId xmlns:a16="http://schemas.microsoft.com/office/drawing/2014/main" id="{EB79ABD2-77EF-0C4F-B055-29A37E0C2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544306"/>
            <a:ext cx="9766651" cy="9927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5333" b="1" i="0" baseline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 dirty="0"/>
              <a:t>&lt;Deck Name&gt;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55CFE5-79A0-2241-8BAE-D4D12B9367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54" y="608969"/>
            <a:ext cx="2667224" cy="6486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42B9AE-85B2-A345-8B42-11CF8247DF17}"/>
              </a:ext>
            </a:extLst>
          </p:cNvPr>
          <p:cNvSpPr txBox="1"/>
          <p:nvPr userDrawn="1"/>
        </p:nvSpPr>
        <p:spPr>
          <a:xfrm>
            <a:off x="449055" y="6465318"/>
            <a:ext cx="3896729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bg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2022,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70089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CA0-5CE7-1A4B-ACE6-C7A15B8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8551" cy="82782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0D4E-8635-D746-9FE7-1EE20F4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1371600"/>
            <a:ext cx="11258551" cy="3905251"/>
          </a:xfrm>
          <a:prstGeom prst="rect">
            <a:avLst/>
          </a:prstGeom>
        </p:spPr>
        <p:txBody>
          <a:bodyPr/>
          <a:lstStyle>
            <a:lvl5pPr>
              <a:defRPr sz="1584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62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lide_and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86548D8-D9FB-054A-9AD0-44D069600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1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960284"/>
            <a:ext cx="6849533" cy="652565"/>
          </a:xfrm>
          <a:prstGeom prst="rect">
            <a:avLst/>
          </a:prstGeom>
        </p:spPr>
        <p:txBody>
          <a:bodyPr/>
          <a:lstStyle>
            <a:lvl1pPr>
              <a:defRPr sz="2417"/>
            </a:lvl1pPr>
            <a:lvl2pPr marL="609576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123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C21DCCE-A66B-3244-9665-1280DD6FC4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1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6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2E1C8C4-E63C-3F41-ABD7-B5CC619386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1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_Squid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8600DD44-FCC7-ED47-B3B5-752A82670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1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22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_Bulleted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9551" cy="7276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371600"/>
            <a:ext cx="1125855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17"/>
            </a:lvl2pPr>
            <a:lvl3pPr>
              <a:defRPr sz="2167"/>
            </a:lvl3pPr>
            <a:lvl4pPr marL="1828727" indent="0">
              <a:buNone/>
              <a:defRPr sz="2167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115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Bulleted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8551" cy="727655"/>
          </a:xfrm>
        </p:spPr>
        <p:txBody>
          <a:bodyPr>
            <a:normAutofit/>
          </a:bodyPr>
          <a:lstStyle>
            <a:lvl1pPr>
              <a:defRPr sz="3167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C5D45-2516-944B-852E-9416AD287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1371600"/>
            <a:ext cx="5334000" cy="4241347"/>
          </a:xfrm>
          <a:prstGeom prst="rect">
            <a:avLst/>
          </a:prstGeom>
        </p:spPr>
        <p:txBody>
          <a:bodyPr/>
          <a:lstStyle>
            <a:lvl5pPr>
              <a:defRPr sz="1584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680DD99-A52C-8C44-9396-106AF36BB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1751" y="1371600"/>
            <a:ext cx="5334000" cy="4241347"/>
          </a:xfrm>
          <a:prstGeom prst="rect">
            <a:avLst/>
          </a:prstGeom>
        </p:spPr>
        <p:txBody>
          <a:bodyPr/>
          <a:lstStyle>
            <a:lvl5pPr>
              <a:defRPr sz="1584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0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an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8551" cy="727655"/>
          </a:xfrm>
        </p:spPr>
        <p:txBody>
          <a:bodyPr>
            <a:normAutofit/>
          </a:bodyPr>
          <a:lstStyle>
            <a:lvl1pPr>
              <a:defRPr sz="3167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8B8829-AB11-E54F-AFFF-11D6AD397D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1751" y="1371600"/>
            <a:ext cx="5334000" cy="424028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05C376-814F-9B49-99E8-6F17D4026F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371600"/>
            <a:ext cx="5334000" cy="4239683"/>
          </a:xfrm>
          <a:prstGeom prst="rect">
            <a:avLst/>
          </a:prstGeom>
        </p:spPr>
        <p:txBody>
          <a:bodyPr/>
          <a:lstStyle>
            <a:lvl1pPr marL="0" marR="0" indent="0" algn="l" defTabSz="60957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84" b="1">
                <a:solidFill>
                  <a:schemeClr val="tx1"/>
                </a:solidFill>
                <a:latin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6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8551" cy="727655"/>
          </a:xfrm>
        </p:spPr>
        <p:txBody>
          <a:bodyPr>
            <a:normAutofit/>
          </a:bodyPr>
          <a:lstStyle>
            <a:lvl1pPr>
              <a:defRPr sz="3167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198" y="1371601"/>
            <a:ext cx="3810000" cy="419052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24800" y="1371601"/>
            <a:ext cx="3810000" cy="419052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FF44110-D1F4-664B-9593-7982833228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00" y="1371601"/>
            <a:ext cx="3048000" cy="223858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886DFCC3-A169-A648-A099-3583B633E6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3972789"/>
            <a:ext cx="3048000" cy="157741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1266698" cy="727655"/>
          </a:xfrm>
        </p:spPr>
        <p:txBody>
          <a:bodyPr>
            <a:normAutofit/>
          </a:bodyPr>
          <a:lstStyle>
            <a:lvl1pPr>
              <a:defRPr sz="316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2" y="1371601"/>
            <a:ext cx="6941818" cy="419052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1371601"/>
            <a:ext cx="3962400" cy="419052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1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Image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8551" cy="727655"/>
          </a:xfrm>
        </p:spPr>
        <p:txBody>
          <a:bodyPr>
            <a:normAutofit/>
          </a:bodyPr>
          <a:lstStyle>
            <a:lvl1pPr>
              <a:defRPr sz="3167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1371601"/>
            <a:ext cx="11262360" cy="444846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27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lee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"/>
            <a:ext cx="12192000" cy="685799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8551" cy="727655"/>
          </a:xfrm>
        </p:spPr>
        <p:txBody>
          <a:bodyPr>
            <a:normAutofit/>
          </a:bodyPr>
          <a:lstStyle>
            <a:lvl1pPr>
              <a:defRPr sz="316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45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Logo_Customer_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3249"/>
            <a:ext cx="11258551" cy="72692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5E46D-C0D2-7642-AF47-40070CB7653A}"/>
              </a:ext>
            </a:extLst>
          </p:cNvPr>
          <p:cNvSpPr/>
          <p:nvPr userDrawn="1"/>
        </p:nvSpPr>
        <p:spPr>
          <a:xfrm>
            <a:off x="0" y="1371600"/>
            <a:ext cx="12192000" cy="444137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4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88896" y="20853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606916" y="20853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424936" y="20853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9242956" y="20853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F1543634-A736-BA4B-A10A-31EE0B13F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8896" y="39141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1DBC551-9315-1F45-A672-93EB0600749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606916" y="39141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AB66963A-7841-B341-A47C-7BEFE1F8B8C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24936" y="39141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7E808491-1004-3A44-87DD-41D21C9E39C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42956" y="3914150"/>
            <a:ext cx="1690824" cy="12651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7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Logo_Customer_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3249"/>
            <a:ext cx="11258551" cy="726923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453252" y="1561224"/>
            <a:ext cx="2565400" cy="146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33">
                <a:solidFill>
                  <a:srgbClr val="C2C2C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639078" y="1561224"/>
            <a:ext cx="2565400" cy="146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33">
                <a:solidFill>
                  <a:srgbClr val="C2C2C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833298" y="1561224"/>
            <a:ext cx="2565400" cy="146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33">
                <a:solidFill>
                  <a:srgbClr val="C2C2C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453252" y="3709832"/>
            <a:ext cx="2565400" cy="146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33">
                <a:solidFill>
                  <a:srgbClr val="C2C2C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639078" y="3709832"/>
            <a:ext cx="2565400" cy="146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33">
                <a:solidFill>
                  <a:srgbClr val="C2C2C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8833298" y="3709832"/>
            <a:ext cx="2565400" cy="146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33">
                <a:solidFill>
                  <a:srgbClr val="C2C2C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55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3248"/>
            <a:ext cx="11258551" cy="727655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7DA888D-68DB-9B44-9614-56AAAAE93DF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7201" y="1371601"/>
            <a:ext cx="11258551" cy="416983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4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48"/>
            <a:ext cx="11257885" cy="727655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B3C77AD1-4897-A546-B977-5EB6406DD175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57201" y="1371600"/>
            <a:ext cx="11258551" cy="453813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64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49"/>
            <a:ext cx="11257885" cy="726923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878172D-692F-8A47-81EA-89C129774DB9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57201" y="1371600"/>
            <a:ext cx="11258551" cy="453813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14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49"/>
            <a:ext cx="11257885" cy="726923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08142378-5C5C-8B40-AD27-B9BE74F6EA7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57201" y="1371600"/>
            <a:ext cx="11258551" cy="453813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521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Slide_and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1BB08B99-C266-CB41-AD06-12C9349016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90801"/>
            <a:ext cx="10363200" cy="1240140"/>
          </a:xfrm>
        </p:spPr>
        <p:txBody>
          <a:bodyPr anchor="ctr">
            <a:noAutofit/>
          </a:bodyPr>
          <a:lstStyle>
            <a:lvl1pPr algn="l">
              <a:defRPr sz="80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Q&amp;A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960284"/>
            <a:ext cx="6849533" cy="652565"/>
          </a:xfrm>
          <a:prstGeom prst="rect">
            <a:avLst/>
          </a:prstGeom>
        </p:spPr>
        <p:txBody>
          <a:bodyPr/>
          <a:lstStyle>
            <a:lvl1pPr>
              <a:defRPr sz="2417"/>
            </a:lvl1pPr>
            <a:lvl2pPr marL="609576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230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_Slide_and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340E26-B0F6-0540-8F51-9CF877A48E26}"/>
              </a:ext>
            </a:extLst>
          </p:cNvPr>
          <p:cNvSpPr/>
          <p:nvPr userDrawn="1"/>
        </p:nvSpPr>
        <p:spPr>
          <a:xfrm>
            <a:off x="10820400" y="6126480"/>
            <a:ext cx="1107440" cy="5689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90801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960284"/>
            <a:ext cx="6849533" cy="652565"/>
          </a:xfrm>
          <a:prstGeom prst="rect">
            <a:avLst/>
          </a:prstGeom>
        </p:spPr>
        <p:txBody>
          <a:bodyPr/>
          <a:lstStyle>
            <a:lvl1pPr>
              <a:defRPr sz="2417"/>
            </a:lvl1pPr>
            <a:lvl2pPr marL="609576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A picture containing circuit&#10;&#10;Description automatically generated">
            <a:extLst>
              <a:ext uri="{FF2B5EF4-FFF2-40B4-BE49-F238E27FC236}">
                <a16:creationId xmlns:a16="http://schemas.microsoft.com/office/drawing/2014/main" id="{5B69008D-B32B-6543-BFC2-D908D3639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ED8EC7-C9A3-554F-A897-11B3B77F6B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54" y="608969"/>
            <a:ext cx="2667224" cy="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27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153248"/>
            <a:ext cx="11262360" cy="753435"/>
          </a:xfrm>
        </p:spPr>
        <p:txBody>
          <a:bodyPr/>
          <a:lstStyle>
            <a:lvl1pPr>
              <a:defRPr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A43-5C49-A347-BAC4-268F3B7F1BC4}"/>
              </a:ext>
            </a:extLst>
          </p:cNvPr>
          <p:cNvSpPr txBox="1"/>
          <p:nvPr userDrawn="1"/>
        </p:nvSpPr>
        <p:spPr>
          <a:xfrm>
            <a:off x="449054" y="6403251"/>
            <a:ext cx="5929575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bg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2022, Amazon Web Services, Inc. or its Affiliates.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68472-78C1-FD4C-80A1-628CA86D3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24679" y="6275884"/>
            <a:ext cx="590993" cy="35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499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_of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248"/>
            <a:ext cx="11262360" cy="72765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123" y="1371600"/>
            <a:ext cx="11262360" cy="47385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990560" indent="-380985">
              <a:buFont typeface="Arial"/>
              <a:buChar char="•"/>
              <a:defRPr>
                <a:solidFill>
                  <a:schemeClr val="tx2"/>
                </a:solidFill>
              </a:defRPr>
            </a:lvl2pPr>
            <a:lvl3pPr marL="1523939" indent="-304788">
              <a:buFont typeface="Arial"/>
              <a:buChar char="•"/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75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_to_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763618" y="-379012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133B37-BB08-4347-B71D-D01F225ECB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9914968" y="8139953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54A5E-A2DC-9041-9311-DBC4F345DE43}"/>
              </a:ext>
            </a:extLst>
          </p:cNvPr>
          <p:cNvSpPr txBox="1"/>
          <p:nvPr userDrawn="1"/>
        </p:nvSpPr>
        <p:spPr>
          <a:xfrm>
            <a:off x="449054" y="6403251"/>
            <a:ext cx="5929575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bg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2022, Amazon Web Services, Inc. or its Affiliates. All rights reserved.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791862-4A02-AC41-AB46-5CAD4BB642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24679" y="6275884"/>
            <a:ext cx="590993" cy="35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756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017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>
            <a:normAutofit/>
          </a:bodyPr>
          <a:lstStyle>
            <a:lvl1pPr>
              <a:defRPr sz="3733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2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4548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id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903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990560" indent="-380985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523939" indent="-304788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7793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5761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EE2E-769C-EA40-82C2-28C31195B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9DE58-BA72-1B41-BE17-2C64FD873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36B15-123F-D242-B1D7-86B7637F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9AAA7-CF2E-8C47-9499-A771AD0DC4E7}" type="datetimeFigureOut">
              <a:rPr lang="en-US" smtClean="0"/>
              <a:t>1/6/22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7A7D1-7F22-0B42-9F22-51DDD26A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BA6E5-31D5-0C46-ABE3-99A65B45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C9D92-1C94-3A46-B3BF-2012003AA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765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8384DB2-857D-4745-B0D3-927D3A23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9152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4D0DC7-B8A6-4474-B095-9DBF2E284E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6200"/>
            <a:ext cx="109728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4425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609600" y="1346200"/>
            <a:ext cx="10972800" cy="4648200"/>
          </a:xfrm>
          <a:noFill/>
        </p:spPr>
        <p:txBody>
          <a:bodyPr/>
          <a:lstStyle>
            <a:lvl1pPr marL="0" indent="0">
              <a:buNone/>
              <a:defRPr lang="en-US" sz="1467">
                <a:solidFill>
                  <a:schemeClr val="accent1"/>
                </a:solidFill>
                <a:effectLst/>
                <a:latin typeface="Lucida Console" panose="020B0609040504020204" pitchFamily="49" charset="0"/>
              </a:defRPr>
            </a:lvl1pPr>
            <a:lvl2pPr marL="609585" indent="0">
              <a:buNone/>
              <a:defRPr>
                <a:latin typeface="Lucida Console" panose="020B0609040504020204" pitchFamily="49" charset="0"/>
              </a:defRPr>
            </a:lvl2pPr>
            <a:lvl3pPr marL="1219170" indent="0">
              <a:buNone/>
              <a:defRPr>
                <a:latin typeface="Lucida Console" panose="020B0609040504020204" pitchFamily="49" charset="0"/>
              </a:defRPr>
            </a:lvl3pPr>
            <a:lvl4pPr marL="1828754" indent="0">
              <a:buNone/>
              <a:defRPr>
                <a:latin typeface="Lucida Console" panose="020B0609040504020204" pitchFamily="49" charset="0"/>
              </a:defRPr>
            </a:lvl4pPr>
            <a:lvl5pPr marL="2438339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5485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1369471"/>
            <a:ext cx="5254752" cy="639763"/>
          </a:xfrm>
        </p:spPr>
        <p:txBody>
          <a:bodyPr anchor="b">
            <a:noAutofit/>
          </a:bodyPr>
          <a:lstStyle>
            <a:lvl1pPr marL="0" indent="0">
              <a:buNone/>
              <a:defRPr sz="2667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914400"/>
          </a:xfrm>
        </p:spPr>
        <p:txBody>
          <a:bodyPr>
            <a:normAutofit/>
          </a:bodyPr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369471"/>
            <a:ext cx="5254752" cy="639763"/>
          </a:xfrm>
        </p:spPr>
        <p:txBody>
          <a:bodyPr anchor="b">
            <a:noAutofit/>
          </a:bodyPr>
          <a:lstStyle>
            <a:lvl1pPr marL="0" indent="0">
              <a:buNone/>
              <a:defRPr sz="2667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A54E83-8B55-4A1E-B664-42F2DCDA3B1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09600" y="2159001"/>
            <a:ext cx="5257800" cy="3835400"/>
          </a:xfrm>
        </p:spPr>
        <p:txBody>
          <a:bodyPr/>
          <a:lstStyle>
            <a:lvl1pPr>
              <a:defRPr sz="2933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2262FEC-F99E-47D1-9B40-F8233565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2159001"/>
            <a:ext cx="5257800" cy="3835400"/>
          </a:xfrm>
        </p:spPr>
        <p:txBody>
          <a:bodyPr/>
          <a:lstStyle>
            <a:lvl1pPr>
              <a:defRPr sz="2933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747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3327400" cy="46482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54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0D5690-036B-4E43-8844-21263E983A5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432300" y="1346200"/>
            <a:ext cx="3327400" cy="46482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54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68F0DE-0C11-47FA-8BA3-D8FADFDD5DAB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255000" y="1346200"/>
            <a:ext cx="3327400" cy="4648200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54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78732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609600" y="2139139"/>
            <a:ext cx="2396067" cy="1792816"/>
          </a:xfrm>
        </p:spPr>
        <p:txBody>
          <a:bodyPr lIns="91440" tIns="91440" rIns="91440" bIns="91440">
            <a:normAutofit/>
          </a:bodyPr>
          <a:lstStyle>
            <a:lvl1pPr algn="ctr">
              <a:defRPr sz="1467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971173C-3CAE-46B0-9678-E87FAEB7E3B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3468511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9219370-3080-4354-8628-DF27BE17E83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68511" y="2139139"/>
            <a:ext cx="2396067" cy="1792816"/>
          </a:xfrm>
        </p:spPr>
        <p:txBody>
          <a:bodyPr lIns="91440" tIns="91440" rIns="91440" bIns="91440">
            <a:normAutofit/>
          </a:bodyPr>
          <a:lstStyle>
            <a:lvl1pPr algn="ctr">
              <a:defRPr sz="1467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30FC05D-F97F-4F3D-85F7-D80372743937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327421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D96CFFD-1868-4C0E-8F33-73B07210888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27421" y="2139139"/>
            <a:ext cx="2396067" cy="1792816"/>
          </a:xfrm>
        </p:spPr>
        <p:txBody>
          <a:bodyPr lIns="91440" tIns="91440" rIns="91440" bIns="91440">
            <a:normAutofit/>
          </a:bodyPr>
          <a:lstStyle>
            <a:lvl1pPr algn="ctr">
              <a:defRPr sz="1467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51AF023-6FF2-4BB6-9313-C545F220BBEE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186333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49B03E27-DA02-4F54-8856-C166514AF43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86333" y="2139139"/>
            <a:ext cx="2396067" cy="1792816"/>
          </a:xfrm>
        </p:spPr>
        <p:txBody>
          <a:bodyPr lIns="91440" tIns="91440" rIns="91440" bIns="91440">
            <a:normAutofit/>
          </a:bodyPr>
          <a:lstStyle>
            <a:lvl1pPr algn="ctr">
              <a:defRPr sz="1467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3175298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7952"/>
            <a:ext cx="10972800" cy="9037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977665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09600" y="1346201"/>
            <a:ext cx="2565400" cy="1467556"/>
          </a:xfrm>
        </p:spPr>
        <p:txBody>
          <a:bodyPr vert="horz" lIns="91440" tIns="91440" rIns="91440" bIns="91440" rtlCol="0" anchor="t" anchorCtr="0">
            <a:normAutofit/>
          </a:bodyPr>
          <a:lstStyle>
            <a:lvl1pPr>
              <a:defRPr lang="en-US" sz="1467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7133F2C-081C-4DEB-B293-57C0FE52EECC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4813300" y="2977665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267A65A-4A1D-47D8-AE69-0861100DFD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813300" y="1346201"/>
            <a:ext cx="2565400" cy="1467556"/>
          </a:xfrm>
        </p:spPr>
        <p:txBody>
          <a:bodyPr vert="horz" lIns="91440" tIns="91440" rIns="91440" bIns="91440" rtlCol="0" anchor="t" anchorCtr="0">
            <a:normAutofit/>
          </a:bodyPr>
          <a:lstStyle>
            <a:lvl1pPr>
              <a:defRPr lang="en-US" sz="1467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63E5681-650B-4794-96DD-315ECA19B98E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9017000" y="2977665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F3CC94DD-1C45-4C7C-AF5B-BE39DE95DD8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7000" y="1346201"/>
            <a:ext cx="2565400" cy="1467556"/>
          </a:xfrm>
        </p:spPr>
        <p:txBody>
          <a:bodyPr vert="horz" lIns="91440" tIns="91440" rIns="91440" bIns="91440" rtlCol="0" anchor="t" anchorCtr="0">
            <a:normAutofit/>
          </a:bodyPr>
          <a:lstStyle>
            <a:lvl1pPr>
              <a:defRPr lang="en-US" sz="1467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4128365-4819-42F1-BBDE-696AF5A87C4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09600" y="555251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08036C-CB70-49EA-AF5D-DB7EED63B32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600" y="3921049"/>
            <a:ext cx="2565400" cy="1467556"/>
          </a:xfrm>
        </p:spPr>
        <p:txBody>
          <a:bodyPr vert="horz" lIns="91440" tIns="91440" rIns="91440" bIns="91440" rtlCol="0" anchor="t" anchorCtr="0">
            <a:normAutofit/>
          </a:bodyPr>
          <a:lstStyle>
            <a:lvl1pPr>
              <a:defRPr lang="en-US" sz="1467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1A965DC-E95B-4C27-A527-657B5550EDDB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4813300" y="555251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5F543EB6-A4F5-4850-847A-5EAB0F90584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813300" y="3921049"/>
            <a:ext cx="2565400" cy="1467556"/>
          </a:xfrm>
        </p:spPr>
        <p:txBody>
          <a:bodyPr vert="horz" lIns="91440" tIns="91440" rIns="91440" bIns="91440" rtlCol="0" anchor="t" anchorCtr="0">
            <a:normAutofit/>
          </a:bodyPr>
          <a:lstStyle>
            <a:lvl1pPr>
              <a:defRPr lang="en-US" sz="1467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54457F5-097F-4D16-9B8E-B6FE010B9BE6}"/>
              </a:ext>
            </a:extLst>
          </p:cNvPr>
          <p:cNvSpPr>
            <a:spLocks noGrp="1"/>
          </p:cNvSpPr>
          <p:nvPr>
            <p:ph type="body" sz="half" idx="29"/>
          </p:nvPr>
        </p:nvSpPr>
        <p:spPr>
          <a:xfrm>
            <a:off x="9017000" y="555251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87BF2FD-DAAE-4676-BBCC-BBBC32E97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17000" y="3921049"/>
            <a:ext cx="2565400" cy="1467556"/>
          </a:xfrm>
        </p:spPr>
        <p:txBody>
          <a:bodyPr vert="horz" lIns="91440" tIns="91440" rIns="91440" bIns="91440" rtlCol="0" anchor="t" anchorCtr="0">
            <a:normAutofit/>
          </a:bodyPr>
          <a:lstStyle>
            <a:lvl1pPr>
              <a:defRPr lang="en-US" sz="1467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2741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6CB2A42-BFAB-4D2F-BCCD-5492D304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9152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700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FD2386-D015-4C4C-84BF-0FFA3521BAA2}"/>
              </a:ext>
            </a:extLst>
          </p:cNvPr>
          <p:cNvSpPr/>
          <p:nvPr userDrawn="1"/>
        </p:nvSpPr>
        <p:spPr bwMode="white">
          <a:xfrm>
            <a:off x="0" y="5994400"/>
            <a:ext cx="12192000" cy="863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0601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8" y="153248"/>
            <a:ext cx="1126236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8" y="1371600"/>
            <a:ext cx="11262360" cy="4738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49055" y="6185520"/>
            <a:ext cx="3896729" cy="2871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bg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Security Overview</a:t>
            </a:r>
          </a:p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bg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2022, Amazon Web Services, Inc. or its Affiliates. All rights reserved.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AE1751-67C5-C441-99D7-5CD78ACF3F96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98" y="6286218"/>
            <a:ext cx="1180751" cy="2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7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7" r:id="rId30"/>
    <p:sldLayoutId id="2147483665" r:id="rId31"/>
    <p:sldLayoutId id="2147483666" r:id="rId32"/>
    <p:sldLayoutId id="2147483669" r:id="rId33"/>
    <p:sldLayoutId id="2147483670" r:id="rId34"/>
    <p:sldLayoutId id="2147483671" r:id="rId35"/>
    <p:sldLayoutId id="2147483672" r:id="rId36"/>
    <p:sldLayoutId id="2147483673" r:id="rId37"/>
    <p:sldLayoutId id="2147483675" r:id="rId38"/>
  </p:sldLayoutIdLst>
  <p:txStyles>
    <p:titleStyle>
      <a:lvl1pPr algn="l" defTabSz="609576" rtl="0" eaLnBrk="1" latinLnBrk="0" hangingPunct="1">
        <a:spcBef>
          <a:spcPct val="0"/>
        </a:spcBef>
        <a:buNone/>
        <a:defRPr sz="3167" b="1" i="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1pPr>
    </p:titleStyle>
    <p:bodyStyle>
      <a:lvl1pPr marL="0" indent="0" algn="l" defTabSz="609576" rtl="0" eaLnBrk="1" latinLnBrk="0" hangingPunct="1">
        <a:spcBef>
          <a:spcPct val="20000"/>
        </a:spcBef>
        <a:buFontTx/>
        <a:buNone/>
        <a:defRPr sz="2417" b="0" i="0" kern="1200">
          <a:solidFill>
            <a:schemeClr val="tx1"/>
          </a:solidFill>
          <a:latin typeface="Amazon Ember" panose="020B0603020204020204" pitchFamily="34" charset="0"/>
          <a:ea typeface="+mn-ea"/>
          <a:cs typeface="Amazon Ember" panose="020B0603020204020204" pitchFamily="34" charset="0"/>
        </a:defRPr>
      </a:lvl1pPr>
      <a:lvl2pPr marL="990560" indent="-380985" algn="l" defTabSz="609576" rtl="0" eaLnBrk="1" latinLnBrk="0" hangingPunct="1">
        <a:spcBef>
          <a:spcPct val="20000"/>
        </a:spcBef>
        <a:buFont typeface="Arial"/>
        <a:buChar char="•"/>
        <a:defRPr sz="2417" b="0" i="0" kern="1200">
          <a:solidFill>
            <a:schemeClr val="tx1"/>
          </a:solidFill>
          <a:latin typeface="Amazon Ember" panose="020B0603020204020204" pitchFamily="34" charset="0"/>
          <a:ea typeface="+mn-ea"/>
          <a:cs typeface="Amazon Ember" panose="020B0603020204020204" pitchFamily="34" charset="0"/>
        </a:defRPr>
      </a:lvl2pPr>
      <a:lvl3pPr marL="1523939" indent="-304788" algn="l" defTabSz="609576" rtl="0" eaLnBrk="1" latinLnBrk="0" hangingPunct="1">
        <a:spcBef>
          <a:spcPct val="20000"/>
        </a:spcBef>
        <a:buFont typeface="Arial"/>
        <a:buChar char="•"/>
        <a:defRPr sz="2167" b="0" i="0" kern="1200">
          <a:solidFill>
            <a:schemeClr val="tx1"/>
          </a:solidFill>
          <a:latin typeface="Amazon Ember" panose="020B0603020204020204" pitchFamily="34" charset="0"/>
          <a:ea typeface="+mn-ea"/>
          <a:cs typeface="Amazon Ember" panose="020B0603020204020204" pitchFamily="34" charset="0"/>
        </a:defRPr>
      </a:lvl3pPr>
      <a:lvl4pPr marL="2133515" indent="-304788" algn="l" defTabSz="609576" rtl="0" eaLnBrk="1" latinLnBrk="0" hangingPunct="1">
        <a:spcBef>
          <a:spcPct val="20000"/>
        </a:spcBef>
        <a:buFont typeface="Arial"/>
        <a:buChar char="–"/>
        <a:defRPr sz="1833" b="0" i="0" kern="1200">
          <a:solidFill>
            <a:schemeClr val="tx1"/>
          </a:solidFill>
          <a:latin typeface="Amazon Ember" panose="020B0603020204020204" pitchFamily="34" charset="0"/>
          <a:ea typeface="+mn-ea"/>
          <a:cs typeface="Amazon Ember" panose="020B0603020204020204" pitchFamily="34" charset="0"/>
        </a:defRPr>
      </a:lvl4pPr>
      <a:lvl5pPr marL="2743090" indent="-304788" algn="l" defTabSz="609576" rtl="0" eaLnBrk="1" latinLnBrk="0" hangingPunct="1">
        <a:spcBef>
          <a:spcPct val="20000"/>
        </a:spcBef>
        <a:buFont typeface="Arial"/>
        <a:buChar char="»"/>
        <a:defRPr sz="1584" b="0" i="0" kern="1200">
          <a:solidFill>
            <a:schemeClr val="tx1"/>
          </a:solidFill>
          <a:latin typeface="Amazon Ember" panose="020B0603020204020204" pitchFamily="34" charset="0"/>
          <a:ea typeface="+mn-ea"/>
          <a:cs typeface="Amazon Ember" panose="020B0603020204020204" pitchFamily="34" charset="0"/>
        </a:defRPr>
      </a:lvl5pPr>
      <a:lvl6pPr marL="3352666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42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17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93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6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51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27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02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78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54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29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05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8856">
          <p15:clr>
            <a:srgbClr val="F26B43"/>
          </p15:clr>
        </p15:guide>
        <p15:guide id="3" orient="horz" pos="1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blogs/networking-and-content-delivery/deployment-models-for-aws-network-firewall/" TargetMode="Externa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logs/networking-and-content-delivery/deployment-models-for-aws-network-firewall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E56C-807F-CB42-85F9-B2A21A606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519" y="1122363"/>
            <a:ext cx="9955481" cy="2306637"/>
          </a:xfrm>
        </p:spPr>
        <p:txBody>
          <a:bodyPr/>
          <a:lstStyle/>
          <a:p>
            <a:pPr algn="l"/>
            <a:r>
              <a:rPr lang="en-US" dirty="0"/>
              <a:t>AWS Network Firewall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5D06B-9552-554D-A199-26468319B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519" y="3602038"/>
            <a:ext cx="9955481" cy="1655762"/>
          </a:xfrm>
        </p:spPr>
        <p:txBody>
          <a:bodyPr/>
          <a:lstStyle/>
          <a:p>
            <a:pPr algn="l"/>
            <a:r>
              <a:rPr lang="en-US" dirty="0"/>
              <a:t>Considerations and Decisions</a:t>
            </a:r>
          </a:p>
        </p:txBody>
      </p:sp>
    </p:spTree>
    <p:extLst>
      <p:ext uri="{BB962C8B-B14F-4D97-AF65-F5344CB8AC3E}">
        <p14:creationId xmlns:p14="http://schemas.microsoft.com/office/powerpoint/2010/main" val="369069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B315-4BF7-9E4C-AF4D-8A1ABF2E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AWS Network Firewall and other AWS security services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3FEFB0-980D-9B4C-A125-8F48E9F1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95EB05-3D09-1840-BD3B-EDED20BC7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070871"/>
              </p:ext>
            </p:extLst>
          </p:nvPr>
        </p:nvGraphicFramePr>
        <p:xfrm>
          <a:off x="324558" y="1096436"/>
          <a:ext cx="11355255" cy="496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776">
                  <a:extLst>
                    <a:ext uri="{9D8B030D-6E8A-4147-A177-3AD203B41FA5}">
                      <a16:colId xmlns:a16="http://schemas.microsoft.com/office/drawing/2014/main" val="2982475721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6586033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666583440"/>
                    </a:ext>
                  </a:extLst>
                </a:gridCol>
                <a:gridCol w="2167467">
                  <a:extLst>
                    <a:ext uri="{9D8B030D-6E8A-4147-A177-3AD203B41FA5}">
                      <a16:colId xmlns:a16="http://schemas.microsoft.com/office/drawing/2014/main" val="4018715818"/>
                    </a:ext>
                  </a:extLst>
                </a:gridCol>
                <a:gridCol w="2027812">
                  <a:extLst>
                    <a:ext uri="{9D8B030D-6E8A-4147-A177-3AD203B41FA5}">
                      <a16:colId xmlns:a16="http://schemas.microsoft.com/office/drawing/2014/main" val="1640461883"/>
                    </a:ext>
                  </a:extLst>
                </a:gridCol>
              </a:tblGrid>
              <a:tr h="335370"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/>
                        <a:t>AWS Network Firewall</a:t>
                      </a:r>
                      <a:endParaRPr lang="en-US" sz="16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VPC Security Group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Network ACL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AWS WAF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50559164"/>
                  </a:ext>
                </a:extLst>
              </a:tr>
              <a:tr h="649303">
                <a:tc>
                  <a:txBody>
                    <a:bodyPr/>
                    <a:lstStyle/>
                    <a:p>
                      <a:r>
                        <a:rPr lang="en-US" sz="1500" b="1" dirty="0"/>
                        <a:t>Where</a:t>
                      </a:r>
                      <a:r>
                        <a:rPr lang="en-US" sz="1500" b="1" baseline="0" dirty="0"/>
                        <a:t> is the protection applied?</a:t>
                      </a:r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Route level, based on VPC routes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EC2 instance level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Subnet level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Endpoint</a:t>
                      </a:r>
                      <a:r>
                        <a:rPr lang="en-US" sz="1500" baseline="0" dirty="0"/>
                        <a:t> level </a:t>
                      </a:r>
                      <a:br>
                        <a:rPr lang="en-US" sz="1500" baseline="0" dirty="0"/>
                      </a:br>
                      <a:r>
                        <a:rPr lang="en-US" sz="1500" baseline="0" dirty="0"/>
                        <a:t>(API Gateway, ALB, CloudFront) </a:t>
                      </a:r>
                      <a:endParaRPr lang="en-US" sz="15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473193580"/>
                  </a:ext>
                </a:extLst>
              </a:tr>
              <a:tr h="335370">
                <a:tc>
                  <a:txBody>
                    <a:bodyPr/>
                    <a:lstStyle/>
                    <a:p>
                      <a:r>
                        <a:rPr lang="en-US" sz="1500" b="1" dirty="0"/>
                        <a:t>Stateful</a:t>
                      </a:r>
                      <a:r>
                        <a:rPr lang="en-US" sz="1500" b="1" baseline="0" dirty="0"/>
                        <a:t> or Stateless</a:t>
                      </a:r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Both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Stateful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Stateless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Stateless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218495866"/>
                  </a:ext>
                </a:extLst>
              </a:tr>
              <a:tr h="1233676">
                <a:tc>
                  <a:txBody>
                    <a:bodyPr/>
                    <a:lstStyle/>
                    <a:p>
                      <a:r>
                        <a:rPr lang="en-US" sz="1500" b="1" dirty="0"/>
                        <a:t>Which flows are protected?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All ingress/egress flows at perimeter</a:t>
                      </a:r>
                      <a:r>
                        <a:rPr lang="en-US" sz="1500" baseline="0" dirty="0"/>
                        <a:t> of VPC</a:t>
                      </a:r>
                      <a:r>
                        <a:rPr lang="en-US" sz="1500" dirty="0"/>
                        <a:t> (e.g. IGW, VGW, DX, VPN, VPC-VPC)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All ingress/egress flows</a:t>
                      </a:r>
                      <a:r>
                        <a:rPr lang="en-US" sz="1500" baseline="0" dirty="0"/>
                        <a:t> at instance level (EC2-EC2, EC2-IGW, EC2-DX, etc.)</a:t>
                      </a:r>
                      <a:endParaRPr 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10972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All ingress/egress flows</a:t>
                      </a:r>
                      <a:r>
                        <a:rPr lang="en-US" sz="1500" baseline="0" dirty="0"/>
                        <a:t> at subnet level (subnet-subnet, subnet-IGW, subnet-DX, etc.)</a:t>
                      </a:r>
                      <a:endParaRPr lang="en-US" sz="1500" dirty="0"/>
                    </a:p>
                    <a:p>
                      <a:pPr algn="ctr"/>
                      <a:endParaRPr 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Ingress only</a:t>
                      </a:r>
                      <a:r>
                        <a:rPr lang="en-US" sz="1500" baseline="0" dirty="0"/>
                        <a:t> from internet to </a:t>
                      </a:r>
                      <a:br>
                        <a:rPr lang="en-US" sz="1500" baseline="0" dirty="0"/>
                      </a:br>
                      <a:r>
                        <a:rPr lang="en-US" sz="1500" baseline="0" dirty="0"/>
                        <a:t>API Gateway, ALB, CloudFront</a:t>
                      </a:r>
                      <a:endParaRPr lang="en-US" sz="15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532539000"/>
                  </a:ext>
                </a:extLst>
              </a:tr>
              <a:tr h="259721">
                <a:tc>
                  <a:txBody>
                    <a:bodyPr/>
                    <a:lstStyle/>
                    <a:p>
                      <a:r>
                        <a:rPr lang="en-US" sz="1500" b="1" dirty="0"/>
                        <a:t>Which</a:t>
                      </a:r>
                      <a:r>
                        <a:rPr lang="en-US" sz="1500" b="1" baseline="0" dirty="0"/>
                        <a:t> OSI Layer?</a:t>
                      </a:r>
                      <a:endParaRPr lang="en-US" sz="15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L3-7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L4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L3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L7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631792455"/>
                  </a:ext>
                </a:extLst>
              </a:tr>
              <a:tr h="1233676">
                <a:tc>
                  <a:txBody>
                    <a:bodyPr/>
                    <a:lstStyle/>
                    <a:p>
                      <a:r>
                        <a:rPr lang="en-US" sz="1500" b="1" dirty="0"/>
                        <a:t>Features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Stateless/ACL L3 rules, stateful/L4 rules, IPS-IDS/L7 rules, FQDN filtering, Protocol detection, Deep packet inspection, Large IP</a:t>
                      </a:r>
                      <a:r>
                        <a:rPr lang="en-US" sz="1500" baseline="0" dirty="0"/>
                        <a:t> block/allow lists</a:t>
                      </a:r>
                      <a:endParaRPr 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IP | Port | Protocol filtering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IP | Port | Protocol filtering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Deep application layer filtering,</a:t>
                      </a:r>
                      <a:r>
                        <a:rPr lang="en-US" sz="1500" baseline="0" dirty="0"/>
                        <a:t> managed rules</a:t>
                      </a:r>
                      <a:endParaRPr lang="en-US" sz="15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008685912"/>
                  </a:ext>
                </a:extLst>
              </a:tr>
              <a:tr h="259721">
                <a:tc>
                  <a:txBody>
                    <a:bodyPr/>
                    <a:lstStyle/>
                    <a:p>
                      <a:r>
                        <a:rPr lang="en-US" sz="1500" b="1" dirty="0"/>
                        <a:t>Default Behavior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Allow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Deny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Allow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Customer chooses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42886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3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8BA5A-495D-D540-AC6A-FDB1C60D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Network Firewall Considerations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D775D-6028-BD4B-BEAF-A00099D619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066797"/>
              </p:ext>
            </p:extLst>
          </p:nvPr>
        </p:nvGraphicFramePr>
        <p:xfrm>
          <a:off x="661455" y="756920"/>
          <a:ext cx="10515600" cy="534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551138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04315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70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Highly available managed solution. Automatically scales with network traffic.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Cannot be deployed to inspect traffic between VPCs that are peered together; or on premises networks that are connected directly to a VPC using Virtual Private Gateway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13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 </a:t>
                      </a: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possibilities</a:t>
                      </a:r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deployments across complex environments (please see 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 configuration for protection, limited amount of third party rule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36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Centralized management through Firewall Manager, Automatically enforce multiple policies across multiple existing/new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 currently support deep packet inspection for encrypted traffic. As a workaround, a Network Load Balancer (NLB) can be used to decrypt traffic before sending it to an AWS Network Firewall endpoint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41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Packet Inspection capabilities to inspect/protect against data leaks, communication with known malware hosts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Lacking a dashboard and visualized reporting requires integrations such as Elasticsearch, Kibana, etc. (unless the customer has a logging/monitoring/reporting solution to integrate)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10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L3-L7 protection on VPC level. Supports layered protection in conjunction with SGs (instance level) and NACLs (subnet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15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HIPAA 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30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69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B315-4BF7-9E4C-AF4D-8A1ABF2E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Network Firewall Deployment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FF30-B4D2-3D4B-9EEC-8345C5FC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053" y="880903"/>
            <a:ext cx="10515600" cy="552964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dk1"/>
                </a:solidFill>
                <a:hlinkClick r:id="rId3"/>
              </a:rPr>
              <a:t>Possibilities</a:t>
            </a:r>
            <a:r>
              <a:rPr lang="en-US" sz="1600" dirty="0">
                <a:solidFill>
                  <a:schemeClr val="dk1"/>
                </a:solidFill>
              </a:rPr>
              <a:t> of deployments across complex environments. </a:t>
            </a:r>
            <a:r>
              <a:rPr lang="en-US" sz="1600" dirty="0"/>
              <a:t>Deployment model comparison below:</a:t>
            </a:r>
          </a:p>
          <a:p>
            <a:endParaRPr lang="en-US" sz="1600" dirty="0"/>
          </a:p>
          <a:p>
            <a:endParaRPr lang="en-US" sz="16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B37FC08-9652-D94D-A93A-50CFCD8D8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74957"/>
              </p:ext>
            </p:extLst>
          </p:nvPr>
        </p:nvGraphicFramePr>
        <p:xfrm>
          <a:off x="269630" y="1240772"/>
          <a:ext cx="11652740" cy="48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52">
                  <a:extLst>
                    <a:ext uri="{9D8B030D-6E8A-4147-A177-3AD203B41FA5}">
                      <a16:colId xmlns:a16="http://schemas.microsoft.com/office/drawing/2014/main" val="2846150162"/>
                    </a:ext>
                  </a:extLst>
                </a:gridCol>
                <a:gridCol w="2189018">
                  <a:extLst>
                    <a:ext uri="{9D8B030D-6E8A-4147-A177-3AD203B41FA5}">
                      <a16:colId xmlns:a16="http://schemas.microsoft.com/office/drawing/2014/main" val="4057112188"/>
                    </a:ext>
                  </a:extLst>
                </a:gridCol>
                <a:gridCol w="2466109">
                  <a:extLst>
                    <a:ext uri="{9D8B030D-6E8A-4147-A177-3AD203B41FA5}">
                      <a16:colId xmlns:a16="http://schemas.microsoft.com/office/drawing/2014/main" val="1377956096"/>
                    </a:ext>
                  </a:extLst>
                </a:gridCol>
                <a:gridCol w="3360261">
                  <a:extLst>
                    <a:ext uri="{9D8B030D-6E8A-4147-A177-3AD203B41FA5}">
                      <a16:colId xmlns:a16="http://schemas.microsoft.com/office/drawing/2014/main" val="782753366"/>
                    </a:ext>
                  </a:extLst>
                </a:gridCol>
              </a:tblGrid>
              <a:tr h="396880">
                <a:tc>
                  <a:txBody>
                    <a:bodyPr/>
                    <a:lstStyle/>
                    <a:p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Distributed AWS Network Firewall deployment model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Centralized AWS Network Firewall deployment model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Combined AWS Network Firewall deployment model</a:t>
                      </a:r>
                      <a:endParaRPr lang="en-US" sz="13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818754"/>
                  </a:ext>
                </a:extLst>
              </a:tr>
              <a:tr h="235648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East-West: VPC to VPC traffic flow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Not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508418"/>
                  </a:ext>
                </a:extLst>
              </a:tr>
              <a:tr h="396880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North-South: VPC to Internet traffic flow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158953"/>
                  </a:ext>
                </a:extLst>
              </a:tr>
              <a:tr h="396880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North-South: VPC to on-prem via VPN or DX traffic flow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Not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382859"/>
                  </a:ext>
                </a:extLst>
              </a:tr>
              <a:tr h="558113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Prerequisites 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AWS Network Firewall subnet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Inspection VPC and AWS Transit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AWS Network Firewall subnets in each protected VPC; Inspection VPC and AWS Transit Gateway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745992"/>
                  </a:ext>
                </a:extLst>
              </a:tr>
              <a:tr h="396880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Centralized management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Through AWS Firewall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Through a single instance of AWS Network Firewall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Through AWS Firewall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841772"/>
                  </a:ext>
                </a:extLst>
              </a:tr>
              <a:tr h="235648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Source IP visibility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Configuration 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Configuration 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558809"/>
                  </a:ext>
                </a:extLst>
              </a:tr>
              <a:tr h="396880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Misconfiguration risk and potential blast radius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Lowest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526788"/>
                  </a:ext>
                </a:extLst>
              </a:tr>
              <a:tr h="1041811">
                <a:tc>
                  <a:txBody>
                    <a:bodyPr/>
                    <a:lstStyle/>
                    <a:p>
                      <a:r>
                        <a:rPr lang="en-US" sz="1300" b="0" dirty="0">
                          <a:effectLst/>
                          <a:latin typeface="AmazonEmberBold" panose="020B0603020204020204" pitchFamily="34" charset="0"/>
                        </a:rPr>
                        <a:t>Cost</a:t>
                      </a:r>
                      <a:endParaRPr lang="en-US" sz="13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Per AWS Network Firewall 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Per AWS Transit Gateway attachments &amp; AWS Network Firewall endpoints; AWS Transit Gateway 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Per AWS Transit Gateway attachments &amp; AWS Network Firewall endpoints (including any additional endpoints per protected VPC); AWS Transit Gateway 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978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683359"/>
      </p:ext>
    </p:extLst>
  </p:cSld>
  <p:clrMapOvr>
    <a:masterClrMapping/>
  </p:clrMapOvr>
</p:sld>
</file>

<file path=ppt/theme/theme1.xml><?xml version="1.0" encoding="utf-8"?>
<a:theme xmlns:a="http://schemas.openxmlformats.org/drawingml/2006/main" name="DeckTemplate-AWS">
  <a:themeElements>
    <a:clrScheme name="Custom 44">
      <a:dk1>
        <a:srgbClr val="232F3E"/>
      </a:dk1>
      <a:lt1>
        <a:srgbClr val="FFFFFF"/>
      </a:lt1>
      <a:dk2>
        <a:srgbClr val="161E2C"/>
      </a:dk2>
      <a:lt2>
        <a:srgbClr val="FFFFFF"/>
      </a:lt2>
      <a:accent1>
        <a:srgbClr val="FF9900"/>
      </a:accent1>
      <a:accent2>
        <a:srgbClr val="00A0C8"/>
      </a:accent2>
      <a:accent3>
        <a:srgbClr val="007DBC"/>
      </a:accent3>
      <a:accent4>
        <a:srgbClr val="69AE35"/>
      </a:accent4>
      <a:accent5>
        <a:srgbClr val="1D8900"/>
      </a:accent5>
      <a:accent6>
        <a:srgbClr val="FF5745"/>
      </a:accent6>
      <a:hlink>
        <a:srgbClr val="00E0EA"/>
      </a:hlink>
      <a:folHlink>
        <a:srgbClr val="00A0C8"/>
      </a:folHlink>
    </a:clrScheme>
    <a:fontScheme name="Test">
      <a:majorFont>
        <a:latin typeface="Amazon Ember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900" dirty="0" err="1" smtClean="0">
            <a:latin typeface="Amazon Ember" panose="020B0603020204020204" pitchFamily="34" charset="0"/>
            <a:ea typeface="Amazon Ember" panose="020B0603020204020204" pitchFamily="34" charset="0"/>
            <a:cs typeface="Amazon Ember" panose="020B06030202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DD5447E7-1BDF-BD41-9E8B-E0293842AB9A}" vid="{6F65B5A0-ABE1-5C47-A1F0-1142A46F95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578</Words>
  <Application>Microsoft Macintosh PowerPoint</Application>
  <PresentationFormat>Widescreen</PresentationFormat>
  <Paragraphs>89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Amazon Ember</vt:lpstr>
      <vt:lpstr>Amazon Ember Light</vt:lpstr>
      <vt:lpstr>Amazon Ember Regular</vt:lpstr>
      <vt:lpstr>AmazonEmberBold</vt:lpstr>
      <vt:lpstr>Arial</vt:lpstr>
      <vt:lpstr>Calibri</vt:lpstr>
      <vt:lpstr>Lucida Console</vt:lpstr>
      <vt:lpstr>DeckTemplate-AWS</vt:lpstr>
      <vt:lpstr>AWS Network Firewall</vt:lpstr>
      <vt:lpstr>AWS Network Firewall and other AWS security services</vt:lpstr>
      <vt:lpstr>AWS Network Firewall Considerations</vt:lpstr>
      <vt:lpstr>AWS Network Firewall Deployment Scenarios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cxcxc</dc:title>
  <dc:creator>Microsoft Office User</dc:creator>
  <cp:lastModifiedBy>Microsoft Office User</cp:lastModifiedBy>
  <cp:revision>13</cp:revision>
  <dcterms:created xsi:type="dcterms:W3CDTF">2021-09-20T16:46:44Z</dcterms:created>
  <dcterms:modified xsi:type="dcterms:W3CDTF">2022-01-07T04:21:11Z</dcterms:modified>
</cp:coreProperties>
</file>