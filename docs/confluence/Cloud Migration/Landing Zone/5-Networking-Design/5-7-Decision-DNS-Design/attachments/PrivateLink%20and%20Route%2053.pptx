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1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3E129-01CD-496F-AA9F-0668BBE6D4C1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23322-8DC2-4A19-89E1-25798C691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3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Regular" charset="0"/>
                <a:ea typeface="+mn-ea"/>
                <a:cs typeface="+mn-cs"/>
              </a:rPr>
              <a:pPr marL="0" marR="0" lvl="0" indent="0" algn="r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58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2959" y="-151217"/>
            <a:ext cx="12746063" cy="721123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50532" y="5274697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50532" y="5782698"/>
            <a:ext cx="4910667" cy="493184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50532" y="2544305"/>
            <a:ext cx="9766651" cy="992716"/>
          </a:xfrm>
        </p:spPr>
        <p:txBody>
          <a:bodyPr>
            <a:noAutofit/>
          </a:bodyPr>
          <a:lstStyle>
            <a:lvl1pPr marL="0" indent="0" algn="l">
              <a:buNone/>
              <a:defRPr sz="5333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50533" y="3544768"/>
            <a:ext cx="8055443" cy="650465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850" y="586202"/>
            <a:ext cx="1295407" cy="7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42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908" y="1708044"/>
            <a:ext cx="5459092" cy="515251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50532" y="5274697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50532" y="5782698"/>
            <a:ext cx="4910667" cy="493184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50532" y="2544305"/>
            <a:ext cx="9766651" cy="992716"/>
          </a:xfrm>
        </p:spPr>
        <p:txBody>
          <a:bodyPr>
            <a:noAutofit/>
          </a:bodyPr>
          <a:lstStyle>
            <a:lvl1pPr marL="0" indent="0" algn="l">
              <a:buNone/>
              <a:defRPr sz="5333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50533" y="3544768"/>
            <a:ext cx="8055443" cy="650465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850" y="586202"/>
            <a:ext cx="1295407" cy="7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9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990560" indent="-380985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523939" indent="-304788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104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48818" y="1347211"/>
            <a:ext cx="10943656" cy="4855902"/>
          </a:xfrm>
          <a:noFill/>
        </p:spPr>
        <p:txBody>
          <a:bodyPr/>
          <a:lstStyle>
            <a:lvl1pPr marL="0" indent="0">
              <a:buNone/>
              <a:defRPr lang="en-US" sz="1467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609576" indent="0">
              <a:buNone/>
              <a:defRPr>
                <a:latin typeface="Lucida Console" panose="020B0609040504020204" pitchFamily="49" charset="0"/>
              </a:defRPr>
            </a:lvl2pPr>
            <a:lvl3pPr marL="1219151" indent="0">
              <a:buNone/>
              <a:defRPr>
                <a:latin typeface="Lucida Console" panose="020B0609040504020204" pitchFamily="49" charset="0"/>
              </a:defRPr>
            </a:lvl3pPr>
            <a:lvl4pPr marL="1828727" indent="0">
              <a:buNone/>
              <a:defRPr>
                <a:latin typeface="Lucida Console" panose="020B0609040504020204" pitchFamily="49" charset="0"/>
              </a:defRPr>
            </a:lvl4pPr>
            <a:lvl5pPr marL="2438302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0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525" y="2625603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348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>
            <a:normAutofit/>
          </a:bodyPr>
          <a:lstStyle>
            <a:lvl1pPr>
              <a:defRPr sz="3733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2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3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324" y="1344071"/>
            <a:ext cx="5386918" cy="639763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6" indent="0">
              <a:buNone/>
              <a:defRPr sz="2667" b="1"/>
            </a:lvl2pPr>
            <a:lvl3pPr marL="1219151" indent="0">
              <a:buNone/>
              <a:defRPr sz="2400" b="1"/>
            </a:lvl3pPr>
            <a:lvl4pPr marL="1828727" indent="0">
              <a:buNone/>
              <a:defRPr sz="2133" b="1"/>
            </a:lvl4pPr>
            <a:lvl5pPr marL="2438302" indent="0">
              <a:buNone/>
              <a:defRPr sz="2133" b="1"/>
            </a:lvl5pPr>
            <a:lvl6pPr marL="3047878" indent="0">
              <a:buNone/>
              <a:defRPr sz="2133" b="1"/>
            </a:lvl6pPr>
            <a:lvl7pPr marL="3657454" indent="0">
              <a:buNone/>
              <a:defRPr sz="2133" b="1"/>
            </a:lvl7pPr>
            <a:lvl8pPr marL="4267029" indent="0">
              <a:buNone/>
              <a:defRPr sz="2133" b="1"/>
            </a:lvl8pPr>
            <a:lvl9pPr marL="487660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324" y="1983832"/>
            <a:ext cx="5386918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>
            <a:normAutofit/>
          </a:bodyPr>
          <a:lstStyle>
            <a:lvl1pPr>
              <a:defRPr sz="3733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4093" y="1344071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76" indent="0">
              <a:buNone/>
              <a:defRPr sz="2667" b="1"/>
            </a:lvl2pPr>
            <a:lvl3pPr marL="1219151" indent="0">
              <a:buNone/>
              <a:defRPr sz="2400" b="1"/>
            </a:lvl3pPr>
            <a:lvl4pPr marL="1828727" indent="0">
              <a:buNone/>
              <a:defRPr sz="2133" b="1"/>
            </a:lvl4pPr>
            <a:lvl5pPr marL="2438302" indent="0">
              <a:buNone/>
              <a:defRPr sz="2133" b="1"/>
            </a:lvl5pPr>
            <a:lvl6pPr marL="3047878" indent="0">
              <a:buNone/>
              <a:defRPr sz="2133" b="1"/>
            </a:lvl6pPr>
            <a:lvl7pPr marL="3657454" indent="0">
              <a:buNone/>
              <a:defRPr sz="2133" b="1"/>
            </a:lvl7pPr>
            <a:lvl8pPr marL="4267029" indent="0">
              <a:buNone/>
              <a:defRPr sz="2133" b="1"/>
            </a:lvl8pPr>
            <a:lvl9pPr marL="487660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6034093" y="1983832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905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026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4308002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8165981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655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322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3328996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9447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9320460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50322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328996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179447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9320460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70095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252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4639085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833307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53252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4639078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8833298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453252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639078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833298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453252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639078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8833298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579057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49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975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43393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0142" y="-9452"/>
            <a:ext cx="12372284" cy="699976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763618" y="-379012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9914966" y="8139953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863" y="2232571"/>
            <a:ext cx="8092722" cy="1667558"/>
          </a:xfrm>
        </p:spPr>
        <p:txBody>
          <a:bodyPr anchor="ctr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655" y="6274838"/>
            <a:ext cx="1477803" cy="3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40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763618" y="-379012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300347" y="1240199"/>
            <a:ext cx="8092722" cy="1667558"/>
          </a:xfrm>
        </p:spPr>
        <p:txBody>
          <a:bodyPr anchor="ctr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52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863" y="2232571"/>
            <a:ext cx="8092722" cy="1667558"/>
          </a:xfrm>
        </p:spPr>
        <p:txBody>
          <a:bodyPr anchor="ctr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069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4"/>
            <a:ext cx="10363200" cy="1362075"/>
          </a:xfrm>
        </p:spPr>
        <p:txBody>
          <a:bodyPr anchor="ctr">
            <a:noAutofit/>
          </a:bodyPr>
          <a:lstStyle>
            <a:lvl1pPr algn="l">
              <a:defRPr sz="5333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3518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EDECEA89-B313-4302-9956-254FEF807122}" type="slidenum">
              <a:rPr lang="en-US" smtClean="0">
                <a:solidFill>
                  <a:srgbClr val="474746"/>
                </a:solidFill>
              </a:rPr>
              <a:pPr/>
              <a:t>‹#›</a:t>
            </a:fld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9" name="Round Diagonal Corner Rectangle 8"/>
          <p:cNvSpPr/>
          <p:nvPr userDrawn="1">
            <p:custDataLst>
              <p:tags r:id="rId4"/>
            </p:custDataLst>
          </p:nvPr>
        </p:nvSpPr>
        <p:spPr>
          <a:xfrm>
            <a:off x="203200" y="174736"/>
            <a:ext cx="7112000" cy="346364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29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1" tIns="45711" rIns="91431" bIns="4571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09576"/>
            <a:endParaRPr lang="en-US" sz="1600" dirty="0">
              <a:solidFill>
                <a:srgbClr val="474746"/>
              </a:solidFill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232230" y="158696"/>
            <a:ext cx="6778171" cy="38417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6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4828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525963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192000" cy="11611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prstClr val="black"/>
              </a:solidFill>
              <a:latin typeface="Helvetica Ligh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028668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49">
          <p15:clr>
            <a:srgbClr val="FBAE40"/>
          </p15:clr>
        </p15:guide>
        <p15:guide id="2" pos="5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4123" y="1345776"/>
            <a:ext cx="10940405" cy="4738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bg1"/>
                </a:solidFill>
                <a:latin typeface="Amazon Ember Regular" charset="0"/>
              </a:rPr>
              <a:t>© 2020, Amazon Web Services, Inc. or its Affiliates.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655" y="6274838"/>
            <a:ext cx="1477803" cy="3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1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609576" rtl="0" eaLnBrk="1" latinLnBrk="0" hangingPunct="1">
        <a:spcBef>
          <a:spcPct val="0"/>
        </a:spcBef>
        <a:buNone/>
        <a:defRPr sz="3733" b="0" i="0" kern="1200">
          <a:solidFill>
            <a:srgbClr val="0E2735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609576" rtl="0" eaLnBrk="1" latinLnBrk="0" hangingPunct="1">
        <a:spcBef>
          <a:spcPct val="20000"/>
        </a:spcBef>
        <a:buFontTx/>
        <a:buNone/>
        <a:defRPr sz="32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1pPr>
      <a:lvl2pPr marL="990560" indent="-380985" algn="l" defTabSz="609576" rtl="0" eaLnBrk="1" latinLnBrk="0" hangingPunct="1">
        <a:spcBef>
          <a:spcPct val="20000"/>
        </a:spcBef>
        <a:buFont typeface="Arial"/>
        <a:buChar char="•"/>
        <a:defRPr sz="2667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2pPr>
      <a:lvl3pPr marL="1523939" indent="-304788" algn="l" defTabSz="609576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3pPr>
      <a:lvl4pPr marL="2133515" indent="-304788" algn="l" defTabSz="609576" rtl="0" eaLnBrk="1" latinLnBrk="0" hangingPunct="1">
        <a:spcBef>
          <a:spcPct val="20000"/>
        </a:spcBef>
        <a:buFont typeface="Arial"/>
        <a:buChar char="–"/>
        <a:defRPr sz="2133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4pPr>
      <a:lvl5pPr marL="2743090" indent="-304788" algn="l" defTabSz="609576" rtl="0" eaLnBrk="1" latinLnBrk="0" hangingPunct="1">
        <a:spcBef>
          <a:spcPct val="20000"/>
        </a:spcBef>
        <a:buFont typeface="Arial"/>
        <a:buChar char="»"/>
        <a:defRPr sz="2133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5pPr>
      <a:lvl6pPr marL="3352666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42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17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93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6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51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27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02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78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54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29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05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2059295" y="679203"/>
            <a:ext cx="7980414" cy="1170602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384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88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9943" indent="-285750" defTabSz="609576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 PrivateLink Interface Endpoint is created in one or more subnets in a VPC.</a:t>
            </a:r>
          </a:p>
          <a:p>
            <a:pPr marL="429943" indent="-285750" defTabSz="609576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Each subnet has an ENI with an IP address from the respective subnet’s CIDR.</a:t>
            </a:r>
          </a:p>
          <a:p>
            <a:pPr marL="429943" indent="-285750" defTabSz="609576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Each Interface Endpoint has a regional DNS name and each ENI has a zonal DNS name.</a:t>
            </a:r>
          </a:p>
          <a:p>
            <a:pPr marL="429943" indent="-285750" defTabSz="609576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Resolution of an AWS service, must return the IP addresses of the zonal DNS names.</a:t>
            </a:r>
          </a:p>
          <a:p>
            <a:pPr marL="239439" indent="-95246" defTabSz="609576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n-US" sz="1400" b="1" dirty="0">
              <a:solidFill>
                <a:srgbClr val="545B64">
                  <a:lumMod val="50000"/>
                </a:srgb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D8137-C002-4483-BAFD-66E6AE600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20" y="4603087"/>
            <a:ext cx="8953500" cy="1936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B0C42-9536-44BC-825D-B3687FCE9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8" y="1925581"/>
            <a:ext cx="11037230" cy="2563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Rectangular Callout 46">
            <a:extLst>
              <a:ext uri="{FF2B5EF4-FFF2-40B4-BE49-F238E27FC236}">
                <a16:creationId xmlns:a16="http://schemas.microsoft.com/office/drawing/2014/main" id="{19FC1997-391A-4DA3-9AC7-EE5BA3D510D3}"/>
              </a:ext>
            </a:extLst>
          </p:cNvPr>
          <p:cNvSpPr/>
          <p:nvPr/>
        </p:nvSpPr>
        <p:spPr>
          <a:xfrm>
            <a:off x="9505551" y="1925581"/>
            <a:ext cx="1462113" cy="455471"/>
          </a:xfrm>
          <a:prstGeom prst="wedgeRectCallout">
            <a:avLst>
              <a:gd name="adj1" fmla="val -10855"/>
              <a:gd name="adj2" fmla="val 156687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Regional DNS Name</a:t>
            </a:r>
          </a:p>
        </p:txBody>
      </p:sp>
      <p:sp>
        <p:nvSpPr>
          <p:cNvPr id="25" name="Rectangular Callout 46">
            <a:extLst>
              <a:ext uri="{FF2B5EF4-FFF2-40B4-BE49-F238E27FC236}">
                <a16:creationId xmlns:a16="http://schemas.microsoft.com/office/drawing/2014/main" id="{8361C619-A008-4656-AFCA-545CACB3BA12}"/>
              </a:ext>
            </a:extLst>
          </p:cNvPr>
          <p:cNvSpPr/>
          <p:nvPr/>
        </p:nvSpPr>
        <p:spPr>
          <a:xfrm>
            <a:off x="10585409" y="2464892"/>
            <a:ext cx="1462113" cy="455471"/>
          </a:xfrm>
          <a:prstGeom prst="wedgeRectCallout">
            <a:avLst>
              <a:gd name="adj1" fmla="val -39548"/>
              <a:gd name="adj2" fmla="val 213080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000" dirty="0">
                <a:solidFill>
                  <a:srgbClr val="FFFFFF"/>
                </a:solidFill>
                <a:latin typeface="Arial"/>
              </a:rPr>
              <a:t>Regional DNS Name</a:t>
            </a:r>
          </a:p>
        </p:txBody>
      </p:sp>
      <p:sp>
        <p:nvSpPr>
          <p:cNvPr id="26" name="Rectangular Callout 46">
            <a:extLst>
              <a:ext uri="{FF2B5EF4-FFF2-40B4-BE49-F238E27FC236}">
                <a16:creationId xmlns:a16="http://schemas.microsoft.com/office/drawing/2014/main" id="{6E8D14FE-CBA7-404E-9D3A-615A614CEF49}"/>
              </a:ext>
            </a:extLst>
          </p:cNvPr>
          <p:cNvSpPr/>
          <p:nvPr/>
        </p:nvSpPr>
        <p:spPr>
          <a:xfrm>
            <a:off x="10585409" y="2472965"/>
            <a:ext cx="1462113" cy="455471"/>
          </a:xfrm>
          <a:prstGeom prst="wedgeRectCallout">
            <a:avLst>
              <a:gd name="adj1" fmla="val -65899"/>
              <a:gd name="adj2" fmla="val 120971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Zonal DNS Names</a:t>
            </a:r>
          </a:p>
        </p:txBody>
      </p:sp>
      <p:sp>
        <p:nvSpPr>
          <p:cNvPr id="27" name="Rectangular Callout 46">
            <a:extLst>
              <a:ext uri="{FF2B5EF4-FFF2-40B4-BE49-F238E27FC236}">
                <a16:creationId xmlns:a16="http://schemas.microsoft.com/office/drawing/2014/main" id="{FDB344CB-79EB-4C6E-B624-A89D8603ACBB}"/>
              </a:ext>
            </a:extLst>
          </p:cNvPr>
          <p:cNvSpPr/>
          <p:nvPr/>
        </p:nvSpPr>
        <p:spPr>
          <a:xfrm>
            <a:off x="196920" y="3099613"/>
            <a:ext cx="1462113" cy="773639"/>
          </a:xfrm>
          <a:prstGeom prst="wedgeRectCallout">
            <a:avLst>
              <a:gd name="adj1" fmla="val 68181"/>
              <a:gd name="adj2" fmla="val 92398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When this is true and Route 53 is used…</a:t>
            </a:r>
          </a:p>
        </p:txBody>
      </p:sp>
      <p:sp>
        <p:nvSpPr>
          <p:cNvPr id="28" name="Rectangular Callout 46">
            <a:extLst>
              <a:ext uri="{FF2B5EF4-FFF2-40B4-BE49-F238E27FC236}">
                <a16:creationId xmlns:a16="http://schemas.microsoft.com/office/drawing/2014/main" id="{C2DD0455-335D-442B-8FF9-99600A6E3812}"/>
              </a:ext>
            </a:extLst>
          </p:cNvPr>
          <p:cNvSpPr/>
          <p:nvPr/>
        </p:nvSpPr>
        <p:spPr>
          <a:xfrm>
            <a:off x="1849442" y="3326498"/>
            <a:ext cx="1462113" cy="455471"/>
          </a:xfrm>
          <a:prstGeom prst="wedgeRectCallout">
            <a:avLst>
              <a:gd name="adj1" fmla="val 270222"/>
              <a:gd name="adj2" fmla="val 152927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Resolving this…</a:t>
            </a:r>
          </a:p>
        </p:txBody>
      </p:sp>
      <p:sp>
        <p:nvSpPr>
          <p:cNvPr id="29" name="Rectangular Callout 46">
            <a:extLst>
              <a:ext uri="{FF2B5EF4-FFF2-40B4-BE49-F238E27FC236}">
                <a16:creationId xmlns:a16="http://schemas.microsoft.com/office/drawing/2014/main" id="{3C7F00D0-8D51-4F2E-99AE-9B957F10C520}"/>
              </a:ext>
            </a:extLst>
          </p:cNvPr>
          <p:cNvSpPr/>
          <p:nvPr/>
        </p:nvSpPr>
        <p:spPr>
          <a:xfrm>
            <a:off x="3501964" y="3098763"/>
            <a:ext cx="1462113" cy="455471"/>
          </a:xfrm>
          <a:prstGeom prst="wedgeRectCallout">
            <a:avLst>
              <a:gd name="adj1" fmla="val 245042"/>
              <a:gd name="adj2" fmla="val -82044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Will resolve this… </a:t>
            </a:r>
          </a:p>
        </p:txBody>
      </p:sp>
      <p:sp>
        <p:nvSpPr>
          <p:cNvPr id="30" name="Rectangular Callout 46">
            <a:extLst>
              <a:ext uri="{FF2B5EF4-FFF2-40B4-BE49-F238E27FC236}">
                <a16:creationId xmlns:a16="http://schemas.microsoft.com/office/drawing/2014/main" id="{7723173D-25DD-45F0-B3D8-8A2492C3E769}"/>
              </a:ext>
            </a:extLst>
          </p:cNvPr>
          <p:cNvSpPr/>
          <p:nvPr/>
        </p:nvSpPr>
        <p:spPr>
          <a:xfrm>
            <a:off x="5163047" y="3326498"/>
            <a:ext cx="1643961" cy="455471"/>
          </a:xfrm>
          <a:prstGeom prst="wedgeRectCallout">
            <a:avLst>
              <a:gd name="adj1" fmla="val -115962"/>
              <a:gd name="adj2" fmla="val 515794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Returning these IPs.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C0E50B-2D90-4C3B-9400-D075959D288F}"/>
              </a:ext>
            </a:extLst>
          </p:cNvPr>
          <p:cNvSpPr/>
          <p:nvPr/>
        </p:nvSpPr>
        <p:spPr>
          <a:xfrm>
            <a:off x="7677510" y="4722317"/>
            <a:ext cx="3083022" cy="1893296"/>
          </a:xfrm>
          <a:prstGeom prst="ellipse">
            <a:avLst/>
          </a:prstGeom>
          <a:solidFill>
            <a:srgbClr val="FF97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500" dirty="0">
                <a:solidFill>
                  <a:srgbClr val="FFFFFF"/>
                </a:solidFill>
                <a:latin typeface="Arial"/>
              </a:rPr>
              <a:t>If Route 53 is not used, DNS must return the IP addresses for the ENIs.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D719CB0-8A62-4AF3-A631-8C6D4FDC28FB}"/>
              </a:ext>
            </a:extLst>
          </p:cNvPr>
          <p:cNvSpPr/>
          <p:nvPr/>
        </p:nvSpPr>
        <p:spPr>
          <a:xfrm>
            <a:off x="772579" y="2881704"/>
            <a:ext cx="310798" cy="296529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1</a:t>
            </a:r>
            <a:endParaRPr lang="en-US" sz="2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6E6856-7FCE-42AA-B6EB-010B2DC8D71A}"/>
              </a:ext>
            </a:extLst>
          </p:cNvPr>
          <p:cNvSpPr/>
          <p:nvPr/>
        </p:nvSpPr>
        <p:spPr>
          <a:xfrm>
            <a:off x="2429380" y="3166198"/>
            <a:ext cx="310798" cy="296529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167" dirty="0">
                <a:solidFill>
                  <a:srgbClr val="FFFFFF"/>
                </a:solidFill>
                <a:latin typeface="Arial"/>
              </a:rPr>
              <a:t>2</a:t>
            </a:r>
            <a:endParaRPr lang="en-US" sz="24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1A20BA-EEC4-42E5-9B5C-041A4900CE38}"/>
              </a:ext>
            </a:extLst>
          </p:cNvPr>
          <p:cNvSpPr/>
          <p:nvPr/>
        </p:nvSpPr>
        <p:spPr>
          <a:xfrm>
            <a:off x="4077622" y="2881703"/>
            <a:ext cx="310798" cy="296529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3</a:t>
            </a:r>
            <a:endParaRPr lang="en-US" sz="2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20A6BE4-F813-4A9D-9CA1-682EFD35FA52}"/>
              </a:ext>
            </a:extLst>
          </p:cNvPr>
          <p:cNvSpPr/>
          <p:nvPr/>
        </p:nvSpPr>
        <p:spPr>
          <a:xfrm>
            <a:off x="5738704" y="3166198"/>
            <a:ext cx="310798" cy="296529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76"/>
            <a:r>
              <a:rPr lang="en-US" sz="1200" dirty="0">
                <a:solidFill>
                  <a:srgbClr val="FFFFFF"/>
                </a:solidFill>
                <a:latin typeface="Arial"/>
              </a:rPr>
              <a:t>4</a:t>
            </a:r>
            <a:endParaRPr lang="en-US" sz="2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C78123-1F7E-4345-AD11-457149ADD5C8}"/>
              </a:ext>
            </a:extLst>
          </p:cNvPr>
          <p:cNvSpPr txBox="1"/>
          <p:nvPr/>
        </p:nvSpPr>
        <p:spPr>
          <a:xfrm>
            <a:off x="914400" y="109492"/>
            <a:ext cx="10053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PrivateLink Interface Endpoints and DNS</a:t>
            </a:r>
            <a:endParaRPr lang="en-US" sz="3200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875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heme/theme1.xml><?xml version="1.0" encoding="utf-8"?>
<a:theme xmlns:a="http://schemas.openxmlformats.org/drawingml/2006/main" name="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Amazon Ember Light</vt:lpstr>
      <vt:lpstr>Amazon Ember Regular</vt:lpstr>
      <vt:lpstr>Arial</vt:lpstr>
      <vt:lpstr>Calibri</vt:lpstr>
      <vt:lpstr>Consolas</vt:lpstr>
      <vt:lpstr>Helvetica Light</vt:lpstr>
      <vt:lpstr>Lucida Console</vt:lpstr>
      <vt:lpstr>Times New Roman</vt:lpstr>
      <vt:lpstr>DeckTemplate-AWS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Hendrickson, Andy</dc:creator>
  <cp:lastModifiedBy>Hendrickson, Andy</cp:lastModifiedBy>
  <cp:revision>5</cp:revision>
  <dcterms:created xsi:type="dcterms:W3CDTF">2021-11-05T21:32:57Z</dcterms:created>
  <dcterms:modified xsi:type="dcterms:W3CDTF">2021-11-11T18:03:58Z</dcterms:modified>
</cp:coreProperties>
</file>