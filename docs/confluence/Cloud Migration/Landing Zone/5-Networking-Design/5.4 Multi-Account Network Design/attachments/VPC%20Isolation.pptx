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93F84-EDA6-4493-9E96-13A280BA3A6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23373-2065-4076-B5BE-4684FAECD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4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Regular" charset="0"/>
                <a:ea typeface="+mn-ea"/>
                <a:cs typeface="+mn-cs"/>
              </a:rPr>
              <a:pPr marL="0" marR="0" lvl="0" indent="0" algn="r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84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4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6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2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6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6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6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5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52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38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CC4C0-F8CC-47B2-9BFE-709890CC219C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49BB-D2C8-4858-9321-B1C9EE9CC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6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F7C6A05A-B131-904E-9DAD-91CFCA42673E}"/>
              </a:ext>
            </a:extLst>
          </p:cNvPr>
          <p:cNvSpPr/>
          <p:nvPr/>
        </p:nvSpPr>
        <p:spPr>
          <a:xfrm>
            <a:off x="6564352" y="869365"/>
            <a:ext cx="2725199" cy="19028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76200" anchor="t"/>
          <a:lstStyle/>
          <a:p>
            <a:pPr>
              <a:defRPr/>
            </a:pPr>
            <a:r>
              <a:rPr lang="en-US" sz="1400" dirty="0">
                <a:solidFill>
                  <a:srgbClr val="C00000"/>
                </a:solidFill>
                <a:ea typeface="Amazon Ember" panose="02000000000000000000" pitchFamily="2" charset="0"/>
                <a:cs typeface="Arial" panose="020B0604020202020204" pitchFamily="34" charset="0"/>
              </a:rPr>
              <a:t>AWS Account (Prd life cycle)</a:t>
            </a:r>
          </a:p>
        </p:txBody>
      </p:sp>
      <p:pic>
        <p:nvPicPr>
          <p:cNvPr id="75" name="Graphic 29">
            <a:extLst>
              <a:ext uri="{FF2B5EF4-FFF2-40B4-BE49-F238E27FC236}">
                <a16:creationId xmlns:a16="http://schemas.microsoft.com/office/drawing/2014/main" id="{B1BC828A-7716-D345-83CE-83D75857D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64352" y="869365"/>
            <a:ext cx="391583" cy="391583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7016780" y="1260949"/>
            <a:ext cx="2058726" cy="1247644"/>
            <a:chOff x="2759075" y="1574800"/>
            <a:chExt cx="2470471" cy="1497173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07F3126-E68E-E849-9685-96BEA82D6413}"/>
                </a:ext>
              </a:extLst>
            </p:cNvPr>
            <p:cNvSpPr/>
            <p:nvPr/>
          </p:nvSpPr>
          <p:spPr>
            <a:xfrm>
              <a:off x="2759075" y="1574800"/>
              <a:ext cx="2470471" cy="1497173"/>
            </a:xfrm>
            <a:prstGeom prst="rect">
              <a:avLst/>
            </a:prstGeom>
            <a:noFill/>
            <a:ln w="12700" cap="flat" cmpd="sng" algn="ctr">
              <a:solidFill>
                <a:srgbClr val="1D8900"/>
              </a:solidFill>
              <a:prstDash val="solid"/>
              <a:miter lim="800000"/>
            </a:ln>
            <a:effectLst/>
          </p:spPr>
          <p:txBody>
            <a:bodyPr lIns="381000" tIns="76200"/>
            <a:lstStyle/>
            <a:p>
              <a:pPr defTabSz="761970">
                <a:defRPr/>
              </a:pPr>
              <a:r>
                <a:rPr lang="en-US" sz="1400" kern="0" dirty="0">
                  <a:ln w="0"/>
                  <a:solidFill>
                    <a:srgbClr val="1D8900"/>
                  </a:solidFill>
                </a:rPr>
                <a:t>VPC</a:t>
              </a:r>
            </a:p>
          </p:txBody>
        </p:sp>
        <p:pic>
          <p:nvPicPr>
            <p:cNvPr id="80" name="Graphic 36">
              <a:extLst>
                <a:ext uri="{FF2B5EF4-FFF2-40B4-BE49-F238E27FC236}">
                  <a16:creationId xmlns:a16="http://schemas.microsoft.com/office/drawing/2014/main" id="{D1E139A0-6B92-0642-9159-E1076FD7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59075" y="1574800"/>
              <a:ext cx="330200" cy="330200"/>
            </a:xfrm>
            <a:prstGeom prst="rect">
              <a:avLst/>
            </a:prstGeom>
          </p:spPr>
        </p:pic>
      </p:grpSp>
      <p:pic>
        <p:nvPicPr>
          <p:cNvPr id="82" name="Graphic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819" y="1880922"/>
            <a:ext cx="456118" cy="4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9E4B180B-66C8-134C-9780-D82E60B76CCD}"/>
              </a:ext>
            </a:extLst>
          </p:cNvPr>
          <p:cNvSpPr/>
          <p:nvPr/>
        </p:nvSpPr>
        <p:spPr>
          <a:xfrm>
            <a:off x="7776150" y="1362832"/>
            <a:ext cx="706440" cy="1059355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anchorCtr="1"/>
          <a:lstStyle/>
          <a:p>
            <a:pPr algn="ctr"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Security group</a:t>
            </a:r>
          </a:p>
        </p:txBody>
      </p:sp>
      <p:cxnSp>
        <p:nvCxnSpPr>
          <p:cNvPr id="85" name="Straight Arrow Connector 84"/>
          <p:cNvCxnSpPr>
            <a:stCxn id="84" idx="3"/>
            <a:endCxn id="79" idx="1"/>
          </p:cNvCxnSpPr>
          <p:nvPr/>
        </p:nvCxnSpPr>
        <p:spPr>
          <a:xfrm flipV="1">
            <a:off x="5001713" y="1884771"/>
            <a:ext cx="2015067" cy="134987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7C6A05A-B131-904E-9DAD-91CFCA42673E}"/>
              </a:ext>
            </a:extLst>
          </p:cNvPr>
          <p:cNvSpPr/>
          <p:nvPr/>
        </p:nvSpPr>
        <p:spPr>
          <a:xfrm>
            <a:off x="6560220" y="2862751"/>
            <a:ext cx="2725199" cy="19028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76200" anchor="t"/>
          <a:lstStyle/>
          <a:p>
            <a:pPr>
              <a:defRPr/>
            </a:pPr>
            <a:r>
              <a:rPr lang="en-US" sz="1400" dirty="0">
                <a:solidFill>
                  <a:srgbClr val="C00000"/>
                </a:solidFill>
                <a:ea typeface="Amazon Ember" panose="02000000000000000000" pitchFamily="2" charset="0"/>
                <a:cs typeface="Arial" panose="020B0604020202020204" pitchFamily="34" charset="0"/>
              </a:rPr>
              <a:t>AWS Account (Prd life cycle)</a:t>
            </a:r>
          </a:p>
        </p:txBody>
      </p:sp>
      <p:pic>
        <p:nvPicPr>
          <p:cNvPr id="87" name="Graphic 29">
            <a:extLst>
              <a:ext uri="{FF2B5EF4-FFF2-40B4-BE49-F238E27FC236}">
                <a16:creationId xmlns:a16="http://schemas.microsoft.com/office/drawing/2014/main" id="{B1BC828A-7716-D345-83CE-83D75857D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60219" y="2862751"/>
            <a:ext cx="391583" cy="391583"/>
          </a:xfrm>
          <a:prstGeom prst="rect">
            <a:avLst/>
          </a:prstGeom>
        </p:spPr>
      </p:pic>
      <p:grpSp>
        <p:nvGrpSpPr>
          <p:cNvPr id="88" name="Group 87"/>
          <p:cNvGrpSpPr/>
          <p:nvPr/>
        </p:nvGrpSpPr>
        <p:grpSpPr>
          <a:xfrm>
            <a:off x="7012647" y="3254335"/>
            <a:ext cx="2058726" cy="1247644"/>
            <a:chOff x="2759075" y="1574800"/>
            <a:chExt cx="2470471" cy="149717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07F3126-E68E-E849-9685-96BEA82D6413}"/>
                </a:ext>
              </a:extLst>
            </p:cNvPr>
            <p:cNvSpPr/>
            <p:nvPr/>
          </p:nvSpPr>
          <p:spPr>
            <a:xfrm>
              <a:off x="2759075" y="1574800"/>
              <a:ext cx="2470471" cy="1497173"/>
            </a:xfrm>
            <a:prstGeom prst="rect">
              <a:avLst/>
            </a:prstGeom>
            <a:noFill/>
            <a:ln w="12700" cap="flat" cmpd="sng" algn="ctr">
              <a:solidFill>
                <a:srgbClr val="1D8900"/>
              </a:solidFill>
              <a:prstDash val="solid"/>
              <a:miter lim="800000"/>
            </a:ln>
            <a:effectLst/>
          </p:spPr>
          <p:txBody>
            <a:bodyPr lIns="381000" tIns="76200"/>
            <a:lstStyle/>
            <a:p>
              <a:pPr defTabSz="761970">
                <a:defRPr/>
              </a:pPr>
              <a:r>
                <a:rPr lang="en-US" sz="1400" kern="0" dirty="0">
                  <a:ln w="0"/>
                  <a:solidFill>
                    <a:srgbClr val="1D8900"/>
                  </a:solidFill>
                </a:rPr>
                <a:t>VPC</a:t>
              </a:r>
            </a:p>
          </p:txBody>
        </p:sp>
        <p:pic>
          <p:nvPicPr>
            <p:cNvPr id="90" name="Graphic 36">
              <a:extLst>
                <a:ext uri="{FF2B5EF4-FFF2-40B4-BE49-F238E27FC236}">
                  <a16:creationId xmlns:a16="http://schemas.microsoft.com/office/drawing/2014/main" id="{D1E139A0-6B92-0642-9159-E1076FD7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59075" y="1574800"/>
              <a:ext cx="330200" cy="330200"/>
            </a:xfrm>
            <a:prstGeom prst="rect">
              <a:avLst/>
            </a:prstGeom>
          </p:spPr>
        </p:pic>
      </p:grpSp>
      <p:cxnSp>
        <p:nvCxnSpPr>
          <p:cNvPr id="93" name="Straight Arrow Connector 92"/>
          <p:cNvCxnSpPr>
            <a:stCxn id="84" idx="3"/>
            <a:endCxn id="89" idx="1"/>
          </p:cNvCxnSpPr>
          <p:nvPr/>
        </p:nvCxnSpPr>
        <p:spPr>
          <a:xfrm>
            <a:off x="5001713" y="3234641"/>
            <a:ext cx="2010934" cy="643516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F7C6A05A-B131-904E-9DAD-91CFCA42673E}"/>
              </a:ext>
            </a:extLst>
          </p:cNvPr>
          <p:cNvSpPr/>
          <p:nvPr/>
        </p:nvSpPr>
        <p:spPr>
          <a:xfrm>
            <a:off x="1614635" y="2226396"/>
            <a:ext cx="3326233" cy="19028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76200" anchor="t"/>
          <a:lstStyle/>
          <a:p>
            <a:pPr>
              <a:defRPr/>
            </a:pPr>
            <a:r>
              <a:rPr lang="en-US" sz="1400" dirty="0">
                <a:solidFill>
                  <a:srgbClr val="C00000"/>
                </a:solidFill>
                <a:ea typeface="Amazon Ember" panose="02000000000000000000" pitchFamily="2" charset="0"/>
                <a:cs typeface="Arial" panose="020B0604020202020204" pitchFamily="34" charset="0"/>
              </a:rPr>
              <a:t>Network Account (Prd life cycle)</a:t>
            </a:r>
          </a:p>
        </p:txBody>
      </p:sp>
      <p:pic>
        <p:nvPicPr>
          <p:cNvPr id="96" name="Graphic 29">
            <a:extLst>
              <a:ext uri="{FF2B5EF4-FFF2-40B4-BE49-F238E27FC236}">
                <a16:creationId xmlns:a16="http://schemas.microsoft.com/office/drawing/2014/main" id="{B1BC828A-7716-D345-83CE-83D75857D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14635" y="2226396"/>
            <a:ext cx="391583" cy="391583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2067063" y="2617979"/>
            <a:ext cx="2058726" cy="1247644"/>
            <a:chOff x="2759075" y="1574800"/>
            <a:chExt cx="2470471" cy="1497173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07F3126-E68E-E849-9685-96BEA82D6413}"/>
                </a:ext>
              </a:extLst>
            </p:cNvPr>
            <p:cNvSpPr/>
            <p:nvPr/>
          </p:nvSpPr>
          <p:spPr>
            <a:xfrm>
              <a:off x="2759075" y="1574800"/>
              <a:ext cx="2470471" cy="1497173"/>
            </a:xfrm>
            <a:prstGeom prst="rect">
              <a:avLst/>
            </a:prstGeom>
            <a:noFill/>
            <a:ln w="12700" cap="flat" cmpd="sng" algn="ctr">
              <a:solidFill>
                <a:srgbClr val="1D8900"/>
              </a:solidFill>
              <a:prstDash val="solid"/>
              <a:miter lim="800000"/>
            </a:ln>
            <a:effectLst/>
          </p:spPr>
          <p:txBody>
            <a:bodyPr lIns="381000" tIns="76200"/>
            <a:lstStyle/>
            <a:p>
              <a:pPr defTabSz="761970">
                <a:defRPr/>
              </a:pPr>
              <a:r>
                <a:rPr lang="en-US" sz="1400" kern="0" dirty="0">
                  <a:ln w="0"/>
                  <a:solidFill>
                    <a:srgbClr val="1D8900"/>
                  </a:solidFill>
                </a:rPr>
                <a:t>VPC</a:t>
              </a:r>
              <a:endParaRPr lang="en-US" sz="1000" kern="0" dirty="0">
                <a:ln w="0"/>
                <a:solidFill>
                  <a:srgbClr val="1D8900"/>
                </a:solidFill>
              </a:endParaRPr>
            </a:p>
          </p:txBody>
        </p:sp>
        <p:pic>
          <p:nvPicPr>
            <p:cNvPr id="99" name="Graphic 36">
              <a:extLst>
                <a:ext uri="{FF2B5EF4-FFF2-40B4-BE49-F238E27FC236}">
                  <a16:creationId xmlns:a16="http://schemas.microsoft.com/office/drawing/2014/main" id="{D1E139A0-6B92-0642-9159-E1076FD7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59075" y="1574800"/>
              <a:ext cx="330200" cy="330200"/>
            </a:xfrm>
            <a:prstGeom prst="rect">
              <a:avLst/>
            </a:prstGeom>
          </p:spPr>
        </p:pic>
      </p:grpSp>
      <p:cxnSp>
        <p:nvCxnSpPr>
          <p:cNvPr id="102" name="Straight Arrow Connector 101"/>
          <p:cNvCxnSpPr>
            <a:stCxn id="98" idx="3"/>
            <a:endCxn id="84" idx="1"/>
          </p:cNvCxnSpPr>
          <p:nvPr/>
        </p:nvCxnSpPr>
        <p:spPr>
          <a:xfrm flipV="1">
            <a:off x="4125788" y="3234641"/>
            <a:ext cx="283258" cy="71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4" name="Graphic 36">
            <a:extLst>
              <a:ext uri="{FF2B5EF4-FFF2-40B4-BE49-F238E27FC236}">
                <a16:creationId xmlns:a16="http://schemas.microsoft.com/office/drawing/2014/main" id="{C0B1BB45-DA56-DF48-9E1C-8C70E223D5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75479" y="2982047"/>
            <a:ext cx="391583" cy="391583"/>
          </a:xfrm>
          <a:prstGeom prst="rect">
            <a:avLst/>
          </a:prstGeom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9E4B180B-66C8-134C-9780-D82E60B76CCD}"/>
              </a:ext>
            </a:extLst>
          </p:cNvPr>
          <p:cNvSpPr/>
          <p:nvPr/>
        </p:nvSpPr>
        <p:spPr>
          <a:xfrm>
            <a:off x="2208361" y="2937612"/>
            <a:ext cx="1760359" cy="593362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anchorCtr="1"/>
          <a:lstStyle/>
          <a:p>
            <a:pPr algn="ctr">
              <a:defRPr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Network Security Controls</a:t>
            </a:r>
          </a:p>
        </p:txBody>
      </p:sp>
      <p:cxnSp>
        <p:nvCxnSpPr>
          <p:cNvPr id="107" name="Curved Connector 106"/>
          <p:cNvCxnSpPr>
            <a:cxnSpLocks/>
            <a:stCxn id="83" idx="1"/>
            <a:endCxn id="71" idx="1"/>
          </p:cNvCxnSpPr>
          <p:nvPr/>
        </p:nvCxnSpPr>
        <p:spPr>
          <a:xfrm rot="10800000" flipV="1">
            <a:off x="7776150" y="1892510"/>
            <a:ext cx="12700" cy="2010798"/>
          </a:xfrm>
          <a:prstGeom prst="curvedConnector3">
            <a:avLst>
              <a:gd name="adj1" fmla="val 13279244"/>
            </a:avLst>
          </a:prstGeom>
          <a:ln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7C6A05A-B131-904E-9DAD-91CFCA42673E}"/>
              </a:ext>
            </a:extLst>
          </p:cNvPr>
          <p:cNvSpPr/>
          <p:nvPr/>
        </p:nvSpPr>
        <p:spPr>
          <a:xfrm>
            <a:off x="6560220" y="4859310"/>
            <a:ext cx="2725199" cy="19028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76200" anchor="t"/>
          <a:lstStyle/>
          <a:p>
            <a:pPr>
              <a:defRPr/>
            </a:pPr>
            <a:r>
              <a:rPr lang="en-US" sz="1400" dirty="0">
                <a:solidFill>
                  <a:srgbClr val="C00000"/>
                </a:solidFill>
                <a:ea typeface="Amazon Ember" panose="02000000000000000000" pitchFamily="2" charset="0"/>
                <a:cs typeface="Arial" panose="020B0604020202020204" pitchFamily="34" charset="0"/>
              </a:rPr>
              <a:t>AWS Account (Dev life cycle)</a:t>
            </a:r>
          </a:p>
        </p:txBody>
      </p:sp>
      <p:pic>
        <p:nvPicPr>
          <p:cNvPr id="113" name="Graphic 29">
            <a:extLst>
              <a:ext uri="{FF2B5EF4-FFF2-40B4-BE49-F238E27FC236}">
                <a16:creationId xmlns:a16="http://schemas.microsoft.com/office/drawing/2014/main" id="{B1BC828A-7716-D345-83CE-83D75857D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60219" y="4859310"/>
            <a:ext cx="391583" cy="391583"/>
          </a:xfrm>
          <a:prstGeom prst="rect">
            <a:avLst/>
          </a:prstGeom>
        </p:spPr>
      </p:pic>
      <p:grpSp>
        <p:nvGrpSpPr>
          <p:cNvPr id="114" name="Group 113"/>
          <p:cNvGrpSpPr/>
          <p:nvPr/>
        </p:nvGrpSpPr>
        <p:grpSpPr>
          <a:xfrm>
            <a:off x="7012647" y="5250894"/>
            <a:ext cx="2058726" cy="1247644"/>
            <a:chOff x="2759075" y="1574800"/>
            <a:chExt cx="2470471" cy="1497173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07F3126-E68E-E849-9685-96BEA82D6413}"/>
                </a:ext>
              </a:extLst>
            </p:cNvPr>
            <p:cNvSpPr/>
            <p:nvPr/>
          </p:nvSpPr>
          <p:spPr>
            <a:xfrm>
              <a:off x="2759075" y="1574800"/>
              <a:ext cx="2470471" cy="1497173"/>
            </a:xfrm>
            <a:prstGeom prst="rect">
              <a:avLst/>
            </a:prstGeom>
            <a:noFill/>
            <a:ln w="12700" cap="flat" cmpd="sng" algn="ctr">
              <a:solidFill>
                <a:srgbClr val="1D8900"/>
              </a:solidFill>
              <a:prstDash val="solid"/>
              <a:miter lim="800000"/>
            </a:ln>
            <a:effectLst/>
          </p:spPr>
          <p:txBody>
            <a:bodyPr lIns="381000" tIns="76200"/>
            <a:lstStyle/>
            <a:p>
              <a:pPr defTabSz="761970">
                <a:defRPr/>
              </a:pPr>
              <a:r>
                <a:rPr lang="en-US" sz="1400" kern="0" dirty="0">
                  <a:ln w="0"/>
                  <a:solidFill>
                    <a:srgbClr val="1D8900"/>
                  </a:solidFill>
                </a:rPr>
                <a:t>VPC</a:t>
              </a:r>
            </a:p>
          </p:txBody>
        </p:sp>
        <p:pic>
          <p:nvPicPr>
            <p:cNvPr id="116" name="Graphic 36">
              <a:extLst>
                <a:ext uri="{FF2B5EF4-FFF2-40B4-BE49-F238E27FC236}">
                  <a16:creationId xmlns:a16="http://schemas.microsoft.com/office/drawing/2014/main" id="{D1E139A0-6B92-0642-9159-E1076FD7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59075" y="1574800"/>
              <a:ext cx="330200" cy="330200"/>
            </a:xfrm>
            <a:prstGeom prst="rect">
              <a:avLst/>
            </a:prstGeom>
          </p:spPr>
        </p:pic>
      </p:grpSp>
      <p:cxnSp>
        <p:nvCxnSpPr>
          <p:cNvPr id="121" name="Curved Connector 120"/>
          <p:cNvCxnSpPr>
            <a:cxnSpLocks/>
            <a:stCxn id="71" idx="1"/>
            <a:endCxn id="72" idx="1"/>
          </p:cNvCxnSpPr>
          <p:nvPr/>
        </p:nvCxnSpPr>
        <p:spPr>
          <a:xfrm rot="10800000" flipH="1" flipV="1">
            <a:off x="7776149" y="3903307"/>
            <a:ext cx="146669" cy="2187879"/>
          </a:xfrm>
          <a:prstGeom prst="curvedConnector3">
            <a:avLst>
              <a:gd name="adj1" fmla="val -1085146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ular Callout 126"/>
          <p:cNvSpPr/>
          <p:nvPr/>
        </p:nvSpPr>
        <p:spPr>
          <a:xfrm>
            <a:off x="4168692" y="5010386"/>
            <a:ext cx="1663525" cy="726558"/>
          </a:xfrm>
          <a:prstGeom prst="wedgeRoundRectCallout">
            <a:avLst>
              <a:gd name="adj1" fmla="val 70854"/>
              <a:gd name="adj2" fmla="val -30927"/>
              <a:gd name="adj3" fmla="val 16667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>
              <a:defRPr/>
            </a:pPr>
            <a:r>
              <a:rPr lang="en-US" sz="1000" dirty="0">
                <a:solidFill>
                  <a:srgbClr val="FFFFFF"/>
                </a:solidFill>
                <a:latin typeface="Amazon Ember Medium" panose="020B0603020204030204" pitchFamily="34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Security Groups, NACLs and routing deny communications</a:t>
            </a:r>
          </a:p>
        </p:txBody>
      </p:sp>
      <p:sp>
        <p:nvSpPr>
          <p:cNvPr id="128" name="Rounded Rectangular Callout 127"/>
          <p:cNvSpPr/>
          <p:nvPr/>
        </p:nvSpPr>
        <p:spPr>
          <a:xfrm>
            <a:off x="4692770" y="1021011"/>
            <a:ext cx="1648591" cy="893473"/>
          </a:xfrm>
          <a:prstGeom prst="wedgeRoundRectCallout">
            <a:avLst>
              <a:gd name="adj1" fmla="val -33057"/>
              <a:gd name="adj2" fmla="val 169564"/>
              <a:gd name="adj3" fmla="val 16667"/>
            </a:avLst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>
              <a:defRPr/>
            </a:pPr>
            <a:r>
              <a:rPr lang="en-US" sz="1000" dirty="0">
                <a:solidFill>
                  <a:srgbClr val="FFFFFF"/>
                </a:solidFill>
                <a:latin typeface="Amazon Ember Medium" panose="020B0603020204030204" pitchFamily="34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Transit Gateway route tables provide isolation by only routing between VPCs of the same lifecycle.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3545A2-18E7-4DE8-9219-7F65510A431D}"/>
              </a:ext>
            </a:extLst>
          </p:cNvPr>
          <p:cNvSpPr txBox="1"/>
          <p:nvPr/>
        </p:nvSpPr>
        <p:spPr>
          <a:xfrm>
            <a:off x="4168692" y="3449251"/>
            <a:ext cx="1141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Transit Gateway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0F307B6-AE5F-414B-91E3-BBC490E02712}"/>
              </a:ext>
            </a:extLst>
          </p:cNvPr>
          <p:cNvCxnSpPr>
            <a:cxnSpLocks/>
            <a:stCxn id="84" idx="3"/>
            <a:endCxn id="115" idx="1"/>
          </p:cNvCxnSpPr>
          <p:nvPr/>
        </p:nvCxnSpPr>
        <p:spPr>
          <a:xfrm>
            <a:off x="5001713" y="3234641"/>
            <a:ext cx="2010934" cy="2640075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0" name="Graphic 8">
            <a:extLst>
              <a:ext uri="{FF2B5EF4-FFF2-40B4-BE49-F238E27FC236}">
                <a16:creationId xmlns:a16="http://schemas.microsoft.com/office/drawing/2014/main" id="{3FC337AF-8372-42D4-B1EF-476560D80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819" y="3891720"/>
            <a:ext cx="456118" cy="4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B2B0EE0-9849-4C1E-8507-BF323575C543}"/>
              </a:ext>
            </a:extLst>
          </p:cNvPr>
          <p:cNvSpPr/>
          <p:nvPr/>
        </p:nvSpPr>
        <p:spPr>
          <a:xfrm>
            <a:off x="7776150" y="3373630"/>
            <a:ext cx="706440" cy="1059355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anchorCtr="1"/>
          <a:lstStyle/>
          <a:p>
            <a:pPr algn="ctr"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Security group</a:t>
            </a:r>
          </a:p>
        </p:txBody>
      </p:sp>
      <p:pic>
        <p:nvPicPr>
          <p:cNvPr id="72" name="Graphic 8">
            <a:extLst>
              <a:ext uri="{FF2B5EF4-FFF2-40B4-BE49-F238E27FC236}">
                <a16:creationId xmlns:a16="http://schemas.microsoft.com/office/drawing/2014/main" id="{76C64C01-0964-4756-AC69-24A019C18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819" y="5863128"/>
            <a:ext cx="456118" cy="4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2964D179-65E5-4605-86D5-49EE20712813}"/>
              </a:ext>
            </a:extLst>
          </p:cNvPr>
          <p:cNvSpPr/>
          <p:nvPr/>
        </p:nvSpPr>
        <p:spPr>
          <a:xfrm>
            <a:off x="7776150" y="5345038"/>
            <a:ext cx="706440" cy="1059355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anchorCtr="1"/>
          <a:lstStyle/>
          <a:p>
            <a:pPr algn="ctr"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81" name="Rounded Rectangular Callout 80"/>
          <p:cNvSpPr/>
          <p:nvPr/>
        </p:nvSpPr>
        <p:spPr>
          <a:xfrm>
            <a:off x="9162117" y="3451241"/>
            <a:ext cx="1395160" cy="1038136"/>
          </a:xfrm>
          <a:prstGeom prst="wedgeRoundRectCallout">
            <a:avLst>
              <a:gd name="adj1" fmla="val -56572"/>
              <a:gd name="adj2" fmla="val -17895"/>
              <a:gd name="adj3" fmla="val 16667"/>
            </a:avLst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>
              <a:defRPr/>
            </a:pPr>
            <a:r>
              <a:rPr lang="en-US" sz="1000" dirty="0">
                <a:solidFill>
                  <a:srgbClr val="FFFFFF"/>
                </a:solidFill>
                <a:latin typeface="Amazon Ember Medium" panose="020B0603020204030204" pitchFamily="34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A VPC does not provide network isolation when connected to a Transit Gateway.</a:t>
            </a:r>
          </a:p>
        </p:txBody>
      </p:sp>
      <p:pic>
        <p:nvPicPr>
          <p:cNvPr id="84" name="Graphic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046" y="2938307"/>
            <a:ext cx="592667" cy="59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240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82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Amazon Ember</vt:lpstr>
      <vt:lpstr>Amazon Ember Medium</vt:lpstr>
      <vt:lpstr>Amazon Ember Regular</vt:lpstr>
      <vt:lpstr>Arial</vt:lpstr>
      <vt:lpstr>Calibri</vt:lpstr>
      <vt:lpstr>Calibri Light</vt:lpstr>
      <vt:lpstr>Office Theme</vt:lpstr>
      <vt:lpstr>PowerPoint Presentation</vt:lpstr>
    </vt:vector>
  </TitlesOfParts>
  <Company>Amazon Corporate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Hendrickson, Andy</dc:creator>
  <cp:lastModifiedBy>Hendrickson, Andy</cp:lastModifiedBy>
  <cp:revision>4</cp:revision>
  <dcterms:created xsi:type="dcterms:W3CDTF">2021-07-15T14:10:57Z</dcterms:created>
  <dcterms:modified xsi:type="dcterms:W3CDTF">2021-11-11T23:12:29Z</dcterms:modified>
</cp:coreProperties>
</file>