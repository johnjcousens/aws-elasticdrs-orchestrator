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0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6D606-F31A-4D9D-B75F-E01DF7EC1BF6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58B4F-EDCA-4200-A932-493E2B10C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87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Regular" charset="0"/>
                <a:ea typeface="+mn-ea"/>
                <a:cs typeface="+mn-cs"/>
              </a:rPr>
              <a:pPr marL="0" marR="0" lvl="0" indent="0" algn="r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19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2959" y="-151217"/>
            <a:ext cx="12746063" cy="721123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50532" y="5274697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50532" y="5782698"/>
            <a:ext cx="4910667" cy="493184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50532" y="2544305"/>
            <a:ext cx="9766651" cy="992716"/>
          </a:xfrm>
        </p:spPr>
        <p:txBody>
          <a:bodyPr>
            <a:noAutofit/>
          </a:bodyPr>
          <a:lstStyle>
            <a:lvl1pPr marL="0" indent="0" algn="l">
              <a:buNone/>
              <a:defRPr sz="5333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50533" y="3544768"/>
            <a:ext cx="8055443" cy="650465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850" y="586202"/>
            <a:ext cx="1295407" cy="7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8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908" y="1708044"/>
            <a:ext cx="5459092" cy="515251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50532" y="5274697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50532" y="5782698"/>
            <a:ext cx="4910667" cy="493184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50532" y="2544305"/>
            <a:ext cx="9766651" cy="992716"/>
          </a:xfrm>
        </p:spPr>
        <p:txBody>
          <a:bodyPr>
            <a:noAutofit/>
          </a:bodyPr>
          <a:lstStyle>
            <a:lvl1pPr marL="0" indent="0" algn="l">
              <a:buNone/>
              <a:defRPr sz="5333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50533" y="3544768"/>
            <a:ext cx="8055443" cy="650465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850" y="586202"/>
            <a:ext cx="1295407" cy="7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7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990560" indent="-380985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523939" indent="-304788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4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48818" y="1347211"/>
            <a:ext cx="10943656" cy="4855902"/>
          </a:xfrm>
          <a:noFill/>
        </p:spPr>
        <p:txBody>
          <a:bodyPr/>
          <a:lstStyle>
            <a:lvl1pPr marL="0" indent="0">
              <a:buNone/>
              <a:defRPr lang="en-US" sz="1467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609576" indent="0">
              <a:buNone/>
              <a:defRPr>
                <a:latin typeface="Lucida Console" panose="020B0609040504020204" pitchFamily="49" charset="0"/>
              </a:defRPr>
            </a:lvl2pPr>
            <a:lvl3pPr marL="1219151" indent="0">
              <a:buNone/>
              <a:defRPr>
                <a:latin typeface="Lucida Console" panose="020B0609040504020204" pitchFamily="49" charset="0"/>
              </a:defRPr>
            </a:lvl3pPr>
            <a:lvl4pPr marL="1828727" indent="0">
              <a:buNone/>
              <a:defRPr>
                <a:latin typeface="Lucida Console" panose="020B0609040504020204" pitchFamily="49" charset="0"/>
              </a:defRPr>
            </a:lvl4pPr>
            <a:lvl5pPr marL="2438302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74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525" y="2625603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390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2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5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324" y="1344071"/>
            <a:ext cx="5386918" cy="639763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6" indent="0">
              <a:buNone/>
              <a:defRPr sz="2667" b="1"/>
            </a:lvl2pPr>
            <a:lvl3pPr marL="1219151" indent="0">
              <a:buNone/>
              <a:defRPr sz="2400" b="1"/>
            </a:lvl3pPr>
            <a:lvl4pPr marL="1828727" indent="0">
              <a:buNone/>
              <a:defRPr sz="2133" b="1"/>
            </a:lvl4pPr>
            <a:lvl5pPr marL="2438302" indent="0">
              <a:buNone/>
              <a:defRPr sz="2133" b="1"/>
            </a:lvl5pPr>
            <a:lvl6pPr marL="3047878" indent="0">
              <a:buNone/>
              <a:defRPr sz="2133" b="1"/>
            </a:lvl6pPr>
            <a:lvl7pPr marL="3657454" indent="0">
              <a:buNone/>
              <a:defRPr sz="2133" b="1"/>
            </a:lvl7pPr>
            <a:lvl8pPr marL="4267029" indent="0">
              <a:buNone/>
              <a:defRPr sz="2133" b="1"/>
            </a:lvl8pPr>
            <a:lvl9pPr marL="487660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324" y="1983832"/>
            <a:ext cx="5386918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4093" y="1344071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76" indent="0">
              <a:buNone/>
              <a:defRPr sz="2667" b="1"/>
            </a:lvl2pPr>
            <a:lvl3pPr marL="1219151" indent="0">
              <a:buNone/>
              <a:defRPr sz="2400" b="1"/>
            </a:lvl3pPr>
            <a:lvl4pPr marL="1828727" indent="0">
              <a:buNone/>
              <a:defRPr sz="2133" b="1"/>
            </a:lvl4pPr>
            <a:lvl5pPr marL="2438302" indent="0">
              <a:buNone/>
              <a:defRPr sz="2133" b="1"/>
            </a:lvl5pPr>
            <a:lvl6pPr marL="3047878" indent="0">
              <a:buNone/>
              <a:defRPr sz="2133" b="1"/>
            </a:lvl6pPr>
            <a:lvl7pPr marL="3657454" indent="0">
              <a:buNone/>
              <a:defRPr sz="2133" b="1"/>
            </a:lvl7pPr>
            <a:lvl8pPr marL="4267029" indent="0">
              <a:buNone/>
              <a:defRPr sz="2133" b="1"/>
            </a:lvl8pPr>
            <a:lvl9pPr marL="487660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6034093" y="1983832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11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26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4308002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8165981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642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322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3328996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9447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9320460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50322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328996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179447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9320460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6457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52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4639085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833307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53252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4639078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8833298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453252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639078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833298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53252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639078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8833298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873643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419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71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001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0142" y="-9452"/>
            <a:ext cx="12372284" cy="699976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9914966" y="8139953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655" y="6274838"/>
            <a:ext cx="1477803" cy="3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39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300347" y="1240199"/>
            <a:ext cx="8092722" cy="1667558"/>
          </a:xfrm>
        </p:spPr>
        <p:txBody>
          <a:bodyPr anchor="ctr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728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07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4"/>
            <a:ext cx="10363200" cy="1362075"/>
          </a:xfrm>
        </p:spPr>
        <p:txBody>
          <a:bodyPr anchor="ctr">
            <a:noAutofit/>
          </a:bodyPr>
          <a:lstStyle>
            <a:lvl1pPr algn="l">
              <a:defRPr sz="5333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73416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EDECEA89-B313-4302-9956-254FEF807122}" type="slidenum">
              <a:rPr lang="en-US" smtClean="0">
                <a:solidFill>
                  <a:srgbClr val="474746"/>
                </a:solidFill>
              </a:rPr>
              <a:pPr/>
              <a:t>‹#›</a:t>
            </a:fld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9" name="Round Diagonal Corner Rectangle 8"/>
          <p:cNvSpPr/>
          <p:nvPr userDrawn="1">
            <p:custDataLst>
              <p:tags r:id="rId4"/>
            </p:custDataLst>
          </p:nvPr>
        </p:nvSpPr>
        <p:spPr>
          <a:xfrm>
            <a:off x="203200" y="174736"/>
            <a:ext cx="7112000" cy="346364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29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1" tIns="45711" rIns="91431" bIns="4571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09576"/>
            <a:endParaRPr lang="en-US" sz="1600" dirty="0">
              <a:solidFill>
                <a:srgbClr val="474746"/>
              </a:solidFill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232230" y="158696"/>
            <a:ext cx="6778171" cy="38417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6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15503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25963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1161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prstClr val="black"/>
              </a:solidFill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516383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49">
          <p15:clr>
            <a:srgbClr val="FBAE40"/>
          </p15:clr>
        </p15:guide>
        <p15:guide id="2" pos="5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4123" y="1345776"/>
            <a:ext cx="10940405" cy="4738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bg1"/>
                </a:solidFill>
                <a:latin typeface="Amazon Ember Regular" charset="0"/>
              </a:rPr>
              <a:t>© 2020, Amazon Web Services, Inc. or its Affiliates.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655" y="6274838"/>
            <a:ext cx="1477803" cy="3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1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609576" rtl="0" eaLnBrk="1" latinLnBrk="0" hangingPunct="1">
        <a:spcBef>
          <a:spcPct val="0"/>
        </a:spcBef>
        <a:buNone/>
        <a:defRPr sz="3733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609576" rtl="0" eaLnBrk="1" latinLnBrk="0" hangingPunct="1">
        <a:spcBef>
          <a:spcPct val="20000"/>
        </a:spcBef>
        <a:buFontTx/>
        <a:buNone/>
        <a:defRPr sz="32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990560" indent="-380985" algn="l" defTabSz="609576" rtl="0" eaLnBrk="1" latinLnBrk="0" hangingPunct="1">
        <a:spcBef>
          <a:spcPct val="20000"/>
        </a:spcBef>
        <a:buFont typeface="Arial"/>
        <a:buChar char="•"/>
        <a:defRPr sz="2667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523939" indent="-304788" algn="l" defTabSz="609576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2133515" indent="-304788" algn="l" defTabSz="609576" rtl="0" eaLnBrk="1" latinLnBrk="0" hangingPunct="1">
        <a:spcBef>
          <a:spcPct val="20000"/>
        </a:spcBef>
        <a:buFont typeface="Arial"/>
        <a:buChar char="–"/>
        <a:defRPr sz="2133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2743090" indent="-304788" algn="l" defTabSz="609576" rtl="0" eaLnBrk="1" latinLnBrk="0" hangingPunct="1">
        <a:spcBef>
          <a:spcPct val="20000"/>
        </a:spcBef>
        <a:buFont typeface="Arial"/>
        <a:buChar char="»"/>
        <a:defRPr sz="2133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3352666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42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17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93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6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51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27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02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78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54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29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05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69943" y="1245201"/>
            <a:ext cx="11652113" cy="2489881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defTabSz="609576"/>
            <a:r>
              <a:rPr lang="en-US" sz="1400" dirty="0">
                <a:solidFill>
                  <a:srgbClr val="F8F8F8">
                    <a:lumMod val="10000"/>
                  </a:srgbClr>
                </a:solidFill>
                <a:latin typeface="Arial"/>
              </a:rPr>
              <a:t>Each account has its own PHZ and associates it with the core networking account to enable a single place for third-party DNS name resolution.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621" y="591575"/>
            <a:ext cx="10676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76">
              <a:spcAft>
                <a:spcPts val="667"/>
              </a:spcAft>
            </a:pPr>
            <a:r>
              <a:rPr lang="en-US" sz="20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Third Party DNS Resolution of AWS Route 53 Private Hosted Zones</a:t>
            </a:r>
            <a:endParaRPr lang="en-US" sz="2667" dirty="0">
              <a:solidFill>
                <a:srgbClr val="545B64">
                  <a:lumMod val="50000"/>
                </a:srgb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952" y="1680717"/>
            <a:ext cx="4552222" cy="1935664"/>
          </a:xfrm>
          <a:prstGeom prst="rect">
            <a:avLst/>
          </a:prstGeom>
          <a:noFill/>
          <a:ln>
            <a:solidFill>
              <a:srgbClr val="FF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609576"/>
            <a:r>
              <a:rPr lang="en-US" sz="1200" dirty="0">
                <a:solidFill>
                  <a:srgbClr val="F8F8F8">
                    <a:lumMod val="10000"/>
                  </a:srgbClr>
                </a:solidFill>
                <a:latin typeface="Amazon Ember Medium" panose="020B0603020204030204" pitchFamily="34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VPC in Member Account A (or other member account)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11" y="2042238"/>
            <a:ext cx="793791" cy="793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3663" y="2221124"/>
            <a:ext cx="2215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76"/>
            <a:r>
              <a:rPr lang="en-US" sz="12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Route 53 Private Hosted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1448" y="2042238"/>
            <a:ext cx="4348067" cy="1479964"/>
          </a:xfrm>
          <a:prstGeom prst="rect">
            <a:avLst/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609576"/>
            <a:endParaRPr lang="en-US" sz="1200" dirty="0">
              <a:solidFill>
                <a:srgbClr val="F8F8F8">
                  <a:lumMod val="10000"/>
                </a:srgbClr>
              </a:solidFill>
              <a:latin typeface="Amazon Ember Medium" panose="020B0603020204030204" pitchFamily="34" charset="0"/>
              <a:ea typeface="Amazon Ember Medium" panose="020B0603020204030204" pitchFamily="34" charset="0"/>
              <a:cs typeface="Amazon Ember Medium" panose="020B0603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58866" y="1680717"/>
            <a:ext cx="3412658" cy="1382058"/>
          </a:xfrm>
          <a:prstGeom prst="rect">
            <a:avLst/>
          </a:prstGeom>
          <a:noFill/>
          <a:ln>
            <a:solidFill>
              <a:srgbClr val="FF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609576"/>
            <a:r>
              <a:rPr lang="en-US" sz="1200" dirty="0">
                <a:solidFill>
                  <a:srgbClr val="F8F8F8">
                    <a:lumMod val="10000"/>
                  </a:srgbClr>
                </a:solidFill>
                <a:latin typeface="Amazon Ember Medium" panose="020B0603020204030204" pitchFamily="34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VPC in Core Networking Account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77991" y="2084825"/>
            <a:ext cx="1295143" cy="708616"/>
          </a:xfrm>
          <a:prstGeom prst="right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1D516C">
                    <a:lumMod val="50000"/>
                  </a:srgbClr>
                </a:solidFill>
                <a:latin typeface="Arial"/>
              </a:rPr>
              <a:t>Associated PHZ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18" y="2542863"/>
            <a:ext cx="2035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76"/>
            <a:r>
              <a:rPr lang="en-US" sz="12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Inbound Route 53 Resolver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9530" y="2052315"/>
            <a:ext cx="1531731" cy="384836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609576"/>
            <a:r>
              <a:rPr lang="en-US" sz="1200" dirty="0">
                <a:solidFill>
                  <a:srgbClr val="F8F8F8">
                    <a:lumMod val="10000"/>
                  </a:srgbClr>
                </a:solidFill>
                <a:latin typeface="Amazon Ember Medium" panose="020B0603020204030204" pitchFamily="34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Third-Party DNS</a:t>
            </a:r>
          </a:p>
        </p:txBody>
      </p:sp>
      <p:cxnSp>
        <p:nvCxnSpPr>
          <p:cNvPr id="20" name="Straight Arrow Connector 19"/>
          <p:cNvCxnSpPr>
            <a:cxnSpLocks/>
            <a:stCxn id="19" idx="1"/>
            <a:endCxn id="53" idx="3"/>
          </p:cNvCxnSpPr>
          <p:nvPr/>
        </p:nvCxnSpPr>
        <p:spPr>
          <a:xfrm flipH="1">
            <a:off x="8083165" y="2244733"/>
            <a:ext cx="1926365" cy="9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83165" y="2284189"/>
            <a:ext cx="2035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76"/>
            <a:r>
              <a:rPr lang="en-US" sz="12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Name Resolution Request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245167"/>
              </p:ext>
            </p:extLst>
          </p:nvPr>
        </p:nvGraphicFramePr>
        <p:xfrm>
          <a:off x="425953" y="2866209"/>
          <a:ext cx="4275437" cy="5181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5029">
                  <a:extLst>
                    <a:ext uri="{9D8B030D-6E8A-4147-A177-3AD203B41FA5}">
                      <a16:colId xmlns:a16="http://schemas.microsoft.com/office/drawing/2014/main" val="664321364"/>
                    </a:ext>
                  </a:extLst>
                </a:gridCol>
                <a:gridCol w="2855489">
                  <a:extLst>
                    <a:ext uri="{9D8B030D-6E8A-4147-A177-3AD203B41FA5}">
                      <a16:colId xmlns:a16="http://schemas.microsoft.com/office/drawing/2014/main" val="2799468783"/>
                    </a:ext>
                  </a:extLst>
                </a:gridCol>
                <a:gridCol w="894919">
                  <a:extLst>
                    <a:ext uri="{9D8B030D-6E8A-4147-A177-3AD203B41FA5}">
                      <a16:colId xmlns:a16="http://schemas.microsoft.com/office/drawing/2014/main" val="299537658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SOA</a:t>
                      </a: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devxx-cuse1.mycloud.acme.org</a:t>
                      </a: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240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200" dirty="0"/>
                        <a:t>A</a:t>
                      </a: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host1.devxx-cuse1.mycloud.acme.org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10.0.1.100</a:t>
                      </a: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3720507"/>
                  </a:ext>
                </a:extLst>
              </a:tr>
            </a:tbl>
          </a:graphicData>
        </a:graphic>
      </p:graphicFrame>
      <p:sp>
        <p:nvSpPr>
          <p:cNvPr id="47" name="Rectangular Callout 46"/>
          <p:cNvSpPr/>
          <p:nvPr/>
        </p:nvSpPr>
        <p:spPr>
          <a:xfrm>
            <a:off x="6784818" y="2976560"/>
            <a:ext cx="4848815" cy="2489881"/>
          </a:xfrm>
          <a:prstGeom prst="wedgeRectCallout">
            <a:avLst>
              <a:gd name="adj1" fmla="val 22947"/>
              <a:gd name="adj2" fmla="val -75470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400" dirty="0">
                <a:solidFill>
                  <a:srgbClr val="FFFFFF"/>
                </a:solidFill>
                <a:latin typeface="Arial"/>
              </a:rPr>
              <a:t>Third-party DNS is configured to forward resolution requests to the Route53 Inbound Resolver for mycloud.acme.org.</a:t>
            </a:r>
          </a:p>
          <a:p>
            <a:pPr algn="ctr" defTabSz="609576"/>
            <a:endParaRPr lang="en-US" sz="1400" dirty="0">
              <a:solidFill>
                <a:srgbClr val="FFFFFF"/>
              </a:solidFill>
              <a:latin typeface="Arial"/>
            </a:endParaRPr>
          </a:p>
          <a:p>
            <a:pPr algn="ctr" defTabSz="609576"/>
            <a:r>
              <a:rPr lang="en-US" sz="1400" dirty="0">
                <a:solidFill>
                  <a:srgbClr val="FFFFFF"/>
                </a:solidFill>
                <a:latin typeface="Arial"/>
              </a:rPr>
              <a:t>Because the member account has associated its PHZ with the network account’s VPC, the Inbound Resolver can answer queries for the PHZ from third-party DNS.  </a:t>
            </a:r>
          </a:p>
          <a:p>
            <a:pPr algn="ctr" defTabSz="609576"/>
            <a:endParaRPr lang="en-US" sz="1400" dirty="0">
              <a:solidFill>
                <a:srgbClr val="FFFFFF"/>
              </a:solidFill>
              <a:latin typeface="Arial"/>
            </a:endParaRPr>
          </a:p>
          <a:p>
            <a:pPr algn="ctr" defTabSz="609576"/>
            <a:r>
              <a:rPr lang="en-US" sz="1400" dirty="0">
                <a:solidFill>
                  <a:srgbClr val="FFFFFF"/>
                </a:solidFill>
                <a:latin typeface="Arial"/>
              </a:rPr>
              <a:t>Third-party DNS can now resolve </a:t>
            </a:r>
          </a:p>
          <a:p>
            <a:pPr algn="ctr" defTabSz="609576"/>
            <a:r>
              <a:rPr lang="en-US" sz="1400" i="1" dirty="0"/>
              <a:t>host1.devxx-cuse1.mycloud.acme.org </a:t>
            </a:r>
          </a:p>
          <a:p>
            <a:pPr algn="ctr" defTabSz="609576"/>
            <a:r>
              <a:rPr lang="en-US" sz="1400" i="1" dirty="0"/>
              <a:t>by asking the Route 53 Inbound Resolver.</a:t>
            </a:r>
            <a:endParaRPr lang="en-US" sz="1400" dirty="0"/>
          </a:p>
        </p:txBody>
      </p:sp>
      <p:pic>
        <p:nvPicPr>
          <p:cNvPr id="53" name="Graphic 15">
            <a:extLst>
              <a:ext uri="{FF2B5EF4-FFF2-40B4-BE49-F238E27FC236}">
                <a16:creationId xmlns:a16="http://schemas.microsoft.com/office/drawing/2014/main" id="{C2DDD43C-C51B-D143-B787-42E740A21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21837" y="1973237"/>
            <a:ext cx="561328" cy="56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57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heme/theme1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157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Amazon Ember Light</vt:lpstr>
      <vt:lpstr>Amazon Ember Medium</vt:lpstr>
      <vt:lpstr>Amazon Ember Regular</vt:lpstr>
      <vt:lpstr>Arial</vt:lpstr>
      <vt:lpstr>Calibri</vt:lpstr>
      <vt:lpstr>Consolas</vt:lpstr>
      <vt:lpstr>Helvetica Light</vt:lpstr>
      <vt:lpstr>Lucida Console</vt:lpstr>
      <vt:lpstr>Times New Roman</vt:lpstr>
      <vt:lpstr>DeckTemplate-AWS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Hendrickson, Andy</dc:creator>
  <cp:lastModifiedBy>Hendrickson, Andy</cp:lastModifiedBy>
  <cp:revision>6</cp:revision>
  <dcterms:created xsi:type="dcterms:W3CDTF">2021-11-11T16:41:26Z</dcterms:created>
  <dcterms:modified xsi:type="dcterms:W3CDTF">2021-11-11T16:54:24Z</dcterms:modified>
</cp:coreProperties>
</file>