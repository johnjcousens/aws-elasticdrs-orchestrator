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9"/>
  </p:notesMasterIdLst>
  <p:sldIdLst>
    <p:sldId id="285" r:id="rId5"/>
    <p:sldId id="304" r:id="rId6"/>
    <p:sldId id="306" r:id="rId7"/>
    <p:sldId id="292" r:id="rId8"/>
    <p:sldId id="294" r:id="rId9"/>
    <p:sldId id="307" r:id="rId10"/>
    <p:sldId id="295" r:id="rId11"/>
    <p:sldId id="296" r:id="rId12"/>
    <p:sldId id="305" r:id="rId13"/>
    <p:sldId id="299" r:id="rId14"/>
    <p:sldId id="300" r:id="rId15"/>
    <p:sldId id="301" r:id="rId16"/>
    <p:sldId id="302" r:id="rId17"/>
    <p:sldId id="308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4">
          <p15:clr>
            <a:srgbClr val="A4A3A4"/>
          </p15:clr>
        </p15:guide>
        <p15:guide id="2" orient="horz" pos="2898">
          <p15:clr>
            <a:srgbClr val="A4A3A4"/>
          </p15:clr>
        </p15:guide>
        <p15:guide id="3" orient="horz" pos="2412">
          <p15:clr>
            <a:srgbClr val="A4A3A4"/>
          </p15:clr>
        </p15:guide>
        <p15:guide id="4" orient="horz" pos="3196">
          <p15:clr>
            <a:srgbClr val="A4A3A4"/>
          </p15:clr>
        </p15:guide>
        <p15:guide id="5" orient="horz" pos="1350">
          <p15:clr>
            <a:srgbClr val="A4A3A4"/>
          </p15:clr>
        </p15:guide>
        <p15:guide id="6" orient="horz" pos="1378">
          <p15:clr>
            <a:srgbClr val="A4A3A4"/>
          </p15:clr>
        </p15:guide>
        <p15:guide id="7" orient="horz" pos="2078">
          <p15:clr>
            <a:srgbClr val="A4A3A4"/>
          </p15:clr>
        </p15:guide>
        <p15:guide id="8" orient="horz" pos="125">
          <p15:clr>
            <a:srgbClr val="A4A3A4"/>
          </p15:clr>
        </p15:guide>
        <p15:guide id="9" orient="horz" pos="2106">
          <p15:clr>
            <a:srgbClr val="A4A3A4"/>
          </p15:clr>
        </p15:guide>
        <p15:guide id="10" orient="horz" pos="2859">
          <p15:clr>
            <a:srgbClr val="A4A3A4"/>
          </p15:clr>
        </p15:guide>
        <p15:guide id="11" pos="960">
          <p15:clr>
            <a:srgbClr val="A4A3A4"/>
          </p15:clr>
        </p15:guide>
        <p15:guide id="12" pos="1755">
          <p15:clr>
            <a:srgbClr val="A4A3A4"/>
          </p15:clr>
        </p15:guide>
        <p15:guide id="13" pos="2883">
          <p15:clr>
            <a:srgbClr val="A4A3A4"/>
          </p15:clr>
        </p15:guide>
        <p15:guide id="14" pos="2519">
          <p15:clr>
            <a:srgbClr val="A4A3A4"/>
          </p15:clr>
        </p15:guide>
        <p15:guide id="15" pos="4790">
          <p15:clr>
            <a:srgbClr val="A4A3A4"/>
          </p15:clr>
        </p15:guide>
        <p15:guide id="16" pos="2487">
          <p15:clr>
            <a:srgbClr val="A4A3A4"/>
          </p15:clr>
        </p15:guide>
        <p15:guide id="17" pos="1722">
          <p15:clr>
            <a:srgbClr val="A4A3A4"/>
          </p15:clr>
        </p15:guide>
        <p15:guide id="18" pos="987">
          <p15:clr>
            <a:srgbClr val="A4A3A4"/>
          </p15:clr>
        </p15:guide>
        <p15:guide id="19" pos="4818">
          <p15:clr>
            <a:srgbClr val="A4A3A4"/>
          </p15:clr>
        </p15:guide>
        <p15:guide id="20" pos="3257">
          <p15:clr>
            <a:srgbClr val="A4A3A4"/>
          </p15:clr>
        </p15:guide>
        <p15:guide id="21">
          <p15:clr>
            <a:srgbClr val="A4A3A4"/>
          </p15:clr>
        </p15:guide>
        <p15:guide id="22" pos="3285">
          <p15:clr>
            <a:srgbClr val="A4A3A4"/>
          </p15:clr>
        </p15:guide>
        <p15:guide id="23" pos="4022">
          <p15:clr>
            <a:srgbClr val="A4A3A4"/>
          </p15:clr>
        </p15:guide>
        <p15:guide id="24" pos="4053">
          <p15:clr>
            <a:srgbClr val="A4A3A4"/>
          </p15:clr>
        </p15:guide>
        <p15:guide id="25" pos="5544">
          <p15:clr>
            <a:srgbClr val="A4A3A4"/>
          </p15:clr>
        </p15:guide>
        <p15:guide id="26" pos="220">
          <p15:clr>
            <a:srgbClr val="A4A3A4"/>
          </p15:clr>
        </p15:guide>
        <p15:guide id="27" pos="348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F2F4F4"/>
    <a:srgbClr val="0E2735"/>
    <a:srgbClr val="595A5D"/>
    <a:srgbClr val="DCDCDC"/>
    <a:srgbClr val="4F81BD"/>
    <a:srgbClr val="0C9B2E"/>
    <a:srgbClr val="FFFAD0"/>
    <a:srgbClr val="FFF8AE"/>
    <a:srgbClr val="FCB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9" autoAdjust="0"/>
    <p:restoredTop sz="86065" autoAdjust="0"/>
  </p:normalViewPr>
  <p:slideViewPr>
    <p:cSldViewPr snapToGrid="0" showGuides="1">
      <p:cViewPr varScale="1">
        <p:scale>
          <a:sx n="193" d="100"/>
          <a:sy n="193" d="100"/>
        </p:scale>
        <p:origin x="1136" y="192"/>
      </p:cViewPr>
      <p:guideLst>
        <p:guide orient="horz" pos="644"/>
        <p:guide orient="horz" pos="2898"/>
        <p:guide orient="horz" pos="2412"/>
        <p:guide orient="horz" pos="3196"/>
        <p:guide orient="horz" pos="1350"/>
        <p:guide orient="horz" pos="1378"/>
        <p:guide orient="horz" pos="2078"/>
        <p:guide orient="horz" pos="125"/>
        <p:guide orient="horz" pos="2106"/>
        <p:guide orient="horz" pos="2859"/>
        <p:guide pos="960"/>
        <p:guide pos="1755"/>
        <p:guide pos="2883"/>
        <p:guide pos="2519"/>
        <p:guide pos="4790"/>
        <p:guide pos="2487"/>
        <p:guide pos="1722"/>
        <p:guide pos="987"/>
        <p:guide pos="4818"/>
        <p:guide pos="3257"/>
        <p:guide/>
        <p:guide pos="3285"/>
        <p:guide pos="4022"/>
        <p:guide pos="4053"/>
        <p:guide pos="5544"/>
        <p:guide pos="220"/>
        <p:guide pos="3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2/17/22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DF9CD8-78EA-48F9-B05B-939900F5F25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9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DF9CD8-78EA-48F9-B05B-939900F5F25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520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06F44-A501-40F3-9C70-9BB82268F2D0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32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406F44-A501-40F3-9C70-9BB82268F2D0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503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DF9CD8-78EA-48F9-B05B-939900F5F25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976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720" y="-113413"/>
            <a:ext cx="9559547" cy="540842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87899" y="3956022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87899" y="4337023"/>
            <a:ext cx="3683000" cy="369888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87899" y="1908228"/>
            <a:ext cx="7324988" cy="744537"/>
          </a:xfrm>
        </p:spPr>
        <p:txBody>
          <a:bodyPr>
            <a:noAutofit/>
          </a:bodyPr>
          <a:lstStyle>
            <a:lvl1pPr marL="0" indent="0" algn="l">
              <a:buNone/>
              <a:defRPr sz="40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87899" y="2658575"/>
            <a:ext cx="6041582" cy="487849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37" y="425021"/>
            <a:ext cx="2446019" cy="5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1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336613" y="1010408"/>
            <a:ext cx="8207742" cy="3641926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94" y="1969202"/>
            <a:ext cx="7772400" cy="930105"/>
          </a:xfrm>
        </p:spPr>
        <p:txBody>
          <a:bodyPr anchor="ctr">
            <a:noAutofit/>
          </a:bodyPr>
          <a:lstStyle>
            <a:lvl1pPr algn="l">
              <a:defRPr sz="4000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575" y="1012507"/>
            <a:ext cx="4038600" cy="3472073"/>
          </a:xfrm>
        </p:spPr>
        <p:txBody>
          <a:bodyPr/>
          <a:lstStyle>
            <a:lvl1pPr>
              <a:defRPr sz="2200">
                <a:solidFill>
                  <a:srgbClr val="414042"/>
                </a:solidFill>
              </a:defRPr>
            </a:lvl1pPr>
            <a:lvl2pPr>
              <a:defRPr sz="2000">
                <a:solidFill>
                  <a:srgbClr val="414042"/>
                </a:solidFill>
              </a:defRPr>
            </a:lvl2pPr>
            <a:lvl3pPr>
              <a:defRPr sz="1600">
                <a:solidFill>
                  <a:srgbClr val="414042"/>
                </a:solidFill>
              </a:defRPr>
            </a:lvl3pPr>
            <a:lvl4pPr>
              <a:defRPr sz="1600">
                <a:solidFill>
                  <a:srgbClr val="414042"/>
                </a:solidFill>
              </a:defRPr>
            </a:lvl4pPr>
            <a:lvl5pPr>
              <a:defRPr sz="1600">
                <a:solidFill>
                  <a:srgbClr val="41404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743" y="1008053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743" y="1487874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5569" y="1008053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4525569" y="1487874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7518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3231001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6124485" y="1011542"/>
            <a:ext cx="2442633" cy="33944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742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2496747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463458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6990345" y="3127084"/>
            <a:ext cx="1797050" cy="34094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40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3458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990345" y="1604354"/>
            <a:ext cx="1797050" cy="1344612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939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3479314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624980" y="2151897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39939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3479308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24974" y="3963640"/>
            <a:ext cx="1924050" cy="340940"/>
          </a:xfrm>
        </p:spPr>
        <p:txBody>
          <a:bodyPr>
            <a:noAutofit/>
          </a:bodyPr>
          <a:lstStyle>
            <a:lvl1pPr marL="0" indent="0" algn="ctr">
              <a:buNone/>
              <a:defRPr sz="110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39939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479308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24974" y="928298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39939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479308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6624974" y="2782372"/>
            <a:ext cx="1924050" cy="1100667"/>
          </a:xfrm>
        </p:spPr>
        <p:txBody>
          <a:bodyPr>
            <a:normAutofit/>
          </a:bodyPr>
          <a:lstStyle>
            <a:lvl1pPr>
              <a:defRPr sz="140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024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0472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07" y="-7089"/>
            <a:ext cx="9279213" cy="524982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41" y="4706128"/>
            <a:ext cx="1108352" cy="2651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475260" y="930149"/>
            <a:ext cx="6069541" cy="1250668"/>
          </a:xfrm>
        </p:spPr>
        <p:txBody>
          <a:bodyPr anchor="ctr" anchorCtr="0">
            <a:noAutofit/>
          </a:bodyPr>
          <a:lstStyle>
            <a:lvl1pPr algn="r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2822713" y="-284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436224" y="61049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1647" y="1674428"/>
            <a:ext cx="6069541" cy="1250668"/>
          </a:xfrm>
        </p:spPr>
        <p:txBody>
          <a:bodyPr anchor="ctr" anchorCtr="0">
            <a:no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0702" y="1550831"/>
            <a:ext cx="7772400" cy="1021556"/>
          </a:xfrm>
        </p:spPr>
        <p:txBody>
          <a:bodyPr anchor="ctr">
            <a:noAutofit/>
          </a:bodyPr>
          <a:lstStyle>
            <a:lvl1pPr algn="l">
              <a:defRPr sz="4000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87899" y="2572387"/>
            <a:ext cx="3683000" cy="433387"/>
          </a:xfrm>
        </p:spPr>
        <p:txBody>
          <a:bodyPr>
            <a:normAutofit/>
          </a:bodyPr>
          <a:lstStyle>
            <a:lvl1pPr marL="0" indent="0" algn="l">
              <a:buNone/>
              <a:defRPr sz="16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41" y="4706128"/>
            <a:ext cx="1108352" cy="2651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857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592" y="1009332"/>
            <a:ext cx="8205304" cy="3553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489150" y="4802438"/>
            <a:ext cx="30277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700" b="0" i="0" dirty="0">
                <a:solidFill>
                  <a:schemeClr val="bg1"/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92" r:id="rId3"/>
    <p:sldLayoutId id="2147483677" r:id="rId4"/>
    <p:sldLayoutId id="2147483678" r:id="rId5"/>
    <p:sldLayoutId id="2147483679" r:id="rId6"/>
    <p:sldLayoutId id="2147483689" r:id="rId7"/>
    <p:sldLayoutId id="2147483690" r:id="rId8"/>
    <p:sldLayoutId id="2147483691" r:id="rId9"/>
    <p:sldLayoutId id="2147483680" r:id="rId10"/>
    <p:sldLayoutId id="2147483681" r:id="rId11"/>
    <p:sldLayoutId id="2147483682" r:id="rId12"/>
    <p:sldLayoutId id="2147483693" r:id="rId13"/>
    <p:sldLayoutId id="2147483694" r:id="rId14"/>
    <p:sldLayoutId id="2147483695" r:id="rId15"/>
    <p:sldLayoutId id="21474836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/>
              <a:t>Production Readiness Validation:</a:t>
            </a:r>
          </a:p>
          <a:p>
            <a:r>
              <a:rPr lang="en-US" sz="3200" dirty="0"/>
              <a:t>Game Day Scenarios</a:t>
            </a:r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726" y="25976"/>
            <a:ext cx="8205304" cy="545741"/>
          </a:xfrm>
        </p:spPr>
        <p:txBody>
          <a:bodyPr/>
          <a:lstStyle/>
          <a:p>
            <a:r>
              <a:rPr lang="en-US" sz="2000" dirty="0"/>
              <a:t>Purpose</a:t>
            </a:r>
            <a:br>
              <a:rPr lang="en-US" sz="2000" dirty="0"/>
            </a:b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95726" y="1100806"/>
            <a:ext cx="8332638" cy="2885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450"/>
              </a:spcAft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The Purpose of this document is to:</a:t>
            </a:r>
          </a:p>
          <a:p>
            <a:pPr marL="123825" indent="-123825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Provide overview of end to end approach to Game Day delivery from planning through to execution and post Game Day Scenario activity debriefing, evaluation and lessons learned</a:t>
            </a:r>
          </a:p>
          <a:p>
            <a:pPr marL="14288" indent="-128588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Discuss Game Day Scenario activity framework including:</a:t>
            </a:r>
          </a:p>
          <a:p>
            <a:pPr marL="442913" lvl="1" indent="-214313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Participants and Participant Roles and responsibilities </a:t>
            </a:r>
          </a:p>
          <a:p>
            <a:pPr marL="442913" lvl="1" indent="-214313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Logistics &amp; Time Frame</a:t>
            </a:r>
          </a:p>
          <a:p>
            <a:pPr marL="442913" lvl="1" indent="-214313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End to end activity timelines &amp; facilitation</a:t>
            </a:r>
          </a:p>
          <a:p>
            <a:pPr marL="14288" lvl="1" indent="-128588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Determine [Customer] use cases and criteria for Game Day activities</a:t>
            </a:r>
          </a:p>
          <a:p>
            <a:pPr marL="442913" lvl="1" indent="-214313">
              <a:spcAft>
                <a:spcPts val="450"/>
              </a:spcAft>
              <a:buFont typeface="Courier New" panose="02070309020205020404" pitchFamily="49" charset="0"/>
              <a:buChar char="o"/>
            </a:pPr>
            <a:endParaRPr lang="en-GB" sz="1400" dirty="0">
              <a:solidFill>
                <a:schemeClr val="tx2"/>
              </a:solidFill>
              <a:latin typeface="Amazon Ember" charset="0"/>
              <a:ea typeface="Amazon Ember" charset="0"/>
              <a:cs typeface="Amazon Ember" charset="0"/>
            </a:endParaRPr>
          </a:p>
          <a:p>
            <a:pPr algn="just">
              <a:spcAft>
                <a:spcPts val="450"/>
              </a:spcAft>
            </a:pPr>
            <a:endParaRPr lang="en-GB" sz="900" dirty="0">
              <a:solidFill>
                <a:schemeClr val="tx2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450"/>
              </a:spcAft>
            </a:pPr>
            <a:endParaRPr lang="en-GB" sz="900" dirty="0">
              <a:solidFill>
                <a:schemeClr val="tx2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68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Day Scenario Overview</a:t>
            </a:r>
          </a:p>
        </p:txBody>
      </p:sp>
    </p:spTree>
    <p:extLst>
      <p:ext uri="{BB962C8B-B14F-4D97-AF65-F5344CB8AC3E}">
        <p14:creationId xmlns:p14="http://schemas.microsoft.com/office/powerpoint/2010/main" val="175410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726" y="571717"/>
            <a:ext cx="779134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spcAft>
                <a:spcPts val="600"/>
              </a:spcAft>
            </a:pPr>
            <a:r>
              <a:rPr lang="en-GB" sz="14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Objective</a:t>
            </a:r>
          </a:p>
          <a:p>
            <a:pPr marL="128588" indent="-128588">
              <a:lnSpc>
                <a:spcPts val="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To </a:t>
            </a:r>
            <a:r>
              <a:rPr lang="en-US" sz="1000" dirty="0">
                <a:latin typeface="Amazon Ember" charset="0"/>
                <a:ea typeface="Amazon Ember" charset="0"/>
                <a:cs typeface="Amazon Ember" charset="0"/>
              </a:rPr>
              <a:t>ensure new, migrated or changed microservices are complete, accurate, meets specified requirements and ready to be operated and supported when introduced in the cloud Production environment. </a:t>
            </a:r>
            <a:endParaRPr lang="en-GB" sz="1000" dirty="0">
              <a:solidFill>
                <a:schemeClr val="tx2"/>
              </a:solidFill>
              <a:latin typeface="Amazon Ember" charset="0"/>
              <a:ea typeface="Amazon Ember" charset="0"/>
              <a:cs typeface="Amazon Ember" charset="0"/>
            </a:endParaRPr>
          </a:p>
          <a:p>
            <a:pPr marL="128588" indent="-128588">
              <a:lnSpc>
                <a:spcPts val="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The [Customer] Game Day Scenarios cover the following three key areas of activity:</a:t>
            </a:r>
          </a:p>
          <a:p>
            <a:pPr>
              <a:lnSpc>
                <a:spcPts val="900"/>
              </a:lnSpc>
            </a:pPr>
            <a:endParaRPr lang="en-GB" sz="675" dirty="0"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726" y="3155001"/>
            <a:ext cx="79292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8588" indent="-128588">
              <a:lnSpc>
                <a:spcPts val="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An initial [Customer] specific Game Day will take place  [TBD] with the goal of validating:</a:t>
            </a:r>
          </a:p>
          <a:p>
            <a:pPr marL="600075" lvl="1" indent="-257175">
              <a:lnSpc>
                <a:spcPts val="9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Speed within which the Cloud Platform team, SI Product team, [TBD],and AWS can be mobilized. </a:t>
            </a:r>
          </a:p>
          <a:p>
            <a:pPr marL="600075" lvl="1" indent="-257175">
              <a:lnSpc>
                <a:spcPts val="9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Structure and flow of the incident Triage. </a:t>
            </a:r>
          </a:p>
          <a:p>
            <a:pPr marL="600075" lvl="1" indent="-257175">
              <a:lnSpc>
                <a:spcPts val="9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Incident Decision Making. </a:t>
            </a:r>
          </a:p>
          <a:p>
            <a:pPr marL="600075" lvl="1" indent="-257175">
              <a:lnSpc>
                <a:spcPts val="9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Communication flow from the incident teams outwards and initiation of failure action invocation where required </a:t>
            </a:r>
          </a:p>
          <a:p>
            <a:pPr marL="600075" lvl="1" indent="-257175">
              <a:lnSpc>
                <a:spcPts val="9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Gap analysis</a:t>
            </a:r>
          </a:p>
          <a:p>
            <a:pPr marL="128588" indent="-128588">
              <a:lnSpc>
                <a:spcPts val="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2"/>
                </a:solidFill>
                <a:latin typeface="Amazon Ember" charset="0"/>
                <a:ea typeface="Amazon Ember" charset="0"/>
                <a:cs typeface="Amazon Ember" charset="0"/>
              </a:rPr>
              <a:t>A number of scenarios will be used to drive the Game Day based a blend of probability &amp; impact failure events that could occur during an AWS hosted application Incident.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1392"/>
              </p:ext>
            </p:extLst>
          </p:nvPr>
        </p:nvGraphicFramePr>
        <p:xfrm>
          <a:off x="533747" y="1373536"/>
          <a:ext cx="7929262" cy="171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404">
                  <a:extLst>
                    <a:ext uri="{9D8B030D-6E8A-4147-A177-3AD203B41FA5}">
                      <a16:colId xmlns:a16="http://schemas.microsoft.com/office/drawing/2014/main" val="2404794277"/>
                    </a:ext>
                  </a:extLst>
                </a:gridCol>
                <a:gridCol w="2427883">
                  <a:extLst>
                    <a:ext uri="{9D8B030D-6E8A-4147-A177-3AD203B41FA5}">
                      <a16:colId xmlns:a16="http://schemas.microsoft.com/office/drawing/2014/main" val="3332273014"/>
                    </a:ext>
                  </a:extLst>
                </a:gridCol>
                <a:gridCol w="3162975">
                  <a:extLst>
                    <a:ext uri="{9D8B030D-6E8A-4147-A177-3AD203B41FA5}">
                      <a16:colId xmlns:a16="http://schemas.microsoft.com/office/drawing/2014/main" val="5748303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Technology Readiness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Business Readiness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Activity Command and Control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7315313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Application Incidents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Platform / Application outages. 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Deployment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approach and execution of required technology changes.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Client Readiness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Stakeholder Readiness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Key Business Readiness Criteria dashboard 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Event resource readiness.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Communication  approach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Failure scenario identification and contingency response / action invocation playbook documentation. 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The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[Customer]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framework planning and execution covering:</a:t>
                      </a:r>
                    </a:p>
                    <a:p>
                      <a:pPr marL="742950" lvl="1" indent="-28575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Business area run book planning, execution and command &amp; control. </a:t>
                      </a:r>
                    </a:p>
                    <a:p>
                      <a:pPr marL="742950" lvl="1" indent="-28575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Escalation model and failure management approach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6231250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726" y="25976"/>
            <a:ext cx="8205304" cy="545741"/>
          </a:xfrm>
        </p:spPr>
        <p:txBody>
          <a:bodyPr/>
          <a:lstStyle/>
          <a:p>
            <a:r>
              <a:rPr lang="en-US" sz="2000" dirty="0"/>
              <a:t>Background</a:t>
            </a:r>
            <a:br>
              <a:rPr lang="en-US" sz="20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6201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27255"/>
              </p:ext>
            </p:extLst>
          </p:nvPr>
        </p:nvGraphicFramePr>
        <p:xfrm>
          <a:off x="391416" y="489348"/>
          <a:ext cx="8357730" cy="4186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819">
                  <a:extLst>
                    <a:ext uri="{9D8B030D-6E8A-4147-A177-3AD203B41FA5}">
                      <a16:colId xmlns:a16="http://schemas.microsoft.com/office/drawing/2014/main" val="2281614095"/>
                    </a:ext>
                  </a:extLst>
                </a:gridCol>
                <a:gridCol w="6181354">
                  <a:extLst>
                    <a:ext uri="{9D8B030D-6E8A-4147-A177-3AD203B41FA5}">
                      <a16:colId xmlns:a16="http://schemas.microsoft.com/office/drawing/2014/main" val="2761315822"/>
                    </a:ext>
                  </a:extLst>
                </a:gridCol>
                <a:gridCol w="1312557">
                  <a:extLst>
                    <a:ext uri="{9D8B030D-6E8A-4147-A177-3AD203B41FA5}">
                      <a16:colId xmlns:a16="http://schemas.microsoft.com/office/drawing/2014/main" val="153352569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800" dirty="0"/>
                        <a:t>Category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/>
                        <a:t>In</a:t>
                      </a:r>
                      <a:r>
                        <a:rPr lang="en-GB" sz="800" baseline="0" dirty="0"/>
                        <a:t> Scope</a:t>
                      </a:r>
                      <a:endParaRPr lang="en-GB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/>
                        <a:t>Out Of Scope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270538050"/>
                  </a:ext>
                </a:extLst>
              </a:tr>
              <a:tr h="1622431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Objectives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Injection of failure scenario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that includes the following to enable informed, productive and smooth Triage:</a:t>
                      </a:r>
                    </a:p>
                    <a:p>
                      <a:pPr marL="236538" lvl="1" indent="-112713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Clarity on Failure Scenario</a:t>
                      </a:r>
                    </a:p>
                    <a:p>
                      <a:pPr marL="236538" lvl="1" indent="-112713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Impact Details: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Clients Impacted, Severity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Rating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236538" lvl="1" indent="-112713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Potential Failure scenario invocation actions. 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Mobilization of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team, SI Product team, [TBD],and AWS 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TAM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to triage </a:t>
                      </a: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failure. 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Structure and flow of Triage. 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Decision Making &amp; associated Timescale. 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Information Communication flow between: Cloud Platform team, SI Product team, [TBD],and AWS support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Any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other scenario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9196981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Business Areas/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External teams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Teams</a:t>
                      </a:r>
                    </a:p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CTO Platform Areas (NGA, Analytics, COTS, etc.)</a:t>
                      </a:r>
                    </a:p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One – Call (Incident/Failure Scenarios)</a:t>
                      </a:r>
                    </a:p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GTO</a:t>
                      </a:r>
                    </a:p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ES&amp;F (Security)</a:t>
                      </a:r>
                    </a:p>
                    <a:p>
                      <a:pPr marL="123825" lvl="0" indent="-123825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TAM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Any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other area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1835611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Logistics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Event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Date: mm/dd/yyyy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Time: TBD</a:t>
                      </a:r>
                    </a:p>
                    <a:p>
                      <a:pPr marL="342900" lvl="0" indent="-34290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Location: [TBD – [Customer] Site, Remote Conference Bridge]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333113965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Systems / Enablers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Telephone Conference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E-mail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Service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Now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Personal Health Dashboard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Resilience Tooling [TBD]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2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404753483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289" y="0"/>
            <a:ext cx="8205304" cy="545741"/>
          </a:xfrm>
        </p:spPr>
        <p:txBody>
          <a:bodyPr/>
          <a:lstStyle/>
          <a:p>
            <a:r>
              <a:rPr lang="en-US" sz="2000" dirty="0"/>
              <a:t>Objectives &amp; Scope</a:t>
            </a:r>
          </a:p>
        </p:txBody>
      </p:sp>
    </p:spTree>
    <p:extLst>
      <p:ext uri="{BB962C8B-B14F-4D97-AF65-F5344CB8AC3E}">
        <p14:creationId xmlns:p14="http://schemas.microsoft.com/office/powerpoint/2010/main" val="24497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Day Scenario Framework</a:t>
            </a:r>
          </a:p>
        </p:txBody>
      </p:sp>
    </p:spTree>
    <p:extLst>
      <p:ext uri="{BB962C8B-B14F-4D97-AF65-F5344CB8AC3E}">
        <p14:creationId xmlns:p14="http://schemas.microsoft.com/office/powerpoint/2010/main" val="112835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946922" y="2454437"/>
            <a:ext cx="685800" cy="5284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Set Objectives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1830233" y="1011665"/>
            <a:ext cx="1812848" cy="23812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Game Day Design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30233" y="1278364"/>
            <a:ext cx="1812848" cy="288070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936556" y="1393601"/>
            <a:ext cx="849275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Admin &amp; Logistics Preparations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1927031" y="1927001"/>
            <a:ext cx="858800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Identify &amp; Confirm Participants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1702273" y="976481"/>
            <a:ext cx="300959" cy="34537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Rounded Rectangle 11"/>
          <p:cNvSpPr/>
          <p:nvPr/>
        </p:nvSpPr>
        <p:spPr bwMode="auto">
          <a:xfrm>
            <a:off x="1927031" y="2517551"/>
            <a:ext cx="858800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Detailed Scenario Planning &amp; Playbook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2421329" y="3382108"/>
            <a:ext cx="1011200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Game Day Playbook &amp; Supporting Materials</a:t>
            </a:r>
          </a:p>
        </p:txBody>
      </p:sp>
      <p:cxnSp>
        <p:nvCxnSpPr>
          <p:cNvPr id="14" name="Straight Connector 13"/>
          <p:cNvCxnSpPr>
            <a:stCxn id="6" idx="3"/>
            <a:endCxn id="8" idx="1"/>
          </p:cNvCxnSpPr>
          <p:nvPr/>
        </p:nvCxnSpPr>
        <p:spPr bwMode="auto">
          <a:xfrm>
            <a:off x="1632722" y="2718640"/>
            <a:ext cx="197512" cy="76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5" name="Elbow Connector 14"/>
          <p:cNvCxnSpPr>
            <a:stCxn id="9" idx="3"/>
            <a:endCxn id="13" idx="0"/>
          </p:cNvCxnSpPr>
          <p:nvPr/>
        </p:nvCxnSpPr>
        <p:spPr bwMode="auto">
          <a:xfrm>
            <a:off x="2785831" y="1588395"/>
            <a:ext cx="141098" cy="1793712"/>
          </a:xfrm>
          <a:prstGeom prst="bentConnector2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Elbow Connector 15"/>
          <p:cNvCxnSpPr>
            <a:stCxn id="10" idx="3"/>
            <a:endCxn id="13" idx="0"/>
          </p:cNvCxnSpPr>
          <p:nvPr/>
        </p:nvCxnSpPr>
        <p:spPr bwMode="auto">
          <a:xfrm>
            <a:off x="2785831" y="2121795"/>
            <a:ext cx="141098" cy="1260312"/>
          </a:xfrm>
          <a:prstGeom prst="bentConnector2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Elbow Connector 16"/>
          <p:cNvCxnSpPr>
            <a:stCxn id="12" idx="3"/>
            <a:endCxn id="13" idx="0"/>
          </p:cNvCxnSpPr>
          <p:nvPr/>
        </p:nvCxnSpPr>
        <p:spPr bwMode="auto">
          <a:xfrm>
            <a:off x="2785831" y="2712345"/>
            <a:ext cx="141098" cy="669762"/>
          </a:xfrm>
          <a:prstGeom prst="bentConnector2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4098186" y="1011665"/>
            <a:ext cx="1581045" cy="23812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Game Day Preparation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4093071" y="1278364"/>
            <a:ext cx="1586161" cy="288070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rial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605" y="995341"/>
            <a:ext cx="372486" cy="322685"/>
          </a:xfrm>
          <a:prstGeom prst="rect">
            <a:avLst/>
          </a:prstGeom>
        </p:spPr>
      </p:pic>
      <p:cxnSp>
        <p:nvCxnSpPr>
          <p:cNvPr id="21" name="Straight Connector 20"/>
          <p:cNvCxnSpPr>
            <a:stCxn id="8" idx="3"/>
            <a:endCxn id="19" idx="1"/>
          </p:cNvCxnSpPr>
          <p:nvPr/>
        </p:nvCxnSpPr>
        <p:spPr bwMode="auto">
          <a:xfrm>
            <a:off x="3643081" y="2718715"/>
            <a:ext cx="44999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4461513" y="1594443"/>
            <a:ext cx="849275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Pre Game Day Briefing</a:t>
            </a:r>
          </a:p>
        </p:txBody>
      </p:sp>
      <p:sp>
        <p:nvSpPr>
          <p:cNvPr id="23" name="Rounded Rectangle 22"/>
          <p:cNvSpPr/>
          <p:nvPr/>
        </p:nvSpPr>
        <p:spPr bwMode="auto">
          <a:xfrm>
            <a:off x="4461513" y="2355369"/>
            <a:ext cx="849275" cy="6274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Distribute Pre Game Day Materials to Participants (Tailored to role)</a:t>
            </a:r>
          </a:p>
        </p:txBody>
      </p:sp>
      <p:sp>
        <p:nvSpPr>
          <p:cNvPr id="25" name="Rectangle 24"/>
          <p:cNvSpPr/>
          <p:nvPr/>
        </p:nvSpPr>
        <p:spPr bwMode="auto">
          <a:xfrm rot="5400000">
            <a:off x="4559964" y="2464168"/>
            <a:ext cx="3147401" cy="24239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Game Day Exercise (Week of  mm/dd/yyyy)</a:t>
            </a:r>
          </a:p>
        </p:txBody>
      </p:sp>
      <p:sp>
        <p:nvSpPr>
          <p:cNvPr id="26" name="Rounded Rectangle 25"/>
          <p:cNvSpPr/>
          <p:nvPr/>
        </p:nvSpPr>
        <p:spPr bwMode="auto">
          <a:xfrm>
            <a:off x="6504710" y="998860"/>
            <a:ext cx="1630392" cy="250929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Game Day Assessment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159" y="995341"/>
            <a:ext cx="266945" cy="26694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 bwMode="auto">
          <a:xfrm>
            <a:off x="6627462" y="1267432"/>
            <a:ext cx="1507640" cy="288070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6653471" y="1537413"/>
            <a:ext cx="569219" cy="38958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Facilitation Team Review 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6896684" y="2393355"/>
            <a:ext cx="765237" cy="4666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Game Day Summary Assessment Document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7324067" y="3278908"/>
            <a:ext cx="747958" cy="46667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 dirty="0">
                <a:latin typeface="Calibri" panose="020F0502020204030204" pitchFamily="34" charset="0"/>
              </a:rPr>
              <a:t>Game Day De-brief with Participants</a:t>
            </a:r>
          </a:p>
        </p:txBody>
      </p:sp>
      <p:cxnSp>
        <p:nvCxnSpPr>
          <p:cNvPr id="32" name="Elbow Connector 31"/>
          <p:cNvCxnSpPr>
            <a:stCxn id="29" idx="3"/>
            <a:endCxn id="30" idx="0"/>
          </p:cNvCxnSpPr>
          <p:nvPr/>
        </p:nvCxnSpPr>
        <p:spPr bwMode="auto">
          <a:xfrm>
            <a:off x="7222690" y="1732207"/>
            <a:ext cx="56612" cy="661148"/>
          </a:xfrm>
          <a:prstGeom prst="bentConnector2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Elbow Connector 32"/>
          <p:cNvCxnSpPr>
            <a:stCxn id="30" idx="3"/>
            <a:endCxn id="31" idx="0"/>
          </p:cNvCxnSpPr>
          <p:nvPr/>
        </p:nvCxnSpPr>
        <p:spPr bwMode="auto">
          <a:xfrm>
            <a:off x="7661921" y="2626691"/>
            <a:ext cx="36125" cy="652217"/>
          </a:xfrm>
          <a:prstGeom prst="bentConnector2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1854716" y="826168"/>
            <a:ext cx="181284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000" dirty="0">
                <a:solidFill>
                  <a:schemeClr val="accent1"/>
                </a:solidFill>
              </a:rPr>
              <a:t>Week of mm/dd/yyyy</a:t>
            </a: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5709455" y="2710059"/>
            <a:ext cx="303010" cy="1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8" name="Straight Connector 37"/>
          <p:cNvCxnSpPr>
            <a:endCxn id="28" idx="1"/>
          </p:cNvCxnSpPr>
          <p:nvPr/>
        </p:nvCxnSpPr>
        <p:spPr bwMode="auto">
          <a:xfrm>
            <a:off x="6268275" y="2707783"/>
            <a:ext cx="35918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2682182" y="1307726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40" name="Oval 39"/>
          <p:cNvSpPr/>
          <p:nvPr/>
        </p:nvSpPr>
        <p:spPr bwMode="auto">
          <a:xfrm>
            <a:off x="2653140" y="1825689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41" name="Oval 40"/>
          <p:cNvSpPr/>
          <p:nvPr/>
        </p:nvSpPr>
        <p:spPr bwMode="auto">
          <a:xfrm>
            <a:off x="2646053" y="2410620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42" name="Oval 41"/>
          <p:cNvSpPr/>
          <p:nvPr/>
        </p:nvSpPr>
        <p:spPr bwMode="auto">
          <a:xfrm>
            <a:off x="3298253" y="3245532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43" name="Oval 42"/>
          <p:cNvSpPr/>
          <p:nvPr/>
        </p:nvSpPr>
        <p:spPr bwMode="auto">
          <a:xfrm>
            <a:off x="5174969" y="1513127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44" name="Oval 43"/>
          <p:cNvSpPr/>
          <p:nvPr/>
        </p:nvSpPr>
        <p:spPr bwMode="auto">
          <a:xfrm>
            <a:off x="5202092" y="2208589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46" name="Oval 45"/>
          <p:cNvSpPr/>
          <p:nvPr/>
        </p:nvSpPr>
        <p:spPr bwMode="auto">
          <a:xfrm>
            <a:off x="7103906" y="1426480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8</a:t>
            </a:r>
          </a:p>
        </p:txBody>
      </p:sp>
      <p:sp>
        <p:nvSpPr>
          <p:cNvPr id="47" name="Oval 46"/>
          <p:cNvSpPr/>
          <p:nvPr/>
        </p:nvSpPr>
        <p:spPr bwMode="auto">
          <a:xfrm>
            <a:off x="7529230" y="2285607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9</a:t>
            </a:r>
          </a:p>
        </p:txBody>
      </p:sp>
      <p:sp>
        <p:nvSpPr>
          <p:cNvPr id="48" name="Oval 47"/>
          <p:cNvSpPr/>
          <p:nvPr/>
        </p:nvSpPr>
        <p:spPr bwMode="auto">
          <a:xfrm>
            <a:off x="7895538" y="3133980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10</a:t>
            </a:r>
          </a:p>
        </p:txBody>
      </p:sp>
      <p:sp>
        <p:nvSpPr>
          <p:cNvPr id="49" name="Oval 48"/>
          <p:cNvSpPr/>
          <p:nvPr/>
        </p:nvSpPr>
        <p:spPr bwMode="auto">
          <a:xfrm>
            <a:off x="6038864" y="1176073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750" dirty="0">
                <a:solidFill>
                  <a:schemeClr val="bg1"/>
                </a:solidFill>
                <a:latin typeface="Arial" pitchFamily="34" charset="0"/>
              </a:rPr>
              <a:t>7</a:t>
            </a:r>
          </a:p>
        </p:txBody>
      </p:sp>
      <p:sp>
        <p:nvSpPr>
          <p:cNvPr id="45" name="Title 1"/>
          <p:cNvSpPr>
            <a:spLocks noGrp="1"/>
          </p:cNvSpPr>
          <p:nvPr>
            <p:ph type="title"/>
          </p:nvPr>
        </p:nvSpPr>
        <p:spPr>
          <a:xfrm>
            <a:off x="57088" y="875"/>
            <a:ext cx="8205304" cy="545741"/>
          </a:xfrm>
        </p:spPr>
        <p:txBody>
          <a:bodyPr/>
          <a:lstStyle/>
          <a:p>
            <a:r>
              <a:rPr lang="en-US" sz="2000" dirty="0"/>
              <a:t>Game Day Scenario Framework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6383" y="820684"/>
            <a:ext cx="181284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000" dirty="0">
                <a:solidFill>
                  <a:schemeClr val="accent1"/>
                </a:solidFill>
              </a:rPr>
              <a:t>Week of mm/dd/yyyy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4572" y="827160"/>
            <a:ext cx="181284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000" dirty="0">
                <a:solidFill>
                  <a:schemeClr val="accent1"/>
                </a:solidFill>
              </a:rPr>
              <a:t>Week of mm/dd/yyyy</a:t>
            </a:r>
          </a:p>
        </p:txBody>
      </p:sp>
    </p:spTree>
    <p:extLst>
      <p:ext uri="{BB962C8B-B14F-4D97-AF65-F5344CB8AC3E}">
        <p14:creationId xmlns:p14="http://schemas.microsoft.com/office/powerpoint/2010/main" val="63628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 bwMode="auto">
          <a:xfrm>
            <a:off x="-1119278" y="58229"/>
            <a:ext cx="685800" cy="6858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53949"/>
              </p:ext>
            </p:extLst>
          </p:nvPr>
        </p:nvGraphicFramePr>
        <p:xfrm>
          <a:off x="166255" y="401129"/>
          <a:ext cx="8707580" cy="529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888">
                  <a:extLst>
                    <a:ext uri="{9D8B030D-6E8A-4147-A177-3AD203B41FA5}">
                      <a16:colId xmlns:a16="http://schemas.microsoft.com/office/drawing/2014/main" val="1006971036"/>
                    </a:ext>
                  </a:extLst>
                </a:gridCol>
                <a:gridCol w="5679253">
                  <a:extLst>
                    <a:ext uri="{9D8B030D-6E8A-4147-A177-3AD203B41FA5}">
                      <a16:colId xmlns:a16="http://schemas.microsoft.com/office/drawing/2014/main" val="4117361423"/>
                    </a:ext>
                  </a:extLst>
                </a:gridCol>
                <a:gridCol w="1918439">
                  <a:extLst>
                    <a:ext uri="{9D8B030D-6E8A-4147-A177-3AD203B41FA5}">
                      <a16:colId xmlns:a16="http://schemas.microsoft.com/office/drawing/2014/main" val="153122570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Team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Role / Activity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Participants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93504979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Design &amp; Planning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Ensure Game Day is prepared &amp; executed so that exercise achieves its objectives.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Definition of purpose, scope and format of Game Day.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Production of Game Day Playbook. 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Delivery of pre Game Day Briefing to Game Day Facilitation Team. 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Distribution of Pre Game Day Documentation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  <a:endParaRPr lang="en-GB" sz="1000" baseline="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 Participants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37423468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Scenario Identification &amp; Planning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Identify Suitable Scenarios to be used for the Game Day that cover potential Incident/security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Incident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failures that potentially causes client, colleague, operational and reputational impacts and that require a decision. 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Create detailed Scenario playbook that includes scenario detail and associated information and data.    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  <a:endParaRPr lang="en-GB" sz="1000" baseline="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280188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Initial Scenario Resolution Runbook Definition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Initial runbook defined detailing the steps to take to address and resolve the identified scenario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Initial test / walkthrough of runbook prior to event</a:t>
                      </a: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845642002"/>
                  </a:ext>
                </a:extLst>
              </a:tr>
              <a:tr h="800100">
                <a:tc rowSpan="3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Exercise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Facilitation Team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 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 </a:t>
                      </a: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Input &amp; Facilitation</a:t>
                      </a:r>
                      <a:endParaRPr lang="en-GB" sz="1000" b="1" u="sng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Initiation of each scenario. 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Injection of information. 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Set up of Triage Call. 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  <a:endParaRPr lang="en-GB" sz="1000" baseline="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GTO/Cloud Ops Stakeholders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TAM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882096432"/>
                  </a:ext>
                </a:extLst>
              </a:tr>
              <a:tr h="800100">
                <a:tc v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en-GB" sz="900" dirty="0">
                        <a:solidFill>
                          <a:schemeClr val="tx2"/>
                        </a:solidFill>
                        <a:effectLst/>
                        <a:latin typeface="Expert Sans Regular" panose="020B0503030103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</a:t>
                      </a:r>
                      <a:r>
                        <a:rPr lang="en-US" sz="1000" b="1" u="sng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Day </a:t>
                      </a:r>
                      <a:r>
                        <a:rPr lang="en-US" sz="1000" b="1" u="sng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Exercise Director</a:t>
                      </a:r>
                      <a:endParaRPr lang="en-GB" sz="1000" b="1" u="sng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Controlling end to end exercise in regards to: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Introduction &amp; context setting for each scenario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Anticipating and overcoming obstacles to progress – keeping the exercise moving. 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Helping the involved teams to maintain intensity, involvement. 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Obtain immediate Feedback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kern="12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Onboarding Team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47285470"/>
                  </a:ext>
                </a:extLst>
              </a:tr>
              <a:tr h="400050">
                <a:tc v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en-GB" sz="900" dirty="0">
                        <a:solidFill>
                          <a:schemeClr val="tx2"/>
                        </a:solidFill>
                        <a:effectLst/>
                        <a:latin typeface="Expert Sans Regular" panose="020B0503030103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Exercise Observers</a:t>
                      </a:r>
                      <a:endParaRPr lang="en-GB" sz="1000" b="1" u="sng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Capturing useful insights, lessons learned, decisions reached and critical questions / gaps raised during the game.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Feed Observations into overall Post Game Day Event Summary Report. 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All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Participants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177911457"/>
                  </a:ext>
                </a:extLst>
              </a:tr>
            </a:tbl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088" y="875"/>
            <a:ext cx="8205304" cy="545741"/>
          </a:xfrm>
        </p:spPr>
        <p:txBody>
          <a:bodyPr/>
          <a:lstStyle/>
          <a:p>
            <a:r>
              <a:rPr lang="en-US" sz="2000" dirty="0"/>
              <a:t>Game Day Scenario – Roles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775741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 bwMode="auto">
          <a:xfrm>
            <a:off x="-1119278" y="58229"/>
            <a:ext cx="685800" cy="6858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562528"/>
              </p:ext>
            </p:extLst>
          </p:nvPr>
        </p:nvGraphicFramePr>
        <p:xfrm>
          <a:off x="166255" y="401129"/>
          <a:ext cx="8707580" cy="2035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888">
                  <a:extLst>
                    <a:ext uri="{9D8B030D-6E8A-4147-A177-3AD203B41FA5}">
                      <a16:colId xmlns:a16="http://schemas.microsoft.com/office/drawing/2014/main" val="1006971036"/>
                    </a:ext>
                  </a:extLst>
                </a:gridCol>
                <a:gridCol w="5679253">
                  <a:extLst>
                    <a:ext uri="{9D8B030D-6E8A-4147-A177-3AD203B41FA5}">
                      <a16:colId xmlns:a16="http://schemas.microsoft.com/office/drawing/2014/main" val="4117361423"/>
                    </a:ext>
                  </a:extLst>
                </a:gridCol>
                <a:gridCol w="1918439">
                  <a:extLst>
                    <a:ext uri="{9D8B030D-6E8A-4147-A177-3AD203B41FA5}">
                      <a16:colId xmlns:a16="http://schemas.microsoft.com/office/drawing/2014/main" val="153122570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Team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Role / Activity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Participants</a:t>
                      </a:r>
                      <a:endParaRPr lang="en-GB" sz="100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93504979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Exercise Crisis Management team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Participation in Scenario failure impact triage to make next step decision for action based on:</a:t>
                      </a:r>
                      <a:endParaRPr lang="en-GB" sz="10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Information available.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Failure Scenario impact.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Path to Resolution.  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US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Failure scenario invocation implications. </a:t>
                      </a: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  <a:endParaRPr lang="en-GB" sz="800" baseline="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 Participants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37423468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Review Team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Summarize and </a:t>
                      </a:r>
                      <a:r>
                        <a:rPr lang="en-GB" sz="1000" kern="1200" dirty="0" err="1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distill</a:t>
                      </a: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game day scenario results and observations into presentation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 err="1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Distill</a:t>
                      </a: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stories and tasks from game day results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Revise related resolution runbooks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r>
                        <a:rPr lang="en-GB" sz="1000" kern="120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Present findings</a:t>
                      </a:r>
                    </a:p>
                    <a:p>
                      <a:pPr marL="123825" lvl="0" indent="-123825" algn="l" defTabSz="457200" rtl="0" eaLnBrk="1" latinLnBrk="0" hangingPunct="1">
                        <a:lnSpc>
                          <a:spcPts val="14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/>
                      </a:pPr>
                      <a:endParaRPr lang="en-GB" sz="1000" kern="1200" dirty="0">
                        <a:solidFill>
                          <a:schemeClr val="tx2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Project Sponsors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Owner</a:t>
                      </a:r>
                    </a:p>
                    <a:p>
                      <a:pPr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800" baseline="0" dirty="0">
                          <a:solidFill>
                            <a:schemeClr val="tx2"/>
                          </a:solidFill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Participants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64182732"/>
                  </a:ext>
                </a:extLst>
              </a:tr>
            </a:tbl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088" y="875"/>
            <a:ext cx="8205304" cy="545741"/>
          </a:xfrm>
        </p:spPr>
        <p:txBody>
          <a:bodyPr/>
          <a:lstStyle/>
          <a:p>
            <a:r>
              <a:rPr lang="en-US" sz="2000" dirty="0"/>
              <a:t>Game Day Scenario – Roles &amp; Responsibilities continued</a:t>
            </a:r>
          </a:p>
        </p:txBody>
      </p:sp>
    </p:spTree>
    <p:extLst>
      <p:ext uri="{BB962C8B-B14F-4D97-AF65-F5344CB8AC3E}">
        <p14:creationId xmlns:p14="http://schemas.microsoft.com/office/powerpoint/2010/main" val="147551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/>
          <p:cNvCxnSpPr/>
          <p:nvPr/>
        </p:nvCxnSpPr>
        <p:spPr bwMode="auto">
          <a:xfrm>
            <a:off x="1399020" y="457297"/>
            <a:ext cx="658891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863925" y="4983542"/>
            <a:ext cx="365072" cy="103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75" dirty="0">
                <a:solidFill>
                  <a:srgbClr val="002060"/>
                </a:solidFill>
              </a:rPr>
              <a:t>-</a:t>
            </a:r>
            <a:fld id="{D1222771-F66E-46F7-8169-38FC267EEB29}" type="slidenum">
              <a:rPr lang="en-GB" sz="675">
                <a:solidFill>
                  <a:srgbClr val="002060"/>
                </a:solidFill>
              </a:rPr>
              <a:pPr algn="ctr"/>
              <a:t>10</a:t>
            </a:fld>
            <a:r>
              <a:rPr lang="en-GB" sz="675" dirty="0">
                <a:solidFill>
                  <a:srgbClr val="002060"/>
                </a:solidFill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20903" y="484443"/>
            <a:ext cx="656703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endParaRPr lang="en-GB" sz="675" b="1" dirty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20903" y="484443"/>
            <a:ext cx="656703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endParaRPr lang="en-GB" sz="675" b="1" dirty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038"/>
              </p:ext>
            </p:extLst>
          </p:nvPr>
        </p:nvGraphicFramePr>
        <p:xfrm>
          <a:off x="336788" y="553458"/>
          <a:ext cx="8350011" cy="89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011">
                  <a:extLst>
                    <a:ext uri="{9D8B030D-6E8A-4147-A177-3AD203B41FA5}">
                      <a16:colId xmlns:a16="http://schemas.microsoft.com/office/drawing/2014/main" val="979242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0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 Preparation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76833"/>
                  </a:ext>
                </a:extLst>
              </a:tr>
              <a:tr h="56377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to change the status of accounts to reflect enhanced support (15min response time)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All participants aware of roles- [TBD]Prep call held prior to first Game Day.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All service queues, tel numbers, chat rooms and communication methods shared prior to games to all parties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Agreed ServiceNow routing</a:t>
                      </a:r>
                      <a:endParaRPr lang="en-GB" sz="10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62672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Game Day Scenarios - Example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766277"/>
              </p:ext>
            </p:extLst>
          </p:nvPr>
        </p:nvGraphicFramePr>
        <p:xfrm>
          <a:off x="336789" y="1429817"/>
          <a:ext cx="835001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2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Detail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Proposed Actions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GB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1. Microservice  TBD </a:t>
                      </a:r>
                      <a:r>
                        <a:rPr lang="en-GB" sz="800" b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</a:t>
                      </a: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Platform</a:t>
                      </a:r>
                      <a:endParaRPr lang="en-GB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When? 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Hh:mm </a:t>
                      </a:r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[Day]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mm/dd/yyyy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Planned Scenario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CloudOps team raise issue directly with AWS</a:t>
                      </a:r>
                      <a:endParaRPr lang="en-GB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Use Case [i.e. Cloud Platform only Incident ]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Service team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notify AWS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–[Customer] </a:t>
                      </a: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to raise in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Portal at Sev 2 to be marked as a Test and incident bridge. AWS will provide</a:t>
                      </a: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templates in the future. 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 Team notify AWS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of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conference bridge-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[details]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attendees- </a:t>
                      </a:r>
                      <a:r>
                        <a:rPr lang="en-GB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[Customer] Cloud Platform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team raise Incident directly in AWS portal</a:t>
                      </a:r>
                      <a:endParaRPr lang="en-GB" sz="800" b="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Platform </a:t>
                      </a: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team communicates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directly with TAM</a:t>
                      </a: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to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advise of issue.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Platform </a:t>
                      </a: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team 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case as Critical as well adding the bridge so that the TAM and AWS TAM can join the call. </a:t>
                      </a:r>
                      <a:endParaRPr lang="en-GB" sz="800" b="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conducted,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Roll call taken to ensure right level of participation. Timing to be taken to determine AHT. </a:t>
                      </a:r>
                      <a:endParaRPr lang="en-GB" sz="800" b="0" dirty="0">
                        <a:solidFill>
                          <a:srgbClr val="FF0000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2. Microservice 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TBD </a:t>
                      </a: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</a:t>
                      </a:r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When? 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Hh:mm </a:t>
                      </a:r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[Day]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mm/dd/yyyy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Unplanned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Scenario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 SI Product Team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Sev 2 incident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an issue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to cloud service team.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Platform team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to create Servicenow incident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Ticket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raised as Severity 2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–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This</a:t>
                      </a: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will not test service Now. 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Service Team notify AWS and MIM and notify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of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MIM bridge. </a:t>
                      </a:r>
                    </a:p>
                    <a:p>
                      <a:pPr marL="171450" marR="0" lvl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in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Portal at Sev 2 to be marked as a Test and incident bridge. AWS will provide</a:t>
                      </a: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templates in the future. 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on the call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will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notify senior leaders and service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Managers. </a:t>
                      </a:r>
                    </a:p>
                    <a:p>
                      <a:pPr marL="171450" marR="0" lvl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attendees- </a:t>
                      </a:r>
                      <a:r>
                        <a:rPr lang="en-GB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Incident with Cloud Service Team</a:t>
                      </a:r>
                      <a:endParaRPr lang="en-GB" sz="800" b="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Platform 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raise a Severity 2 Ticket in service Now- Following the existing MIM process. This will not test Service Now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Cloud Service team (1) contact TAM as well adding the bridge so that the TAM can join the call.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conducted,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Roll call taken to ensure right level of participation. Timing to be taken to determine AHT</a:t>
                      </a:r>
                      <a:endParaRPr lang="en-GB" sz="800" b="0" dirty="0">
                        <a:solidFill>
                          <a:srgbClr val="FF0000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113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3.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Microservice 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TBD </a:t>
                      </a: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</a:t>
                      </a:r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When? 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Hh:mm </a:t>
                      </a:r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[Day]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mm/dd/yyyy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Unplanned Scenario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Microservice raise the ticket directly to AWS</a:t>
                      </a:r>
                      <a:endParaRPr lang="en-US" sz="800" b="0" kern="1200" baseline="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SI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Product team raise an issue directly to AWS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[TBD]to raise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in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Portal at Sev 2 to be marked as a Test and incident bridge included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team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notify AWS and MIM and notify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of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MIM bridge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MIM will need to contact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L1 and the service manager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lvl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attendees- </a:t>
                      </a:r>
                      <a:r>
                        <a:rPr lang="en-GB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800" b="0" baseline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 raise Incident directly in the AWS portal </a:t>
                      </a:r>
                      <a:endParaRPr lang="en-GB" sz="800" b="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SI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Product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c</a:t>
                      </a: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ommunicate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directly with TAM</a:t>
                      </a: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to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advise of issue.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Microservice contact [TBD] as well adding the bridge so that the TAM and AWS CST can join the call.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conducted,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Roll call taken to ensure right level of participation. Timing to be taken to determine AHT</a:t>
                      </a:r>
                      <a:endParaRPr lang="en-GB" sz="800" b="0" dirty="0">
                        <a:solidFill>
                          <a:srgbClr val="FF0000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6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/>
          <p:cNvCxnSpPr/>
          <p:nvPr/>
        </p:nvCxnSpPr>
        <p:spPr bwMode="auto">
          <a:xfrm>
            <a:off x="1399020" y="457297"/>
            <a:ext cx="6588914" cy="0"/>
          </a:xfrm>
          <a:prstGeom prst="line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863925" y="4983542"/>
            <a:ext cx="365072" cy="103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75" dirty="0">
                <a:solidFill>
                  <a:srgbClr val="002060"/>
                </a:solidFill>
              </a:rPr>
              <a:t>-</a:t>
            </a:r>
            <a:fld id="{D1222771-F66E-46F7-8169-38FC267EEB29}" type="slidenum">
              <a:rPr lang="en-GB" sz="675">
                <a:solidFill>
                  <a:srgbClr val="002060"/>
                </a:solidFill>
              </a:rPr>
              <a:pPr algn="ctr"/>
              <a:t>11</a:t>
            </a:fld>
            <a:r>
              <a:rPr lang="en-GB" sz="675" dirty="0">
                <a:solidFill>
                  <a:srgbClr val="002060"/>
                </a:solidFill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20903" y="484443"/>
            <a:ext cx="656703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endParaRPr lang="en-GB" sz="675" b="1" dirty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20903" y="484443"/>
            <a:ext cx="6567030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endParaRPr lang="en-GB" sz="675" b="1" dirty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89983"/>
              </p:ext>
            </p:extLst>
          </p:nvPr>
        </p:nvGraphicFramePr>
        <p:xfrm>
          <a:off x="426027" y="829866"/>
          <a:ext cx="8354291" cy="3430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411"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Game Day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Detail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bg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Proposed Actions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r>
                        <a:rPr lang="en-GB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4. Application  </a:t>
                      </a:r>
                      <a:r>
                        <a:rPr lang="en-GB" sz="800" b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</a:t>
                      </a: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impact on Microservice</a:t>
                      </a:r>
                      <a:endParaRPr lang="en-GB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When? 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Hh:mm </a:t>
                      </a:r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[Day]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mm/dd/yyyy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Unplanned </a:t>
                      </a:r>
                      <a:r>
                        <a:rPr lang="en-GB" sz="800" b="1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Scenario</a:t>
                      </a: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AWS notify service team of issue that will impact 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SI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Product</a:t>
                      </a:r>
                      <a:endParaRPr lang="en-GB" sz="800" b="0" kern="1200" dirty="0">
                        <a:solidFill>
                          <a:schemeClr val="tx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incident impacting AWS services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TAM will contact the L1 team directly- </a:t>
                      </a:r>
                      <a:endParaRPr lang="en-GB" sz="800" b="1" kern="1200" baseline="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1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Service manager will advise L1 to raise the ticket and advise as a test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L1 to raise ticket in the AWS portal-raised as a sev 2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L1 will be asked to update the call with the conference bridge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L1 to call [TBD] 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(to ensure correct service manager on the call)</a:t>
                      </a: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lvl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attendees- TBD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800" b="0" kern="1200" dirty="0">
                        <a:solidFill>
                          <a:schemeClr val="dk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TAM will contact the [TBD] with details of the incident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 team will make an assessment as to if this is impacting any major [Customer] services (</a:t>
                      </a:r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SI</a:t>
                      </a:r>
                      <a:r>
                        <a:rPr lang="en-GB" sz="800" b="0" kern="1200" baseline="0" dirty="0">
                          <a:solidFill>
                            <a:schemeClr val="dk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Product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)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  team establish impact and contact Cloud Platform team and instigate a MIM call.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 contact the Microservice managers and they join the call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Bridge added to incident so TAM can join the incident call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SI Product team  notify leadership of issue and issue comms to stakeholders. </a:t>
                      </a:r>
                      <a:endParaRPr lang="en-GB" sz="800" b="0" dirty="0"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conducted,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Roll call taken to ensure right level of participation. </a:t>
                      </a:r>
                      <a:endParaRPr lang="en-GB" sz="800" b="0" dirty="0">
                        <a:solidFill>
                          <a:srgbClr val="FF0000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5. Application  </a:t>
                      </a:r>
                      <a:r>
                        <a:rPr lang="en-US" sz="800" b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</a:t>
                      </a:r>
                      <a:r>
                        <a:rPr lang="en-US" sz="800" b="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Raise Security Incident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pPr marL="0" marR="0" indent="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When? 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Hh:mm </a:t>
                      </a:r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[Day]</a:t>
                      </a:r>
                      <a:r>
                        <a:rPr lang="en-GB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mm/dd/yyyy</a:t>
                      </a:r>
                      <a:endParaRPr lang="en-US" sz="800" b="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US" sz="800" b="1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Unplanned</a:t>
                      </a:r>
                      <a:r>
                        <a:rPr lang="en-US" sz="800" b="1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r>
                        <a:rPr lang="en-US" sz="800" b="1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Scenario </a:t>
                      </a: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raise a security incident with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trigger a security Incident email</a:t>
                      </a:r>
                    </a:p>
                    <a:p>
                      <a:pPr marL="171450" marR="0" indent="-171450" algn="l" defTabSz="9141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TAM will contact [TBD]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Those incidents identified as lower severity (Severity 3 to 5) will then go via the [TBD] team for investigation/resolution. Severity 1 and 2 security incidents would first go via the [TBD], then get triaged to the Major Incident Management (MIM) team.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MIM team open bridge and contact the cloud service</a:t>
                      </a:r>
                      <a:r>
                        <a:rPr lang="en-GB" sz="800" b="0" kern="1200" baseline="0" dirty="0">
                          <a:solidFill>
                            <a:schemeClr val="tx1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team. </a:t>
                      </a:r>
                      <a:endParaRPr lang="en-GB" sz="800" b="0" kern="1200" dirty="0">
                        <a:solidFill>
                          <a:schemeClr val="tx1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TAM/security team send security Incident email with  details of the security incident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AWS TAM will contact ES&amp;F for any security incidents/Cloud support team.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ES&amp;F/cloud support team will raise an incident in Service Now.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[TBD]team establish impact and instigate a MIM call. 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Bridge added to incident so TAM can join the incident call</a:t>
                      </a:r>
                    </a:p>
                    <a:p>
                      <a:pPr marL="171450" indent="-1714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800" b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Call conducted,</a:t>
                      </a:r>
                      <a:r>
                        <a:rPr lang="en-GB" sz="800" b="0" baseline="0" dirty="0">
                          <a:effectLst/>
                          <a:latin typeface="Amazon Ember" charset="0"/>
                          <a:ea typeface="Amazon Ember" charset="0"/>
                          <a:cs typeface="Amazon Ember" charset="0"/>
                        </a:rPr>
                        <a:t> Roll call taken to ensure right level of participation. </a:t>
                      </a:r>
                      <a:endParaRPr lang="en-GB" sz="800" b="0" dirty="0">
                        <a:solidFill>
                          <a:srgbClr val="FF0000"/>
                        </a:solidFill>
                        <a:effectLst/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255532"/>
                  </a:ext>
                </a:extLst>
              </a:tr>
            </a:tbl>
          </a:graphicData>
        </a:graphic>
      </p:graphicFrame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857251" y="-138499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 dirty="0"/>
          </a:p>
        </p:txBody>
      </p:sp>
      <p:sp>
        <p:nvSpPr>
          <p:cNvPr id="12" name="Title 2"/>
          <p:cNvSpPr txBox="1">
            <a:spLocks/>
          </p:cNvSpPr>
          <p:nvPr/>
        </p:nvSpPr>
        <p:spPr>
          <a:xfrm>
            <a:off x="167071" y="72024"/>
            <a:ext cx="8205304" cy="5457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rgbClr val="414042"/>
                </a:solidFill>
                <a:latin typeface="Amazon Ember Regular" charset="0"/>
                <a:ea typeface="+mj-ea"/>
                <a:cs typeface="Amazon Ember Regular" charset="0"/>
              </a:defRPr>
            </a:lvl1pPr>
          </a:lstStyle>
          <a:p>
            <a:r>
              <a:rPr lang="en-US" sz="2000" dirty="0"/>
              <a:t>Game Day Scenarios – Example continued</a:t>
            </a:r>
          </a:p>
        </p:txBody>
      </p:sp>
    </p:spTree>
    <p:extLst>
      <p:ext uri="{BB962C8B-B14F-4D97-AF65-F5344CB8AC3E}">
        <p14:creationId xmlns:p14="http://schemas.microsoft.com/office/powerpoint/2010/main" val="97200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431010"/>
              </p:ext>
            </p:extLst>
          </p:nvPr>
        </p:nvGraphicFramePr>
        <p:xfrm>
          <a:off x="844238" y="746520"/>
          <a:ext cx="7333406" cy="406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57">
                  <a:extLst>
                    <a:ext uri="{9D8B030D-6E8A-4147-A177-3AD203B41FA5}">
                      <a16:colId xmlns:a16="http://schemas.microsoft.com/office/drawing/2014/main" val="785868023"/>
                    </a:ext>
                  </a:extLst>
                </a:gridCol>
                <a:gridCol w="1360414">
                  <a:extLst>
                    <a:ext uri="{9D8B030D-6E8A-4147-A177-3AD203B41FA5}">
                      <a16:colId xmlns:a16="http://schemas.microsoft.com/office/drawing/2014/main" val="1879201688"/>
                    </a:ext>
                  </a:extLst>
                </a:gridCol>
                <a:gridCol w="5101935">
                  <a:extLst>
                    <a:ext uri="{9D8B030D-6E8A-4147-A177-3AD203B41FA5}">
                      <a16:colId xmlns:a16="http://schemas.microsoft.com/office/drawing/2014/main" val="76569598"/>
                    </a:ext>
                  </a:extLst>
                </a:gridCol>
              </a:tblGrid>
              <a:tr h="327705"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Area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Sub</a:t>
                      </a:r>
                      <a:r>
                        <a:rPr lang="en-GB" sz="1000" baseline="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 Area</a:t>
                      </a:r>
                      <a:endParaRPr lang="en-GB" sz="1000" dirty="0"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Observations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315689"/>
                  </a:ext>
                </a:extLst>
              </a:tr>
              <a:tr h="553546">
                <a:tc rowSpan="4"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Overall Flow of Triage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Organization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928795"/>
                  </a:ext>
                </a:extLst>
              </a:tr>
              <a:tr h="522849">
                <a:tc v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Structure &amp; Flow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51355"/>
                  </a:ext>
                </a:extLst>
              </a:tr>
              <a:tr h="475317">
                <a:tc v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Participation (attendees)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394049"/>
                  </a:ext>
                </a:extLst>
              </a:tr>
              <a:tr h="475317">
                <a:tc vMerge="1"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Average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handling Time </a:t>
                      </a:r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707637"/>
                  </a:ext>
                </a:extLst>
              </a:tr>
              <a:tr h="42541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Gap Analysis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Gaps Detailed</a:t>
                      </a:r>
                      <a:r>
                        <a:rPr lang="en-GB" sz="1000" baseline="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 </a:t>
                      </a:r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02537"/>
                  </a:ext>
                </a:extLst>
              </a:tr>
              <a:tr h="224455">
                <a:tc gridSpan="2"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2"/>
                          </a:solidFill>
                          <a:latin typeface="Amazon Ember" charset="0"/>
                          <a:ea typeface="Amazon Ember" charset="0"/>
                          <a:cs typeface="Amazon Ember" charset="0"/>
                        </a:rPr>
                        <a:t>Lessons Learned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  <a:p>
                      <a:endParaRPr lang="en-GB" sz="1000" dirty="0">
                        <a:solidFill>
                          <a:schemeClr val="tx2"/>
                        </a:solidFill>
                        <a:latin typeface="Amazon Ember" charset="0"/>
                        <a:ea typeface="Amazon Ember" charset="0"/>
                        <a:cs typeface="Amazon Ember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083552"/>
                  </a:ext>
                </a:extLst>
              </a:tr>
            </a:tbl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/>
          <a:p>
            <a:r>
              <a:rPr lang="en-US" sz="2000" dirty="0"/>
              <a:t>Game Day Observation Log</a:t>
            </a:r>
          </a:p>
        </p:txBody>
      </p:sp>
    </p:spTree>
    <p:extLst>
      <p:ext uri="{BB962C8B-B14F-4D97-AF65-F5344CB8AC3E}">
        <p14:creationId xmlns:p14="http://schemas.microsoft.com/office/powerpoint/2010/main" val="771831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Delivery Po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896" y="2173276"/>
            <a:ext cx="318624" cy="34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441" y="1405682"/>
            <a:ext cx="221048" cy="191494"/>
          </a:xfrm>
          <a:prstGeom prst="rect">
            <a:avLst/>
          </a:prstGeom>
        </p:spPr>
      </p:pic>
      <p:pic>
        <p:nvPicPr>
          <p:cNvPr id="9" name="Picture 31" descr="Delivery Po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63" y="868721"/>
            <a:ext cx="318624" cy="34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 bwMode="auto">
          <a:xfrm>
            <a:off x="-1119278" y="58229"/>
            <a:ext cx="685800" cy="6858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44034"/>
              </p:ext>
            </p:extLst>
          </p:nvPr>
        </p:nvGraphicFramePr>
        <p:xfrm>
          <a:off x="1516727" y="626732"/>
          <a:ext cx="5594840" cy="4106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484">
                  <a:extLst>
                    <a:ext uri="{9D8B030D-6E8A-4147-A177-3AD203B41FA5}">
                      <a16:colId xmlns:a16="http://schemas.microsoft.com/office/drawing/2014/main" val="187310617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1953660746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1451869871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2270660246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3866403094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1889029971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4038067996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2710528952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3424569124"/>
                    </a:ext>
                  </a:extLst>
                </a:gridCol>
                <a:gridCol w="559484">
                  <a:extLst>
                    <a:ext uri="{9D8B030D-6E8A-4147-A177-3AD203B41FA5}">
                      <a16:colId xmlns:a16="http://schemas.microsoft.com/office/drawing/2014/main" val="251840598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Thurs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Thurs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Fri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Fri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Mon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Mon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Tues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Tues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Wed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AM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Wed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mm/dd</a:t>
                      </a:r>
                    </a:p>
                    <a:p>
                      <a:pPr algn="ctr"/>
                      <a:r>
                        <a:rPr lang="en-GB" sz="800" dirty="0">
                          <a:latin typeface="Amazon Ember" charset="0"/>
                          <a:ea typeface="Amazon Ember" charset="0"/>
                          <a:cs typeface="Amazon Ember" charset="0"/>
                        </a:rPr>
                        <a:t>PM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106003"/>
                  </a:ext>
                </a:extLst>
              </a:tr>
              <a:tr h="3672471"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492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 bwMode="auto">
          <a:xfrm>
            <a:off x="1576802" y="1190427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Introduction of  Failure Scenario 1</a:t>
            </a:r>
          </a:p>
        </p:txBody>
      </p:sp>
      <p:sp>
        <p:nvSpPr>
          <p:cNvPr id="11" name="Diamond 10"/>
          <p:cNvSpPr/>
          <p:nvPr/>
        </p:nvSpPr>
        <p:spPr bwMode="auto">
          <a:xfrm>
            <a:off x="1962260" y="1480480"/>
            <a:ext cx="135000" cy="135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28968" y="1393314"/>
            <a:ext cx="529708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Stand Up of Crisis Team </a:t>
            </a:r>
          </a:p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Opening of Triage Bridge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1516723" y="1827449"/>
            <a:ext cx="675921" cy="39074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Failure Scenario 1 Triage/resolution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7560" y="2601061"/>
            <a:ext cx="4413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Failure Scenario  Decision Required </a:t>
            </a:r>
          </a:p>
        </p:txBody>
      </p:sp>
      <p:cxnSp>
        <p:nvCxnSpPr>
          <p:cNvPr id="18" name="Elbow Connector 17"/>
          <p:cNvCxnSpPr>
            <a:stCxn id="8" idx="2"/>
            <a:endCxn id="15" idx="0"/>
          </p:cNvCxnSpPr>
          <p:nvPr/>
        </p:nvCxnSpPr>
        <p:spPr bwMode="auto">
          <a:xfrm rot="16200000" flipH="1">
            <a:off x="1728127" y="1700891"/>
            <a:ext cx="246275" cy="683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1749357" y="2376930"/>
            <a:ext cx="185755" cy="213167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25" name="Straight Arrow Connector 24"/>
          <p:cNvCxnSpPr/>
          <p:nvPr/>
        </p:nvCxnSpPr>
        <p:spPr bwMode="auto">
          <a:xfrm flipH="1">
            <a:off x="1825355" y="2201132"/>
            <a:ext cx="10259" cy="188633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Rounded Rectangle 33"/>
          <p:cNvSpPr/>
          <p:nvPr/>
        </p:nvSpPr>
        <p:spPr bwMode="auto">
          <a:xfrm>
            <a:off x="2126636" y="2527578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Observations/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Review call</a:t>
            </a:r>
          </a:p>
        </p:txBody>
      </p:sp>
      <p:sp>
        <p:nvSpPr>
          <p:cNvPr id="52" name="Rounded Rectangle 51"/>
          <p:cNvSpPr/>
          <p:nvPr/>
        </p:nvSpPr>
        <p:spPr bwMode="auto">
          <a:xfrm>
            <a:off x="2680302" y="1190427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Introduction of  Failure Scenario 2</a:t>
            </a:r>
          </a:p>
        </p:txBody>
      </p:sp>
      <p:cxnSp>
        <p:nvCxnSpPr>
          <p:cNvPr id="54" name="Elbow Connector 53"/>
          <p:cNvCxnSpPr>
            <a:endCxn id="34" idx="1"/>
          </p:cNvCxnSpPr>
          <p:nvPr/>
        </p:nvCxnSpPr>
        <p:spPr bwMode="auto">
          <a:xfrm rot="16200000" flipH="1">
            <a:off x="1730746" y="2327061"/>
            <a:ext cx="495628" cy="296152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3" name="Picture 62" descr="Delivery Pos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40" y="2147645"/>
            <a:ext cx="268844" cy="2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ounded Rectangle 65"/>
          <p:cNvSpPr/>
          <p:nvPr/>
        </p:nvSpPr>
        <p:spPr bwMode="auto">
          <a:xfrm>
            <a:off x="1613853" y="3934685"/>
            <a:ext cx="261442" cy="159833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GB" sz="600" dirty="0">
              <a:solidFill>
                <a:schemeClr val="bg1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68" name="Rounded Rectangle 67"/>
          <p:cNvSpPr/>
          <p:nvPr/>
        </p:nvSpPr>
        <p:spPr bwMode="auto">
          <a:xfrm>
            <a:off x="1611503" y="4146752"/>
            <a:ext cx="261442" cy="15983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GB" sz="600" dirty="0">
              <a:solidFill>
                <a:schemeClr val="bg1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19044" y="3971028"/>
            <a:ext cx="182243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Facilitation  / Input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19044" y="4183194"/>
            <a:ext cx="182243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Crisis Support Teams-TBD, Cloud Platform, SI Product, AWS etc</a:t>
            </a:r>
          </a:p>
        </p:txBody>
      </p:sp>
      <p:sp>
        <p:nvSpPr>
          <p:cNvPr id="72" name="Rounded Rectangle 71"/>
          <p:cNvSpPr/>
          <p:nvPr/>
        </p:nvSpPr>
        <p:spPr bwMode="auto">
          <a:xfrm>
            <a:off x="3771951" y="1190427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Introduction of  Failure Scenario 3</a:t>
            </a:r>
          </a:p>
        </p:txBody>
      </p:sp>
      <p:sp>
        <p:nvSpPr>
          <p:cNvPr id="73" name="Rounded Rectangle 72"/>
          <p:cNvSpPr/>
          <p:nvPr/>
        </p:nvSpPr>
        <p:spPr bwMode="auto">
          <a:xfrm>
            <a:off x="4885901" y="1195552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Introduction of  Failure Scenario 4</a:t>
            </a:r>
          </a:p>
        </p:txBody>
      </p:sp>
      <p:sp>
        <p:nvSpPr>
          <p:cNvPr id="74" name="Rounded Rectangle 73"/>
          <p:cNvSpPr/>
          <p:nvPr/>
        </p:nvSpPr>
        <p:spPr bwMode="auto">
          <a:xfrm>
            <a:off x="5999850" y="1195552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Introduction of  Failure Scenario 5</a:t>
            </a:r>
          </a:p>
        </p:txBody>
      </p:sp>
      <p:sp>
        <p:nvSpPr>
          <p:cNvPr id="82" name="Rounded Rectangle 81"/>
          <p:cNvSpPr/>
          <p:nvPr/>
        </p:nvSpPr>
        <p:spPr bwMode="auto">
          <a:xfrm>
            <a:off x="2636535" y="1827449"/>
            <a:ext cx="654839" cy="39074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Failure Scenario 2 Triage/resolution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28545" y="2601061"/>
            <a:ext cx="4413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Failure Scenario  Decision Required </a:t>
            </a:r>
          </a:p>
        </p:txBody>
      </p:sp>
      <p:sp>
        <p:nvSpPr>
          <p:cNvPr id="84" name="Rounded Rectangle 83"/>
          <p:cNvSpPr/>
          <p:nvPr/>
        </p:nvSpPr>
        <p:spPr bwMode="auto">
          <a:xfrm>
            <a:off x="3277620" y="2527578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Observations/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Review call</a:t>
            </a:r>
          </a:p>
        </p:txBody>
      </p:sp>
      <p:cxnSp>
        <p:nvCxnSpPr>
          <p:cNvPr id="85" name="Elbow Connector 84"/>
          <p:cNvCxnSpPr>
            <a:endCxn id="84" idx="1"/>
          </p:cNvCxnSpPr>
          <p:nvPr/>
        </p:nvCxnSpPr>
        <p:spPr bwMode="auto">
          <a:xfrm rot="16200000" flipH="1">
            <a:off x="2881731" y="2327061"/>
            <a:ext cx="495628" cy="296152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6" name="Picture 85" descr="Delivery Pos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725" y="2147645"/>
            <a:ext cx="268844" cy="2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ounded Rectangle 86"/>
          <p:cNvSpPr/>
          <p:nvPr/>
        </p:nvSpPr>
        <p:spPr bwMode="auto">
          <a:xfrm>
            <a:off x="3711653" y="1826971"/>
            <a:ext cx="683165" cy="39074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Failure Scenario 3 Triage/resolution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93273" y="2600583"/>
            <a:ext cx="4413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Failure Scenario  Decision Required </a:t>
            </a:r>
          </a:p>
        </p:txBody>
      </p:sp>
      <p:sp>
        <p:nvSpPr>
          <p:cNvPr id="89" name="Rounded Rectangle 88"/>
          <p:cNvSpPr/>
          <p:nvPr/>
        </p:nvSpPr>
        <p:spPr bwMode="auto">
          <a:xfrm>
            <a:off x="4342348" y="2527100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Observations/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Review call</a:t>
            </a:r>
          </a:p>
        </p:txBody>
      </p:sp>
      <p:cxnSp>
        <p:nvCxnSpPr>
          <p:cNvPr id="90" name="Elbow Connector 89"/>
          <p:cNvCxnSpPr>
            <a:endCxn id="89" idx="1"/>
          </p:cNvCxnSpPr>
          <p:nvPr/>
        </p:nvCxnSpPr>
        <p:spPr bwMode="auto">
          <a:xfrm rot="16200000" flipH="1">
            <a:off x="3946458" y="2326583"/>
            <a:ext cx="495628" cy="296152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1" name="Picture 90" descr="Delivery Pos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453" y="2147167"/>
            <a:ext cx="268844" cy="2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Rounded Rectangle 91"/>
          <p:cNvSpPr/>
          <p:nvPr/>
        </p:nvSpPr>
        <p:spPr bwMode="auto">
          <a:xfrm>
            <a:off x="4777393" y="1826971"/>
            <a:ext cx="687111" cy="39074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Failure Scenario 4 Triage/resolution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99451" y="2600583"/>
            <a:ext cx="4413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Failure Scenario  Decision Required </a:t>
            </a:r>
          </a:p>
        </p:txBody>
      </p:sp>
      <p:sp>
        <p:nvSpPr>
          <p:cNvPr id="94" name="Rounded Rectangle 93"/>
          <p:cNvSpPr/>
          <p:nvPr/>
        </p:nvSpPr>
        <p:spPr bwMode="auto">
          <a:xfrm>
            <a:off x="5448527" y="2527100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Observations/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Review call</a:t>
            </a:r>
          </a:p>
        </p:txBody>
      </p:sp>
      <p:cxnSp>
        <p:nvCxnSpPr>
          <p:cNvPr id="95" name="Elbow Connector 94"/>
          <p:cNvCxnSpPr>
            <a:endCxn id="94" idx="1"/>
          </p:cNvCxnSpPr>
          <p:nvPr/>
        </p:nvCxnSpPr>
        <p:spPr bwMode="auto">
          <a:xfrm rot="16200000" flipH="1">
            <a:off x="5052637" y="2326583"/>
            <a:ext cx="495628" cy="296152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6" name="Picture 95" descr="Delivery Pos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631" y="2147167"/>
            <a:ext cx="268844" cy="2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ounded Rectangle 96"/>
          <p:cNvSpPr/>
          <p:nvPr/>
        </p:nvSpPr>
        <p:spPr bwMode="auto">
          <a:xfrm>
            <a:off x="5938787" y="1826971"/>
            <a:ext cx="684869" cy="39074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Failure Scenario 5 Triage/resolution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0406" y="2600583"/>
            <a:ext cx="44132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600" dirty="0">
                <a:latin typeface="Amazon Ember" charset="0"/>
                <a:ea typeface="Amazon Ember" charset="0"/>
                <a:cs typeface="Amazon Ember" charset="0"/>
              </a:rPr>
              <a:t>Failure Scenario  Decision Required </a:t>
            </a:r>
          </a:p>
        </p:txBody>
      </p:sp>
      <p:sp>
        <p:nvSpPr>
          <p:cNvPr id="99" name="Rounded Rectangle 98"/>
          <p:cNvSpPr/>
          <p:nvPr/>
        </p:nvSpPr>
        <p:spPr bwMode="auto">
          <a:xfrm>
            <a:off x="6569481" y="2527100"/>
            <a:ext cx="542086" cy="390747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Observations/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GB" sz="6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Review call</a:t>
            </a:r>
          </a:p>
        </p:txBody>
      </p:sp>
      <p:cxnSp>
        <p:nvCxnSpPr>
          <p:cNvPr id="100" name="Elbow Connector 99"/>
          <p:cNvCxnSpPr>
            <a:endCxn id="99" idx="1"/>
          </p:cNvCxnSpPr>
          <p:nvPr/>
        </p:nvCxnSpPr>
        <p:spPr bwMode="auto">
          <a:xfrm rot="16200000" flipH="1">
            <a:off x="6173592" y="2326583"/>
            <a:ext cx="495628" cy="296152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1" name="Picture 100" descr="Delivery Pos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586" y="2147167"/>
            <a:ext cx="268844" cy="2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2907444" y="2351006"/>
            <a:ext cx="185755" cy="21316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3" name="Picture 102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3968463" y="2326567"/>
            <a:ext cx="185755" cy="21316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4" name="Picture 103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5072932" y="2320868"/>
            <a:ext cx="185755" cy="21316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5" name="Picture 104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r="-2"/>
          <a:stretch/>
        </p:blipFill>
        <p:spPr>
          <a:xfrm>
            <a:off x="6213076" y="2319599"/>
            <a:ext cx="185755" cy="213167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06" name="Elbow Connector 105"/>
          <p:cNvCxnSpPr/>
          <p:nvPr/>
        </p:nvCxnSpPr>
        <p:spPr bwMode="auto">
          <a:xfrm rot="5400000">
            <a:off x="2825437" y="1696088"/>
            <a:ext cx="246275" cy="2590"/>
          </a:xfrm>
          <a:prstGeom prst="bentConnector3">
            <a:avLst>
              <a:gd name="adj1" fmla="val 16584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Elbow Connector 107"/>
          <p:cNvCxnSpPr/>
          <p:nvPr/>
        </p:nvCxnSpPr>
        <p:spPr bwMode="auto">
          <a:xfrm rot="5400000">
            <a:off x="5030533" y="1722526"/>
            <a:ext cx="246275" cy="259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Elbow Connector 108"/>
          <p:cNvCxnSpPr/>
          <p:nvPr/>
        </p:nvCxnSpPr>
        <p:spPr bwMode="auto">
          <a:xfrm rot="5400000">
            <a:off x="6154096" y="1716807"/>
            <a:ext cx="246275" cy="259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0" name="Diamond 109"/>
          <p:cNvSpPr/>
          <p:nvPr/>
        </p:nvSpPr>
        <p:spPr bwMode="auto">
          <a:xfrm>
            <a:off x="3071584" y="1485401"/>
            <a:ext cx="135000" cy="135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38291" y="1398235"/>
            <a:ext cx="529708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Stand Up of Crisis Team </a:t>
            </a:r>
          </a:p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Opening of Triage Bridge</a:t>
            </a:r>
          </a:p>
        </p:txBody>
      </p:sp>
      <p:sp>
        <p:nvSpPr>
          <p:cNvPr id="112" name="Diamond 111"/>
          <p:cNvSpPr/>
          <p:nvPr/>
        </p:nvSpPr>
        <p:spPr bwMode="auto">
          <a:xfrm>
            <a:off x="4155114" y="1506121"/>
            <a:ext cx="135000" cy="135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321821" y="1418955"/>
            <a:ext cx="529708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Stand Up of Crisis Team </a:t>
            </a:r>
          </a:p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Opening of Triage Bridge</a:t>
            </a:r>
          </a:p>
        </p:txBody>
      </p:sp>
      <p:sp>
        <p:nvSpPr>
          <p:cNvPr id="114" name="Diamond 113"/>
          <p:cNvSpPr/>
          <p:nvPr/>
        </p:nvSpPr>
        <p:spPr bwMode="auto">
          <a:xfrm>
            <a:off x="5272592" y="1470089"/>
            <a:ext cx="135000" cy="135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439300" y="1382923"/>
            <a:ext cx="529708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Stand Up of Crisis Team </a:t>
            </a:r>
          </a:p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Opening of Triage Bridge</a:t>
            </a:r>
          </a:p>
        </p:txBody>
      </p:sp>
      <p:sp>
        <p:nvSpPr>
          <p:cNvPr id="116" name="Diamond 115"/>
          <p:cNvSpPr/>
          <p:nvPr/>
        </p:nvSpPr>
        <p:spPr bwMode="auto">
          <a:xfrm>
            <a:off x="6398558" y="1468618"/>
            <a:ext cx="135000" cy="135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GB" sz="2700" dirty="0">
              <a:solidFill>
                <a:schemeClr val="bg2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565265" y="1381452"/>
            <a:ext cx="529708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Stand Up of Crisis Team </a:t>
            </a:r>
          </a:p>
          <a:p>
            <a:pPr>
              <a:spcBef>
                <a:spcPts val="225"/>
              </a:spcBef>
            </a:pPr>
            <a:r>
              <a:rPr lang="en-GB" sz="525" dirty="0">
                <a:latin typeface="Amazon Ember" charset="0"/>
                <a:ea typeface="Amazon Ember" charset="0"/>
                <a:cs typeface="Amazon Ember" charset="0"/>
              </a:rPr>
              <a:t>Opening of Triage Bridge</a:t>
            </a:r>
          </a:p>
        </p:txBody>
      </p:sp>
      <p:sp>
        <p:nvSpPr>
          <p:cNvPr id="64" name="Title 2"/>
          <p:cNvSpPr>
            <a:spLocks noGrp="1"/>
          </p:cNvSpPr>
          <p:nvPr>
            <p:ph type="title"/>
          </p:nvPr>
        </p:nvSpPr>
        <p:spPr>
          <a:xfrm>
            <a:off x="336789" y="114936"/>
            <a:ext cx="8205304" cy="545741"/>
          </a:xfrm>
        </p:spPr>
        <p:txBody>
          <a:bodyPr/>
          <a:lstStyle/>
          <a:p>
            <a:r>
              <a:rPr lang="en-US" sz="2000" dirty="0"/>
              <a:t>Game Day Exercises Timeline Template</a:t>
            </a:r>
          </a:p>
        </p:txBody>
      </p:sp>
      <p:cxnSp>
        <p:nvCxnSpPr>
          <p:cNvPr id="70" name="Elbow Connector 69"/>
          <p:cNvCxnSpPr/>
          <p:nvPr/>
        </p:nvCxnSpPr>
        <p:spPr bwMode="auto">
          <a:xfrm rot="5400000">
            <a:off x="3944412" y="1703015"/>
            <a:ext cx="246275" cy="2590"/>
          </a:xfrm>
          <a:prstGeom prst="bentConnector3">
            <a:avLst>
              <a:gd name="adj1" fmla="val 16584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68943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[Customer] Use Cases </a:t>
            </a:r>
            <a:br>
              <a:rPr lang="en-US" dirty="0"/>
            </a:br>
            <a:r>
              <a:rPr lang="en-US" dirty="0"/>
              <a:t>(Working Session)</a:t>
            </a:r>
          </a:p>
        </p:txBody>
      </p:sp>
    </p:spTree>
    <p:extLst>
      <p:ext uri="{BB962C8B-B14F-4D97-AF65-F5344CB8AC3E}">
        <p14:creationId xmlns:p14="http://schemas.microsoft.com/office/powerpoint/2010/main" val="1917595215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97C89A-FD0C-431E-81F6-90225B93768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DeckTemplate_AWS</Template>
  <TotalTime>866</TotalTime>
  <Words>2228</Words>
  <Application>Microsoft Macintosh PowerPoint</Application>
  <PresentationFormat>On-screen Show (16:9)</PresentationFormat>
  <Paragraphs>354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Amazon Ember</vt:lpstr>
      <vt:lpstr>Amazon Ember Light</vt:lpstr>
      <vt:lpstr>Amazon Ember Regular</vt:lpstr>
      <vt:lpstr>Arial</vt:lpstr>
      <vt:lpstr>Calibri</vt:lpstr>
      <vt:lpstr>Courier New</vt:lpstr>
      <vt:lpstr>Lucida Console</vt:lpstr>
      <vt:lpstr>Symbol</vt:lpstr>
      <vt:lpstr>Wingdings</vt:lpstr>
      <vt:lpstr>DeckTemplate-AWS</vt:lpstr>
      <vt:lpstr>PowerPoint Presentation</vt:lpstr>
      <vt:lpstr>Purpose </vt:lpstr>
      <vt:lpstr>Game Day Scenario Overview</vt:lpstr>
      <vt:lpstr>Background </vt:lpstr>
      <vt:lpstr>Objectives &amp; Scope</vt:lpstr>
      <vt:lpstr>Game Day Scenario Framework</vt:lpstr>
      <vt:lpstr>Game Day Scenario Framework</vt:lpstr>
      <vt:lpstr>Game Day Scenario – Roles &amp; Responsibilities</vt:lpstr>
      <vt:lpstr>Game Day Scenario – Roles &amp; Responsibilities continued</vt:lpstr>
      <vt:lpstr>Game Day Scenarios - Example</vt:lpstr>
      <vt:lpstr>PowerPoint Presentation</vt:lpstr>
      <vt:lpstr>Game Day Observation Log</vt:lpstr>
      <vt:lpstr>Game Day Exercises Timeline Template</vt:lpstr>
      <vt:lpstr>[Customer] Use Cases  (Working Session)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Khurram Nizami</cp:lastModifiedBy>
  <cp:revision>45</cp:revision>
  <dcterms:created xsi:type="dcterms:W3CDTF">2016-06-17T18:22:10Z</dcterms:created>
  <dcterms:modified xsi:type="dcterms:W3CDTF">2022-02-17T19:42:53Z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