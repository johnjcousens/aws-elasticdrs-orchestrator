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42"/>
  </p:notesMasterIdLst>
  <p:sldIdLst>
    <p:sldId id="1869" r:id="rId5"/>
    <p:sldId id="1871" r:id="rId6"/>
    <p:sldId id="1878" r:id="rId7"/>
    <p:sldId id="1874" r:id="rId8"/>
    <p:sldId id="1872" r:id="rId9"/>
    <p:sldId id="1873" r:id="rId10"/>
    <p:sldId id="1875" r:id="rId11"/>
    <p:sldId id="1879" r:id="rId12"/>
    <p:sldId id="1876" r:id="rId13"/>
    <p:sldId id="1877" r:id="rId14"/>
    <p:sldId id="1880" r:id="rId15"/>
    <p:sldId id="1881" r:id="rId16"/>
    <p:sldId id="1882" r:id="rId17"/>
    <p:sldId id="1883" r:id="rId18"/>
    <p:sldId id="1884" r:id="rId19"/>
    <p:sldId id="1885" r:id="rId20"/>
    <p:sldId id="1886" r:id="rId21"/>
    <p:sldId id="1887" r:id="rId22"/>
    <p:sldId id="1888" r:id="rId23"/>
    <p:sldId id="1889" r:id="rId24"/>
    <p:sldId id="1890" r:id="rId25"/>
    <p:sldId id="1891" r:id="rId26"/>
    <p:sldId id="1898" r:id="rId27"/>
    <p:sldId id="1897" r:id="rId28"/>
    <p:sldId id="1896" r:id="rId29"/>
    <p:sldId id="1895" r:id="rId30"/>
    <p:sldId id="1894" r:id="rId31"/>
    <p:sldId id="1893" r:id="rId32"/>
    <p:sldId id="1892" r:id="rId33"/>
    <p:sldId id="1903" r:id="rId34"/>
    <p:sldId id="1904" r:id="rId35"/>
    <p:sldId id="1899" r:id="rId36"/>
    <p:sldId id="1900" r:id="rId37"/>
    <p:sldId id="1902" r:id="rId38"/>
    <p:sldId id="1901" r:id="rId39"/>
    <p:sldId id="1905" r:id="rId40"/>
    <p:sldId id="1907" r:id="rId41"/>
  </p:sldIdLst>
  <p:sldSz cx="9144000" cy="5143500" type="screen16x9"/>
  <p:notesSz cx="7010400" cy="9296400"/>
  <p:custDataLst>
    <p:tags r:id="rId4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90E5B8F-18DA-D447-9C0E-DE2839E27E18}">
          <p14:sldIdLst>
            <p14:sldId id="1869"/>
            <p14:sldId id="1871"/>
          </p14:sldIdLst>
        </p14:section>
        <p14:section name="Basics" id="{A507516A-0D27-4DDB-9564-9C4E9501467F}">
          <p14:sldIdLst>
            <p14:sldId id="1878"/>
            <p14:sldId id="1874"/>
            <p14:sldId id="1872"/>
            <p14:sldId id="1873"/>
            <p14:sldId id="1875"/>
          </p14:sldIdLst>
        </p14:section>
        <p14:section name="Approach" id="{0DCA4A1B-E386-4413-8951-546B0499C833}">
          <p14:sldIdLst>
            <p14:sldId id="1879"/>
            <p14:sldId id="1876"/>
            <p14:sldId id="1877"/>
            <p14:sldId id="1880"/>
            <p14:sldId id="1881"/>
            <p14:sldId id="1882"/>
            <p14:sldId id="1883"/>
          </p14:sldIdLst>
        </p14:section>
        <p14:section name="Modules" id="{0B83045F-45E5-4A09-9C0F-BA5F7277CCA6}">
          <p14:sldIdLst>
            <p14:sldId id="1884"/>
            <p14:sldId id="1885"/>
            <p14:sldId id="1886"/>
            <p14:sldId id="1887"/>
            <p14:sldId id="1888"/>
          </p14:sldIdLst>
        </p14:section>
        <p14:section name="The Event" id="{D416E825-1190-4850-8817-7367BE5FE636}">
          <p14:sldIdLst>
            <p14:sldId id="1889"/>
            <p14:sldId id="1890"/>
            <p14:sldId id="1891"/>
            <p14:sldId id="1898"/>
            <p14:sldId id="1897"/>
            <p14:sldId id="1896"/>
            <p14:sldId id="1895"/>
            <p14:sldId id="1894"/>
            <p14:sldId id="1893"/>
            <p14:sldId id="1892"/>
          </p14:sldIdLst>
        </p14:section>
        <p14:section name="The location" id="{7706BB58-166F-4E92-9504-4118AA08983B}">
          <p14:sldIdLst>
            <p14:sldId id="1903"/>
            <p14:sldId id="1904"/>
          </p14:sldIdLst>
        </p14:section>
        <p14:section name="Feedback loops" id="{FF90EC96-EA13-46B8-B049-2F53B2922C74}">
          <p14:sldIdLst>
            <p14:sldId id="1899"/>
            <p14:sldId id="1900"/>
          </p14:sldIdLst>
        </p14:section>
        <p14:section name="When to repeat?" id="{9300DE00-49F0-4ECC-A826-3C7BEB725808}">
          <p14:sldIdLst>
            <p14:sldId id="1902"/>
            <p14:sldId id="1901"/>
          </p14:sldIdLst>
        </p14:section>
        <p14:section name="Lessons learned" id="{B54D1322-0FE8-437C-8953-6BB378E293C6}">
          <p14:sldIdLst>
            <p14:sldId id="1905"/>
            <p14:sldId id="1907"/>
          </p14:sldIdLst>
        </p14:section>
      </p14:sectionLst>
    </p:ext>
    <p:ext uri="{EFAFB233-063F-42B5-8137-9DF3F51BA10A}">
      <p15:sldGuideLst xmlns:p15="http://schemas.microsoft.com/office/powerpoint/2012/main">
        <p15:guide id="5" orient="horz" pos="2100" userDrawn="1">
          <p15:clr>
            <a:srgbClr val="A4A3A4"/>
          </p15:clr>
        </p15:guide>
        <p15:guide id="13" pos="2880" userDrawn="1">
          <p15:clr>
            <a:srgbClr val="A4A3A4"/>
          </p15:clr>
        </p15:guide>
        <p15:guide id="15" pos="4176" userDrawn="1">
          <p15:clr>
            <a:srgbClr val="A4A3A4"/>
          </p15:clr>
        </p15:guide>
        <p15:guide id="18" pos="15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  <p:cmAuthor id="2" name="Matt Walburn" initials="MW" lastIdx="1" clrIdx="2">
    <p:extLst>
      <p:ext uri="{19B8F6BF-5375-455C-9EA6-DF929625EA0E}">
        <p15:presenceInfo xmlns:p15="http://schemas.microsoft.com/office/powerpoint/2012/main" userId="Matt Walbur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007997"/>
    <a:srgbClr val="EA8B88"/>
    <a:srgbClr val="DDECF8"/>
    <a:srgbClr val="F9E8A3"/>
    <a:srgbClr val="A5B5D7"/>
    <a:srgbClr val="FAE90A"/>
    <a:srgbClr val="FF8AD8"/>
    <a:srgbClr val="EE9003"/>
    <a:srgbClr val="8E8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84" autoAdjust="0"/>
    <p:restoredTop sz="97182" autoAdjust="0"/>
  </p:normalViewPr>
  <p:slideViewPr>
    <p:cSldViewPr snapToGrid="0" showGuides="1">
      <p:cViewPr varScale="1">
        <p:scale>
          <a:sx n="226" d="100"/>
          <a:sy n="226" d="100"/>
        </p:scale>
        <p:origin x="224" y="192"/>
      </p:cViewPr>
      <p:guideLst>
        <p:guide orient="horz" pos="2100"/>
        <p:guide pos="2880"/>
        <p:guide pos="4176"/>
        <p:guide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gs" Target="tags/tag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0B25AC41-3BEC-9247-8322-91B80C013F2D}" type="datetimeFigureOut">
              <a:rPr lang="en-US" smtClean="0"/>
              <a:pPr/>
              <a:t>2/17/22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Systems: </a:t>
            </a:r>
          </a:p>
          <a:p>
            <a:r>
              <a:rPr lang="de-DE" dirty="0"/>
              <a:t>	Do </a:t>
            </a:r>
            <a:r>
              <a:rPr lang="de-DE" dirty="0" err="1"/>
              <a:t>failover</a:t>
            </a:r>
            <a:r>
              <a:rPr lang="de-DE" dirty="0"/>
              <a:t> </a:t>
            </a:r>
            <a:r>
              <a:rPr lang="de-DE" dirty="0" err="1"/>
              <a:t>mechanisms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  <a:r>
              <a:rPr lang="de-DE" baseline="0" dirty="0"/>
              <a:t> </a:t>
            </a:r>
          </a:p>
          <a:p>
            <a:r>
              <a:rPr lang="de-DE" baseline="0" dirty="0"/>
              <a:t>	Do </a:t>
            </a:r>
            <a:r>
              <a:rPr lang="de-DE" baseline="0" dirty="0" err="1"/>
              <a:t>notifications</a:t>
            </a:r>
            <a:r>
              <a:rPr lang="de-DE" baseline="0" dirty="0"/>
              <a:t> </a:t>
            </a:r>
            <a:r>
              <a:rPr lang="de-DE" baseline="0" dirty="0" err="1"/>
              <a:t>work</a:t>
            </a:r>
            <a:r>
              <a:rPr lang="de-DE" baseline="0" dirty="0"/>
              <a:t>? </a:t>
            </a:r>
          </a:p>
          <a:p>
            <a:r>
              <a:rPr lang="de-DE" baseline="0" dirty="0"/>
              <a:t>	Are </a:t>
            </a:r>
            <a:r>
              <a:rPr lang="de-DE" baseline="0" dirty="0" err="1"/>
              <a:t>thresholds</a:t>
            </a:r>
            <a:r>
              <a:rPr lang="de-DE" baseline="0" dirty="0"/>
              <a:t> </a:t>
            </a:r>
            <a:r>
              <a:rPr lang="de-DE" baseline="0" dirty="0" err="1"/>
              <a:t>well</a:t>
            </a:r>
            <a:r>
              <a:rPr lang="de-DE" baseline="0" dirty="0"/>
              <a:t> </a:t>
            </a:r>
            <a:r>
              <a:rPr lang="de-DE" baseline="0" dirty="0" err="1"/>
              <a:t>defined</a:t>
            </a:r>
            <a:r>
              <a:rPr lang="de-DE" baseline="0" dirty="0"/>
              <a:t>?</a:t>
            </a:r>
          </a:p>
          <a:p>
            <a:r>
              <a:rPr lang="de-DE" baseline="0" dirty="0" err="1"/>
              <a:t>Processes</a:t>
            </a:r>
            <a:r>
              <a:rPr lang="de-DE" baseline="0" dirty="0"/>
              <a:t>: </a:t>
            </a:r>
          </a:p>
          <a:p>
            <a:r>
              <a:rPr lang="de-DE" baseline="0" dirty="0"/>
              <a:t>	Do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runbooks</a:t>
            </a:r>
            <a:r>
              <a:rPr lang="de-DE" baseline="0" dirty="0"/>
              <a:t> </a:t>
            </a:r>
            <a:r>
              <a:rPr lang="de-DE" baseline="0" dirty="0" err="1"/>
              <a:t>work</a:t>
            </a:r>
            <a:r>
              <a:rPr lang="de-DE" baseline="0" dirty="0"/>
              <a:t>? </a:t>
            </a:r>
          </a:p>
          <a:p>
            <a:r>
              <a:rPr lang="de-DE" baseline="0" dirty="0"/>
              <a:t>	Do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team</a:t>
            </a:r>
            <a:r>
              <a:rPr lang="de-DE" baseline="0" dirty="0"/>
              <a:t> </a:t>
            </a:r>
            <a:r>
              <a:rPr lang="de-DE" baseline="0" dirty="0" err="1"/>
              <a:t>members</a:t>
            </a:r>
            <a:r>
              <a:rPr lang="de-DE" baseline="0" dirty="0"/>
              <a:t> </a:t>
            </a:r>
            <a:r>
              <a:rPr lang="de-DE" baseline="0" dirty="0" err="1"/>
              <a:t>know</a:t>
            </a:r>
            <a:r>
              <a:rPr lang="de-DE" baseline="0" dirty="0"/>
              <a:t> </a:t>
            </a:r>
            <a:r>
              <a:rPr lang="de-DE" baseline="0" dirty="0" err="1"/>
              <a:t>which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r>
              <a:rPr lang="de-DE" baseline="0" dirty="0"/>
              <a:t> </a:t>
            </a:r>
            <a:r>
              <a:rPr lang="de-DE" baseline="0" dirty="0" err="1"/>
              <a:t>apply</a:t>
            </a:r>
            <a:r>
              <a:rPr lang="de-DE" baseline="0" dirty="0"/>
              <a:t> in </a:t>
            </a:r>
            <a:r>
              <a:rPr lang="de-DE" baseline="0" dirty="0" err="1"/>
              <a:t>which</a:t>
            </a:r>
            <a:r>
              <a:rPr lang="de-DE" baseline="0" dirty="0"/>
              <a:t> </a:t>
            </a:r>
            <a:r>
              <a:rPr lang="de-DE" baseline="0" dirty="0" err="1"/>
              <a:t>situation</a:t>
            </a:r>
            <a:r>
              <a:rPr lang="de-DE" baseline="0" dirty="0"/>
              <a:t>?</a:t>
            </a:r>
          </a:p>
          <a:p>
            <a:r>
              <a:rPr lang="de-DE" baseline="0" dirty="0"/>
              <a:t>Team </a:t>
            </a:r>
            <a:r>
              <a:rPr lang="de-DE" baseline="0" dirty="0" err="1"/>
              <a:t>responses</a:t>
            </a:r>
            <a:r>
              <a:rPr lang="de-DE" baseline="0" dirty="0"/>
              <a:t>:</a:t>
            </a:r>
          </a:p>
          <a:p>
            <a:r>
              <a:rPr lang="de-DE" baseline="0" dirty="0"/>
              <a:t>	Can </a:t>
            </a:r>
            <a:r>
              <a:rPr lang="de-DE" baseline="0" dirty="0" err="1"/>
              <a:t>they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beginning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an </a:t>
            </a:r>
            <a:r>
              <a:rPr lang="de-DE" baseline="0" dirty="0" err="1"/>
              <a:t>event</a:t>
            </a:r>
            <a:r>
              <a:rPr lang="de-DE" baseline="0" dirty="0"/>
              <a:t>?</a:t>
            </a:r>
          </a:p>
          <a:p>
            <a:r>
              <a:rPr lang="de-DE" baseline="0" dirty="0"/>
              <a:t>	Can </a:t>
            </a:r>
            <a:r>
              <a:rPr lang="de-DE" baseline="0" dirty="0" err="1"/>
              <a:t>they</a:t>
            </a:r>
            <a:r>
              <a:rPr lang="de-DE" baseline="0" dirty="0"/>
              <a:t> </a:t>
            </a:r>
            <a:r>
              <a:rPr lang="de-DE" baseline="0" dirty="0" err="1"/>
              <a:t>map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event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correct</a:t>
            </a:r>
            <a:r>
              <a:rPr lang="de-DE" baseline="0" dirty="0"/>
              <a:t> </a:t>
            </a:r>
            <a:r>
              <a:rPr lang="de-DE" baseline="0" dirty="0" err="1"/>
              <a:t>response</a:t>
            </a:r>
            <a:r>
              <a:rPr lang="de-DE" baseline="0" dirty="0"/>
              <a:t> </a:t>
            </a:r>
            <a:r>
              <a:rPr lang="de-DE" baseline="0" dirty="0" err="1"/>
              <a:t>procedure</a:t>
            </a:r>
            <a:r>
              <a:rPr lang="de-DE" baseline="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563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Executed</a:t>
            </a:r>
            <a:r>
              <a:rPr lang="de-DE" dirty="0"/>
              <a:t> </a:t>
            </a:r>
            <a:r>
              <a:rPr lang="de-DE" dirty="0" err="1"/>
              <a:t>regularaly</a:t>
            </a:r>
            <a:r>
              <a:rPr lang="de-DE" dirty="0"/>
              <a:t>:</a:t>
            </a:r>
            <a:r>
              <a:rPr lang="de-DE" baseline="0" dirty="0"/>
              <a:t> </a:t>
            </a:r>
          </a:p>
          <a:p>
            <a:r>
              <a:rPr lang="de-DE" baseline="0" dirty="0"/>
              <a:t>	</a:t>
            </a:r>
            <a:r>
              <a:rPr lang="de-DE" baseline="0" dirty="0" err="1"/>
              <a:t>Build</a:t>
            </a:r>
            <a:r>
              <a:rPr lang="de-DE" baseline="0" dirty="0"/>
              <a:t> operational </a:t>
            </a:r>
            <a:r>
              <a:rPr lang="de-DE" baseline="0" dirty="0" err="1"/>
              <a:t>mucle</a:t>
            </a:r>
            <a:r>
              <a:rPr lang="de-DE" baseline="0" dirty="0"/>
              <a:t> </a:t>
            </a:r>
            <a:r>
              <a:rPr lang="de-DE" baseline="0" dirty="0" err="1"/>
              <a:t>memory</a:t>
            </a:r>
            <a:r>
              <a:rPr lang="de-DE" baseline="0" dirty="0"/>
              <a:t> in </a:t>
            </a:r>
            <a:r>
              <a:rPr lang="de-DE" baseline="0" dirty="0" err="1"/>
              <a:t>your</a:t>
            </a:r>
            <a:r>
              <a:rPr lang="de-DE" baseline="0" dirty="0"/>
              <a:t> </a:t>
            </a:r>
            <a:r>
              <a:rPr lang="de-DE" baseline="0" dirty="0" err="1"/>
              <a:t>team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 err="1"/>
              <a:t>Coverage</a:t>
            </a:r>
            <a:r>
              <a:rPr lang="de-DE" baseline="0" dirty="0"/>
              <a:t>:</a:t>
            </a:r>
          </a:p>
          <a:p>
            <a:r>
              <a:rPr lang="de-DE" baseline="0" dirty="0"/>
              <a:t>	Operational Excellence: Do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understand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your</a:t>
            </a:r>
            <a:r>
              <a:rPr lang="de-DE" baseline="0" dirty="0"/>
              <a:t> </a:t>
            </a:r>
            <a:r>
              <a:rPr lang="de-DE" baseline="0" dirty="0" err="1"/>
              <a:t>workload</a:t>
            </a:r>
            <a:r>
              <a:rPr lang="de-DE" baseline="0" dirty="0"/>
              <a:t>? (</a:t>
            </a:r>
            <a:r>
              <a:rPr lang="de-DE" baseline="0" dirty="0" err="1"/>
              <a:t>right</a:t>
            </a:r>
            <a:r>
              <a:rPr lang="de-DE" baseline="0" dirty="0"/>
              <a:t> </a:t>
            </a:r>
            <a:r>
              <a:rPr lang="de-DE" baseline="0" dirty="0" err="1"/>
              <a:t>metrics</a:t>
            </a:r>
            <a:r>
              <a:rPr lang="de-DE" baseline="0" dirty="0"/>
              <a:t>, </a:t>
            </a:r>
            <a:r>
              <a:rPr lang="de-DE" baseline="0" dirty="0" err="1"/>
              <a:t>notifications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right</a:t>
            </a:r>
            <a:r>
              <a:rPr lang="de-DE" baseline="0" dirty="0"/>
              <a:t> </a:t>
            </a:r>
            <a:r>
              <a:rPr lang="de-DE" baseline="0" dirty="0" err="1"/>
              <a:t>stakeholders</a:t>
            </a:r>
            <a:r>
              <a:rPr lang="de-DE" baseline="0" dirty="0"/>
              <a:t>, …)</a:t>
            </a:r>
          </a:p>
          <a:p>
            <a:r>
              <a:rPr lang="de-DE" baseline="0" dirty="0"/>
              <a:t>	Security:  </a:t>
            </a:r>
            <a:r>
              <a:rPr lang="de-DE" baseline="0" dirty="0" err="1"/>
              <a:t>How</a:t>
            </a:r>
            <a:r>
              <a:rPr lang="de-DE" baseline="0" dirty="0"/>
              <a:t> do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resond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an </a:t>
            </a:r>
            <a:r>
              <a:rPr lang="de-DE" baseline="0" dirty="0" err="1"/>
              <a:t>incident</a:t>
            </a:r>
            <a:r>
              <a:rPr lang="de-DE" baseline="0" dirty="0"/>
              <a:t>? (</a:t>
            </a:r>
            <a:r>
              <a:rPr lang="de-DE" baseline="0" dirty="0" err="1"/>
              <a:t>runbooks</a:t>
            </a:r>
            <a:r>
              <a:rPr lang="de-DE" baseline="0" dirty="0"/>
              <a:t>, </a:t>
            </a:r>
            <a:r>
              <a:rPr lang="de-DE" baseline="0" dirty="0" err="1"/>
              <a:t>forensics</a:t>
            </a:r>
            <a:r>
              <a:rPr lang="de-DE" baseline="0" dirty="0"/>
              <a:t>, </a:t>
            </a:r>
            <a:r>
              <a:rPr lang="de-DE" baseline="0" dirty="0" err="1"/>
              <a:t>isolation</a:t>
            </a:r>
            <a:r>
              <a:rPr lang="de-DE" baseline="0" dirty="0"/>
              <a:t>)</a:t>
            </a:r>
          </a:p>
          <a:p>
            <a:r>
              <a:rPr lang="de-DE" baseline="0" dirty="0"/>
              <a:t>	</a:t>
            </a:r>
            <a:r>
              <a:rPr lang="de-DE" baseline="0" dirty="0" err="1"/>
              <a:t>Reliability</a:t>
            </a:r>
            <a:r>
              <a:rPr lang="de-DE" baseline="0" dirty="0"/>
              <a:t>: Do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monitor</a:t>
            </a:r>
            <a:r>
              <a:rPr lang="de-DE" baseline="0" dirty="0"/>
              <a:t> </a:t>
            </a:r>
            <a:r>
              <a:rPr lang="de-DE" baseline="0" dirty="0" err="1"/>
              <a:t>service</a:t>
            </a:r>
            <a:r>
              <a:rPr lang="de-DE" baseline="0" dirty="0"/>
              <a:t> </a:t>
            </a:r>
            <a:r>
              <a:rPr lang="de-DE" baseline="0" dirty="0" err="1"/>
              <a:t>limits</a:t>
            </a:r>
            <a:r>
              <a:rPr lang="de-DE" baseline="0" dirty="0"/>
              <a:t>? </a:t>
            </a:r>
            <a:r>
              <a:rPr lang="de-DE" baseline="0" dirty="0" err="1"/>
              <a:t>Restore</a:t>
            </a:r>
            <a:r>
              <a:rPr lang="de-DE" baseline="0" dirty="0"/>
              <a:t> </a:t>
            </a:r>
            <a:r>
              <a:rPr lang="de-DE" baseline="0" dirty="0" err="1"/>
              <a:t>procedures</a:t>
            </a:r>
            <a:r>
              <a:rPr lang="de-DE" baseline="0" dirty="0"/>
              <a:t>?</a:t>
            </a:r>
          </a:p>
          <a:p>
            <a:r>
              <a:rPr lang="de-DE" baseline="0" dirty="0"/>
              <a:t>	Performance Efficiency: </a:t>
            </a:r>
            <a:r>
              <a:rPr lang="de-DE" baseline="0" dirty="0" err="1"/>
              <a:t>Understand</a:t>
            </a:r>
            <a:r>
              <a:rPr lang="de-DE" baseline="0" dirty="0"/>
              <a:t> </a:t>
            </a:r>
            <a:r>
              <a:rPr lang="de-DE" baseline="0" dirty="0" err="1"/>
              <a:t>tradeoffs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Cost</a:t>
            </a:r>
            <a:r>
              <a:rPr lang="de-DE" baseline="0" dirty="0"/>
              <a:t> </a:t>
            </a:r>
            <a:r>
              <a:rPr lang="de-DE" baseline="0" dirty="0" err="1"/>
              <a:t>Optimization</a:t>
            </a:r>
            <a:r>
              <a:rPr lang="de-DE" baseline="0" dirty="0"/>
              <a:t>: Test </a:t>
            </a:r>
            <a:r>
              <a:rPr lang="de-DE" baseline="0" dirty="0" err="1"/>
              <a:t>your</a:t>
            </a:r>
            <a:r>
              <a:rPr lang="de-DE" baseline="0" dirty="0"/>
              <a:t> </a:t>
            </a:r>
            <a:r>
              <a:rPr lang="de-DE" baseline="0" dirty="0" err="1"/>
              <a:t>budget</a:t>
            </a:r>
            <a:r>
              <a:rPr lang="de-DE" baseline="0" dirty="0"/>
              <a:t> </a:t>
            </a:r>
            <a:r>
              <a:rPr lang="de-DE" baseline="0" dirty="0" err="1"/>
              <a:t>procedures</a:t>
            </a:r>
            <a:r>
              <a:rPr lang="de-DE" baseline="0" dirty="0"/>
              <a:t>, </a:t>
            </a:r>
            <a:r>
              <a:rPr lang="de-DE" baseline="0" dirty="0" err="1"/>
              <a:t>aks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cost</a:t>
            </a:r>
            <a:r>
              <a:rPr lang="de-DE" baseline="0" dirty="0"/>
              <a:t> </a:t>
            </a:r>
            <a:r>
              <a:rPr lang="de-DE" baseline="0" dirty="0" err="1"/>
              <a:t>optimizations</a:t>
            </a:r>
            <a:r>
              <a:rPr lang="de-DE" baseline="0" dirty="0"/>
              <a:t>. </a:t>
            </a:r>
          </a:p>
          <a:p>
            <a:endParaRPr lang="de-DE" baseline="0" dirty="0"/>
          </a:p>
          <a:p>
            <a:endParaRPr lang="de-DE" baseline="0" dirty="0"/>
          </a:p>
          <a:p>
            <a:endParaRPr lang="de-D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072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REL-8:</a:t>
            </a:r>
          </a:p>
          <a:p>
            <a:r>
              <a:rPr lang="de-DE" baseline="0" dirty="0"/>
              <a:t>	</a:t>
            </a:r>
            <a:r>
              <a:rPr lang="de-DE" baseline="0" dirty="0" err="1"/>
              <a:t>Conduct</a:t>
            </a:r>
            <a:r>
              <a:rPr lang="de-DE" baseline="0" dirty="0"/>
              <a:t> </a:t>
            </a:r>
            <a:r>
              <a:rPr lang="de-DE" baseline="0" dirty="0" err="1"/>
              <a:t>GameDay</a:t>
            </a:r>
            <a:r>
              <a:rPr lang="de-DE" baseline="0" dirty="0"/>
              <a:t> </a:t>
            </a:r>
            <a:r>
              <a:rPr lang="de-DE" baseline="0" dirty="0" err="1"/>
              <a:t>Exercises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Inject</a:t>
            </a:r>
            <a:r>
              <a:rPr lang="de-DE" baseline="0" dirty="0"/>
              <a:t> </a:t>
            </a:r>
            <a:r>
              <a:rPr lang="de-DE" baseline="0" dirty="0" err="1"/>
              <a:t>Failure</a:t>
            </a:r>
            <a:endParaRPr lang="de-DE" baseline="0" dirty="0"/>
          </a:p>
          <a:p>
            <a:r>
              <a:rPr lang="de-DE" baseline="0" dirty="0"/>
              <a:t>OPS-5:</a:t>
            </a:r>
          </a:p>
          <a:p>
            <a:r>
              <a:rPr lang="de-DE" baseline="0" dirty="0"/>
              <a:t>	</a:t>
            </a:r>
            <a:r>
              <a:rPr lang="de-DE" baseline="0" dirty="0" err="1"/>
              <a:t>Ensure</a:t>
            </a:r>
            <a:r>
              <a:rPr lang="de-DE" baseline="0" dirty="0"/>
              <a:t> </a:t>
            </a:r>
            <a:r>
              <a:rPr lang="de-DE" baseline="0" dirty="0" err="1"/>
              <a:t>personnel</a:t>
            </a:r>
            <a:r>
              <a:rPr lang="de-DE" baseline="0" dirty="0"/>
              <a:t> </a:t>
            </a:r>
            <a:r>
              <a:rPr lang="de-DE" baseline="0" dirty="0" err="1"/>
              <a:t>capability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runbooks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perform</a:t>
            </a:r>
            <a:r>
              <a:rPr lang="de-DE" baseline="0" dirty="0"/>
              <a:t> </a:t>
            </a:r>
            <a:r>
              <a:rPr lang="de-DE" baseline="0" dirty="0" err="1"/>
              <a:t>procedures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playbooks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identify</a:t>
            </a:r>
            <a:r>
              <a:rPr lang="de-DE" baseline="0" dirty="0"/>
              <a:t> </a:t>
            </a:r>
            <a:r>
              <a:rPr lang="de-DE" baseline="0" dirty="0" err="1"/>
              <a:t>issues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Trust:</a:t>
            </a:r>
          </a:p>
          <a:p>
            <a:r>
              <a:rPr lang="de-DE" baseline="0" dirty="0"/>
              <a:t>	</a:t>
            </a:r>
            <a:r>
              <a:rPr lang="de-DE" baseline="0" dirty="0" err="1"/>
              <a:t>Validate</a:t>
            </a:r>
            <a:r>
              <a:rPr lang="de-DE" baseline="0" dirty="0"/>
              <a:t> </a:t>
            </a:r>
            <a:r>
              <a:rPr lang="de-DE" baseline="0" dirty="0" err="1"/>
              <a:t>your</a:t>
            </a:r>
            <a:r>
              <a:rPr lang="de-DE" baseline="0" dirty="0"/>
              <a:t> </a:t>
            </a:r>
            <a:r>
              <a:rPr lang="de-DE" baseline="0" dirty="0" err="1"/>
              <a:t>architecture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Validate</a:t>
            </a:r>
            <a:r>
              <a:rPr lang="de-DE" baseline="0" dirty="0"/>
              <a:t> </a:t>
            </a:r>
            <a:r>
              <a:rPr lang="de-DE" baseline="0" dirty="0" err="1"/>
              <a:t>your</a:t>
            </a:r>
            <a:r>
              <a:rPr lang="de-DE" baseline="0" dirty="0"/>
              <a:t> </a:t>
            </a:r>
            <a:r>
              <a:rPr lang="de-DE" baseline="0" dirty="0" err="1"/>
              <a:t>ops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Validate</a:t>
            </a:r>
            <a:r>
              <a:rPr lang="de-DE" baseline="0" dirty="0"/>
              <a:t> </a:t>
            </a:r>
            <a:r>
              <a:rPr lang="de-DE" baseline="0" dirty="0" err="1"/>
              <a:t>your</a:t>
            </a:r>
            <a:r>
              <a:rPr lang="de-DE" baseline="0" dirty="0"/>
              <a:t> </a:t>
            </a:r>
            <a:r>
              <a:rPr lang="de-DE" baseline="0" dirty="0" err="1"/>
              <a:t>training</a:t>
            </a:r>
            <a:r>
              <a:rPr lang="de-DE" baseline="0" dirty="0"/>
              <a:t> </a:t>
            </a:r>
          </a:p>
          <a:p>
            <a:r>
              <a:rPr lang="de-DE" baseline="0" dirty="0"/>
              <a:t>	</a:t>
            </a:r>
            <a:r>
              <a:rPr lang="de-DE" baseline="0" dirty="0" err="1"/>
              <a:t>Validate</a:t>
            </a:r>
            <a:r>
              <a:rPr lang="de-DE" baseline="0" dirty="0"/>
              <a:t> </a:t>
            </a:r>
            <a:r>
              <a:rPr lang="de-DE" baseline="0" dirty="0" err="1"/>
              <a:t>your</a:t>
            </a:r>
            <a:r>
              <a:rPr lang="de-DE" baseline="0" dirty="0"/>
              <a:t> </a:t>
            </a:r>
            <a:r>
              <a:rPr lang="de-DE" baseline="0" dirty="0" err="1"/>
              <a:t>security</a:t>
            </a:r>
            <a:endParaRPr lang="de-DE" baseline="0" dirty="0"/>
          </a:p>
          <a:p>
            <a:endParaRPr lang="de-DE" baseline="0" dirty="0"/>
          </a:p>
          <a:p>
            <a:endParaRPr lang="de-DE" baseline="0" dirty="0"/>
          </a:p>
          <a:p>
            <a:endParaRPr lang="de-D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88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Start </a:t>
            </a:r>
            <a:r>
              <a:rPr lang="de-DE" dirty="0" err="1"/>
              <a:t>early</a:t>
            </a:r>
            <a:r>
              <a:rPr lang="de-DE" dirty="0"/>
              <a:t>:</a:t>
            </a:r>
          </a:p>
          <a:p>
            <a:r>
              <a:rPr lang="de-DE" dirty="0"/>
              <a:t>	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outcome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exercise</a:t>
            </a:r>
            <a:r>
              <a:rPr lang="de-DE" dirty="0"/>
              <a:t> Design </a:t>
            </a:r>
          </a:p>
          <a:p>
            <a:endParaRPr lang="de-DE" dirty="0"/>
          </a:p>
          <a:p>
            <a:r>
              <a:rPr lang="de-DE" dirty="0"/>
              <a:t>Team</a:t>
            </a:r>
            <a:r>
              <a:rPr lang="de-DE" baseline="0" dirty="0"/>
              <a:t> </a:t>
            </a:r>
            <a:r>
              <a:rPr lang="de-DE" baseline="0" dirty="0" err="1"/>
              <a:t>small</a:t>
            </a:r>
            <a:r>
              <a:rPr lang="de-DE" baseline="0" dirty="0"/>
              <a:t>:</a:t>
            </a:r>
          </a:p>
          <a:p>
            <a:r>
              <a:rPr lang="de-DE" baseline="0" dirty="0"/>
              <a:t>	</a:t>
            </a:r>
            <a:r>
              <a:rPr lang="de-DE" baseline="0" dirty="0" err="1"/>
              <a:t>You</a:t>
            </a:r>
            <a:r>
              <a:rPr lang="de-DE" baseline="0" dirty="0"/>
              <a:t> will </a:t>
            </a:r>
            <a:r>
              <a:rPr lang="de-DE" baseline="0" dirty="0" err="1"/>
              <a:t>need</a:t>
            </a:r>
            <a:r>
              <a:rPr lang="de-DE" baseline="0" dirty="0"/>
              <a:t> </a:t>
            </a:r>
            <a:r>
              <a:rPr lang="de-DE" baseline="0" dirty="0" err="1"/>
              <a:t>many</a:t>
            </a:r>
            <a:r>
              <a:rPr lang="de-DE" baseline="0" dirty="0"/>
              <a:t> </a:t>
            </a:r>
            <a:r>
              <a:rPr lang="de-DE" baseline="0" dirty="0" err="1"/>
              <a:t>roles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do not </a:t>
            </a:r>
            <a:r>
              <a:rPr lang="de-DE" baseline="0" dirty="0" err="1"/>
              <a:t>want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spoil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participants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 err="1"/>
              <a:t>Efforts</a:t>
            </a:r>
            <a:r>
              <a:rPr lang="de-DE" baseline="0" dirty="0"/>
              <a:t>:</a:t>
            </a:r>
          </a:p>
          <a:p>
            <a:r>
              <a:rPr lang="de-DE" baseline="0" dirty="0"/>
              <a:t>	</a:t>
            </a:r>
            <a:r>
              <a:rPr lang="de-DE" baseline="0" dirty="0" err="1"/>
              <a:t>coordinator</a:t>
            </a:r>
            <a:r>
              <a:rPr lang="de-DE" baseline="0" dirty="0"/>
              <a:t> </a:t>
            </a:r>
            <a:r>
              <a:rPr lang="de-DE" baseline="0" dirty="0" err="1"/>
              <a:t>teams</a:t>
            </a:r>
            <a:r>
              <a:rPr lang="de-DE" baseline="0" dirty="0"/>
              <a:t>: 	10s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days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support</a:t>
            </a:r>
            <a:r>
              <a:rPr lang="de-DE" baseline="0" dirty="0"/>
              <a:t> </a:t>
            </a:r>
            <a:r>
              <a:rPr lang="de-DE" baseline="0" dirty="0" err="1"/>
              <a:t>people</a:t>
            </a:r>
            <a:r>
              <a:rPr lang="de-DE" baseline="0" dirty="0"/>
              <a:t>:	1-2 </a:t>
            </a:r>
            <a:r>
              <a:rPr lang="de-DE" baseline="0" dirty="0" err="1"/>
              <a:t>days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players</a:t>
            </a:r>
            <a:r>
              <a:rPr lang="de-DE" baseline="0" dirty="0"/>
              <a:t>:		1 </a:t>
            </a:r>
            <a:r>
              <a:rPr lang="de-DE" baseline="0" dirty="0" err="1"/>
              <a:t>day</a:t>
            </a:r>
            <a:endParaRPr lang="de-DE" baseline="0" dirty="0"/>
          </a:p>
          <a:p>
            <a:r>
              <a:rPr lang="de-DE" baseline="0" dirty="0"/>
              <a:t>	</a:t>
            </a:r>
            <a:r>
              <a:rPr lang="de-DE" baseline="0" dirty="0" err="1"/>
              <a:t>ProServe</a:t>
            </a:r>
            <a:r>
              <a:rPr lang="de-DE" baseline="0" dirty="0"/>
              <a:t>:		5-10 </a:t>
            </a:r>
            <a:r>
              <a:rPr lang="de-DE" baseline="0" dirty="0" err="1"/>
              <a:t>days</a:t>
            </a:r>
            <a:endParaRPr lang="de-DE" baseline="0" dirty="0"/>
          </a:p>
          <a:p>
            <a:r>
              <a:rPr lang="de-DE" baseline="0" dirty="0"/>
              <a:t>	Location		</a:t>
            </a:r>
            <a:r>
              <a:rPr lang="de-DE" baseline="0" dirty="0" err="1"/>
              <a:t>rent</a:t>
            </a:r>
            <a:r>
              <a:rPr lang="de-DE" baseline="0" dirty="0"/>
              <a:t>, </a:t>
            </a:r>
            <a:r>
              <a:rPr lang="de-DE" baseline="0" dirty="0" err="1"/>
              <a:t>catering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86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25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80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5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85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859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323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720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589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270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183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17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526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735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117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72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7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fit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schedule</a:t>
            </a:r>
            <a:r>
              <a:rPr lang="de-DE" baseline="0" dirty="0"/>
              <a:t> </a:t>
            </a:r>
            <a:r>
              <a:rPr lang="de-DE" baseline="0" dirty="0" err="1"/>
              <a:t>does</a:t>
            </a:r>
            <a:r>
              <a:rPr lang="de-DE" baseline="0" dirty="0"/>
              <a:t> not </a:t>
            </a:r>
            <a:r>
              <a:rPr lang="de-DE" baseline="0" dirty="0" err="1"/>
              <a:t>mean</a:t>
            </a:r>
            <a:r>
              <a:rPr lang="de-DE" baseline="0" dirty="0"/>
              <a:t> </a:t>
            </a:r>
            <a:r>
              <a:rPr lang="de-DE" baseline="0" dirty="0" err="1"/>
              <a:t>you</a:t>
            </a:r>
            <a:r>
              <a:rPr lang="de-DE" baseline="0" dirty="0"/>
              <a:t> </a:t>
            </a:r>
            <a:r>
              <a:rPr lang="de-DE" baseline="0" dirty="0" err="1"/>
              <a:t>cannot</a:t>
            </a:r>
            <a:r>
              <a:rPr lang="de-DE" baseline="0" dirty="0"/>
              <a:t> </a:t>
            </a:r>
            <a:r>
              <a:rPr lang="de-DE" baseline="0" dirty="0" err="1"/>
              <a:t>use</a:t>
            </a:r>
            <a:r>
              <a:rPr lang="de-DE" baseline="0" dirty="0"/>
              <a:t> </a:t>
            </a:r>
            <a:r>
              <a:rPr lang="de-DE" baseline="0" dirty="0" err="1"/>
              <a:t>it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baseline="0" dirty="0"/>
          </a:p>
          <a:p>
            <a:endParaRPr lang="de-D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70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4720" y="-113413"/>
            <a:ext cx="9559547" cy="540842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87899" y="3956022"/>
            <a:ext cx="3683000" cy="433387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87899" y="4337023"/>
            <a:ext cx="3683000" cy="369888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87899" y="1908228"/>
            <a:ext cx="7324988" cy="744537"/>
          </a:xfrm>
        </p:spPr>
        <p:txBody>
          <a:bodyPr>
            <a:noAutofit/>
          </a:bodyPr>
          <a:lstStyle>
            <a:lvl1pPr marL="0" indent="0" algn="l">
              <a:buNone/>
              <a:defRPr sz="40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899" y="2658575"/>
            <a:ext cx="6041582" cy="487849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37756-1482-0545-890B-8B0DCC5574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899" y="419252"/>
            <a:ext cx="2610171" cy="62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1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742950" indent="-285750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143000" indent="-228600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845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336613" y="1010408"/>
            <a:ext cx="8207742" cy="3641926"/>
          </a:xfrm>
          <a:noFill/>
        </p:spPr>
        <p:txBody>
          <a:bodyPr/>
          <a:lstStyle>
            <a:lvl1pPr marL="0" indent="0">
              <a:buNone/>
              <a:defRPr lang="en-US" sz="1100">
                <a:solidFill>
                  <a:srgbClr val="3366FF"/>
                </a:solidFill>
                <a:effectLst/>
                <a:latin typeface="Lucida Console" panose="020B0609040504020204" pitchFamily="49" charset="0"/>
              </a:defRPr>
            </a:lvl1pPr>
            <a:lvl2pPr marL="457200" indent="0">
              <a:buNone/>
              <a:defRPr>
                <a:latin typeface="Lucida Console" panose="020B0609040504020204" pitchFamily="49" charset="0"/>
              </a:defRPr>
            </a:lvl2pPr>
            <a:lvl3pPr marL="914400" indent="0">
              <a:buNone/>
              <a:defRPr>
                <a:latin typeface="Lucida Console" panose="020B0609040504020204" pitchFamily="49" charset="0"/>
              </a:defRPr>
            </a:lvl3pPr>
            <a:lvl4pPr marL="1371600" indent="0">
              <a:buNone/>
              <a:defRPr>
                <a:latin typeface="Lucida Console" panose="020B0609040504020204" pitchFamily="49" charset="0"/>
              </a:defRPr>
            </a:lvl4pPr>
            <a:lvl5pPr marL="1828800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96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394" y="1969202"/>
            <a:ext cx="7772400" cy="930105"/>
          </a:xfrm>
        </p:spPr>
        <p:txBody>
          <a:bodyPr anchor="ctr">
            <a:noAutofit/>
          </a:bodyPr>
          <a:lstStyle>
            <a:lvl1pPr algn="l">
              <a:defRPr sz="4000" b="1" cap="none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575" y="1012507"/>
            <a:ext cx="4038600" cy="3472073"/>
          </a:xfrm>
        </p:spPr>
        <p:txBody>
          <a:bodyPr/>
          <a:lstStyle>
            <a:lvl1pPr>
              <a:defRPr sz="2200">
                <a:solidFill>
                  <a:srgbClr val="414042"/>
                </a:solidFill>
              </a:defRPr>
            </a:lvl1pPr>
            <a:lvl2pPr>
              <a:defRPr sz="2000">
                <a:solidFill>
                  <a:srgbClr val="414042"/>
                </a:solidFill>
              </a:defRPr>
            </a:lvl2pPr>
            <a:lvl3pPr>
              <a:defRPr sz="1600">
                <a:solidFill>
                  <a:srgbClr val="414042"/>
                </a:solidFill>
              </a:defRPr>
            </a:lvl3pPr>
            <a:lvl4pPr>
              <a:defRPr sz="1600">
                <a:solidFill>
                  <a:srgbClr val="414042"/>
                </a:solidFill>
              </a:defRPr>
            </a:lvl4pPr>
            <a:lvl5pPr>
              <a:defRPr sz="1600">
                <a:solidFill>
                  <a:srgbClr val="41404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4575" y="1012507"/>
            <a:ext cx="4038600" cy="3472073"/>
          </a:xfrm>
        </p:spPr>
        <p:txBody>
          <a:bodyPr/>
          <a:lstStyle>
            <a:lvl1pPr>
              <a:defRPr sz="2200">
                <a:solidFill>
                  <a:srgbClr val="414042"/>
                </a:solidFill>
              </a:defRPr>
            </a:lvl1pPr>
            <a:lvl2pPr>
              <a:defRPr sz="2000">
                <a:solidFill>
                  <a:srgbClr val="414042"/>
                </a:solidFill>
              </a:defRPr>
            </a:lvl2pPr>
            <a:lvl3pPr>
              <a:defRPr sz="1600">
                <a:solidFill>
                  <a:srgbClr val="414042"/>
                </a:solidFill>
              </a:defRPr>
            </a:lvl3pPr>
            <a:lvl4pPr>
              <a:defRPr sz="1600">
                <a:solidFill>
                  <a:srgbClr val="414042"/>
                </a:solidFill>
              </a:defRPr>
            </a:lvl4pPr>
            <a:lvl5pPr>
              <a:defRPr sz="1600">
                <a:solidFill>
                  <a:srgbClr val="41404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7743" y="1008053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7743" y="1487874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25569" y="1008053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4525569" y="1487874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7518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3231001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6124485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639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742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2496747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4634585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6990345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7742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496747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634585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990345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0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39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3479314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6624980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339939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3479308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24974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339939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3479308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624974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39939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3479308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6624974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09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6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024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0472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7607" y="-7089"/>
            <a:ext cx="9279213" cy="524982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1647" y="1674428"/>
            <a:ext cx="6069541" cy="1250668"/>
          </a:xfrm>
        </p:spPr>
        <p:txBody>
          <a:bodyPr anchor="ctr" anchorCtr="0">
            <a:no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2791" y="4706911"/>
            <a:ext cx="440655" cy="2643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475260" y="930149"/>
            <a:ext cx="6069541" cy="1250668"/>
          </a:xfrm>
        </p:spPr>
        <p:txBody>
          <a:bodyPr anchor="ctr" anchorCtr="0">
            <a:noAutofit/>
          </a:bodyPr>
          <a:lstStyle>
            <a:lvl1pPr algn="r"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1647" y="1674428"/>
            <a:ext cx="6069541" cy="1250668"/>
          </a:xfrm>
        </p:spPr>
        <p:txBody>
          <a:bodyPr anchor="ctr" anchorCtr="0">
            <a:no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0702" y="1550831"/>
            <a:ext cx="7772400" cy="1021556"/>
          </a:xfrm>
        </p:spPr>
        <p:txBody>
          <a:bodyPr anchor="ctr">
            <a:noAutofit/>
          </a:bodyPr>
          <a:lstStyle>
            <a:lvl1pPr algn="l">
              <a:defRPr sz="4000" b="1" cap="none"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87899" y="2572387"/>
            <a:ext cx="3683000" cy="433387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8572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592" y="1009332"/>
            <a:ext cx="8205304" cy="3553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bg1"/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A6CE7-EA79-A84B-955B-AAFD51914EF9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1831" y="4840274"/>
            <a:ext cx="1040524" cy="24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92" r:id="rId3"/>
    <p:sldLayoutId id="2147483677" r:id="rId4"/>
    <p:sldLayoutId id="2147483678" r:id="rId5"/>
    <p:sldLayoutId id="2147483679" r:id="rId6"/>
    <p:sldLayoutId id="2147483689" r:id="rId7"/>
    <p:sldLayoutId id="2147483690" r:id="rId8"/>
    <p:sldLayoutId id="2147483691" r:id="rId9"/>
    <p:sldLayoutId id="2147483680" r:id="rId10"/>
    <p:sldLayoutId id="2147483681" r:id="rId11"/>
    <p:sldLayoutId id="2147483682" r:id="rId12"/>
    <p:sldLayoutId id="2147483693" r:id="rId13"/>
    <p:sldLayoutId id="2147483694" r:id="rId14"/>
    <p:sldLayoutId id="2147483695" r:id="rId15"/>
    <p:sldLayoutId id="214748368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>
          <a:solidFill>
            <a:srgbClr val="0E2735"/>
          </a:solidFill>
          <a:latin typeface="Amazon Ember Regular" charset="0"/>
          <a:ea typeface="+mj-ea"/>
          <a:cs typeface="Amazon Ember Regular" charset="0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Tx/>
        <a:buNone/>
        <a:defRPr sz="24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How to build your custom GameDay exercise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A59C6C-106E-E541-A8D6-D21066C5EE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05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own</a:t>
            </a:r>
            <a:r>
              <a:rPr lang="de-DE" dirty="0"/>
              <a:t> </a:t>
            </a:r>
            <a:r>
              <a:rPr lang="de-DE" dirty="0" err="1"/>
              <a:t>flywheel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Introduction into the Shared Responsibility Model</a:t>
            </a:r>
          </a:p>
          <a:p>
            <a:pPr marL="342900" indent="-342900">
              <a:buFontTx/>
              <a:buChar char="-"/>
            </a:pPr>
            <a:r>
              <a:rPr lang="en-US" dirty="0"/>
              <a:t>Product Based Operating Model</a:t>
            </a:r>
          </a:p>
          <a:p>
            <a:pPr marL="342900" indent="-342900">
              <a:buFontTx/>
              <a:buChar char="-"/>
            </a:pPr>
            <a:r>
              <a:rPr lang="en-US" dirty="0"/>
              <a:t>Discussion: Shared Responsibility Platform / Product</a:t>
            </a:r>
          </a:p>
          <a:p>
            <a:pPr marL="342900" indent="-342900">
              <a:buFontTx/>
              <a:buChar char="-"/>
            </a:pPr>
            <a:r>
              <a:rPr lang="en-US" dirty="0"/>
              <a:t>Discussion: Operating the Landing Zone</a:t>
            </a:r>
          </a:p>
          <a:p>
            <a:pPr marL="342900" indent="-342900">
              <a:buFontTx/>
              <a:buChar char="-"/>
            </a:pPr>
            <a:r>
              <a:rPr lang="en-US" dirty="0"/>
              <a:t>AWS Services to support Operations</a:t>
            </a:r>
          </a:p>
        </p:txBody>
      </p:sp>
    </p:spTree>
    <p:extLst>
      <p:ext uri="{BB962C8B-B14F-4D97-AF65-F5344CB8AC3E}">
        <p14:creationId xmlns:p14="http://schemas.microsoft.com/office/powerpoint/2010/main" val="27303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2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 err="1"/>
              <a:t>Distinction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AWS </a:t>
            </a:r>
            <a:r>
              <a:rPr lang="de-DE" b="1" dirty="0" err="1"/>
              <a:t>provided</a:t>
            </a:r>
            <a:r>
              <a:rPr lang="de-DE" b="1" dirty="0"/>
              <a:t> </a:t>
            </a:r>
            <a:r>
              <a:rPr lang="de-DE" b="1" dirty="0" err="1"/>
              <a:t>GameDays</a:t>
            </a:r>
            <a:r>
              <a:rPr lang="de-DE" b="1" dirty="0"/>
              <a:t> (</a:t>
            </a:r>
            <a:r>
              <a:rPr lang="de-DE" b="1" dirty="0" err="1"/>
              <a:t>re:Invent</a:t>
            </a:r>
            <a:r>
              <a:rPr lang="de-DE" b="1" dirty="0"/>
              <a:t>, </a:t>
            </a:r>
            <a:r>
              <a:rPr lang="de-DE" b="1" dirty="0" err="1"/>
              <a:t>re:Inforce</a:t>
            </a:r>
            <a:r>
              <a:rPr lang="de-DE" b="1" dirty="0"/>
              <a:t>, …)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Prescriptive</a:t>
            </a:r>
            <a:r>
              <a:rPr lang="de-DE" dirty="0"/>
              <a:t> Scenario</a:t>
            </a:r>
          </a:p>
          <a:p>
            <a:pPr marL="342900" indent="-342900">
              <a:buFontTx/>
              <a:buChar char="-"/>
            </a:pPr>
            <a:r>
              <a:rPr lang="de-DE" dirty="0"/>
              <a:t>Infrastructure </a:t>
            </a:r>
            <a:r>
              <a:rPr lang="de-DE" dirty="0" err="1"/>
              <a:t>provided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AWS</a:t>
            </a:r>
          </a:p>
          <a:p>
            <a:pPr marL="342900" indent="-342900">
              <a:buFontTx/>
              <a:buChar char="-"/>
            </a:pPr>
            <a:r>
              <a:rPr lang="de-DE" dirty="0"/>
              <a:t>Primary </a:t>
            </a: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AWS </a:t>
            </a:r>
            <a:r>
              <a:rPr lang="de-DE" dirty="0" err="1"/>
              <a:t>platform</a:t>
            </a:r>
            <a:endParaRPr lang="de-DE" dirty="0"/>
          </a:p>
          <a:p>
            <a:pPr marL="342900" indent="-342900">
              <a:buFontTx/>
              <a:buChar char="-"/>
            </a:pPr>
            <a:endParaRPr lang="de-DE" sz="900" dirty="0"/>
          </a:p>
          <a:p>
            <a:r>
              <a:rPr lang="de-DE" b="1" dirty="0"/>
              <a:t>Custom </a:t>
            </a:r>
            <a:r>
              <a:rPr lang="de-DE" b="1" dirty="0" err="1"/>
              <a:t>GameDay</a:t>
            </a:r>
            <a:r>
              <a:rPr lang="de-DE" b="1" dirty="0"/>
              <a:t> </a:t>
            </a:r>
            <a:r>
              <a:rPr lang="de-DE" b="1" dirty="0" err="1"/>
              <a:t>Exercise</a:t>
            </a:r>
            <a:r>
              <a:rPr lang="de-DE" b="1" dirty="0"/>
              <a:t> (</a:t>
            </a:r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this</a:t>
            </a:r>
            <a:r>
              <a:rPr lang="de-DE" b="1" dirty="0"/>
              <a:t> </a:t>
            </a:r>
            <a:r>
              <a:rPr lang="de-DE" b="1" dirty="0" err="1"/>
              <a:t>talk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about</a:t>
            </a:r>
            <a:r>
              <a:rPr lang="de-DE" b="1" dirty="0"/>
              <a:t>)</a:t>
            </a:r>
          </a:p>
          <a:p>
            <a:pPr marL="342900" indent="-342900">
              <a:buFontTx/>
              <a:buChar char="-"/>
            </a:pPr>
            <a:r>
              <a:rPr lang="de-DE" dirty="0"/>
              <a:t>Custom Scenario</a:t>
            </a:r>
          </a:p>
          <a:p>
            <a:pPr marL="342900" indent="-342900">
              <a:buFontTx/>
              <a:buChar char="-"/>
            </a:pPr>
            <a:r>
              <a:rPr lang="de-DE" dirty="0"/>
              <a:t>Runs on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endParaRPr lang="de-DE" dirty="0"/>
          </a:p>
          <a:p>
            <a:pPr marL="342900" indent="-342900">
              <a:buFontTx/>
              <a:buChar char="-"/>
            </a:pPr>
            <a:r>
              <a:rPr lang="de-DE" dirty="0"/>
              <a:t>Primary </a:t>
            </a: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workload</a:t>
            </a:r>
            <a:endParaRPr lang="de-DE" dirty="0"/>
          </a:p>
          <a:p>
            <a:pPr marL="342900" indent="-3429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0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The GameDay concept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Simulate a </a:t>
            </a:r>
            <a:r>
              <a:rPr lang="en-US" b="1" dirty="0"/>
              <a:t>failure</a:t>
            </a:r>
            <a:r>
              <a:rPr lang="en-US" dirty="0"/>
              <a:t> or </a:t>
            </a:r>
            <a:r>
              <a:rPr lang="en-US" b="1" dirty="0"/>
              <a:t>event</a:t>
            </a:r>
            <a:r>
              <a:rPr lang="en-US" dirty="0"/>
              <a:t> to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Processes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Team responses</a:t>
            </a:r>
          </a:p>
          <a:p>
            <a:endParaRPr lang="de-DE" dirty="0"/>
          </a:p>
          <a:p>
            <a:r>
              <a:rPr lang="en-US" dirty="0"/>
              <a:t>Approach: Actually perform the </a:t>
            </a:r>
            <a:r>
              <a:rPr lang="en-US" b="1" dirty="0"/>
              <a:t>actions</a:t>
            </a:r>
            <a:r>
              <a:rPr lang="en-US" dirty="0"/>
              <a:t> the team </a:t>
            </a:r>
            <a:r>
              <a:rPr lang="en-US" b="1" dirty="0"/>
              <a:t>would perform </a:t>
            </a:r>
            <a:r>
              <a:rPr lang="en-US" dirty="0"/>
              <a:t>if an exceptional event happened.</a:t>
            </a:r>
          </a:p>
        </p:txBody>
      </p:sp>
    </p:spTree>
    <p:extLst>
      <p:ext uri="{BB962C8B-B14F-4D97-AF65-F5344CB8AC3E}">
        <p14:creationId xmlns:p14="http://schemas.microsoft.com/office/powerpoint/2010/main" val="332394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The GameDay concept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Frequency: Execute them regularly</a:t>
            </a:r>
          </a:p>
          <a:p>
            <a:endParaRPr lang="en-US" dirty="0"/>
          </a:p>
          <a:p>
            <a:r>
              <a:rPr lang="en-US" dirty="0"/>
              <a:t>Coverage: All areas of the Well-Architected Framework</a:t>
            </a:r>
          </a:p>
          <a:p>
            <a:pPr marL="342900" indent="-342900">
              <a:buFontTx/>
              <a:buChar char="-"/>
            </a:pPr>
            <a:r>
              <a:rPr lang="de-DE" dirty="0"/>
              <a:t>Operational Excellence</a:t>
            </a:r>
          </a:p>
          <a:p>
            <a:pPr marL="342900" indent="-342900">
              <a:buFontTx/>
              <a:buChar char="-"/>
            </a:pPr>
            <a:r>
              <a:rPr lang="de-DE" dirty="0"/>
              <a:t>Security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Reliability</a:t>
            </a:r>
            <a:endParaRPr lang="de-DE" dirty="0"/>
          </a:p>
          <a:p>
            <a:pPr marL="342900" indent="-342900">
              <a:buFontTx/>
              <a:buChar char="-"/>
            </a:pPr>
            <a:r>
              <a:rPr lang="de-DE" dirty="0"/>
              <a:t>Performance Efficiency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endParaRPr lang="de-DE" dirty="0"/>
          </a:p>
          <a:p>
            <a:pPr marL="342900" indent="-3429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03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Reasons to run a GameDay 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part of AWS Well-Architected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Reliability</a:t>
            </a:r>
            <a:r>
              <a:rPr lang="de-DE" dirty="0"/>
              <a:t> </a:t>
            </a:r>
            <a:r>
              <a:rPr lang="de-DE" dirty="0" err="1"/>
              <a:t>Pillar</a:t>
            </a:r>
            <a:endParaRPr lang="de-DE" dirty="0"/>
          </a:p>
          <a:p>
            <a:pPr marL="342900" indent="-342900">
              <a:buFontTx/>
              <a:buChar char="-"/>
            </a:pPr>
            <a:r>
              <a:rPr lang="de-DE" dirty="0"/>
              <a:t>Operational Excellence</a:t>
            </a:r>
          </a:p>
          <a:p>
            <a:pPr marL="342900" indent="-342900">
              <a:buFontTx/>
              <a:buChar char="-"/>
            </a:pPr>
            <a:endParaRPr lang="de-DE" dirty="0"/>
          </a:p>
          <a:p>
            <a:r>
              <a:rPr lang="de-DE" dirty="0" err="1"/>
              <a:t>Build</a:t>
            </a:r>
            <a:r>
              <a:rPr lang="de-DE" dirty="0"/>
              <a:t> Trust (</a:t>
            </a:r>
            <a:r>
              <a:rPr lang="de-DE" dirty="0" err="1"/>
              <a:t>especially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go-lives</a:t>
            </a:r>
            <a:r>
              <a:rPr lang="de-DE" dirty="0"/>
              <a:t>)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Towards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Operations</a:t>
            </a:r>
            <a:r>
              <a:rPr lang="de-DE" dirty="0"/>
              <a:t> </a:t>
            </a:r>
            <a:r>
              <a:rPr lang="de-DE" dirty="0" err="1"/>
              <a:t>teams</a:t>
            </a:r>
            <a:endParaRPr lang="de-DE" dirty="0"/>
          </a:p>
          <a:p>
            <a:pPr marL="342900" indent="-342900">
              <a:buFontTx/>
              <a:buChar char="-"/>
            </a:pPr>
            <a:r>
              <a:rPr lang="de-DE" dirty="0" err="1"/>
              <a:t>Towards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Business</a:t>
            </a:r>
          </a:p>
          <a:p>
            <a:endParaRPr lang="de-DE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574" y="942215"/>
            <a:ext cx="1498122" cy="158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9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340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How to plan such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early! </a:t>
            </a:r>
          </a:p>
          <a:p>
            <a:r>
              <a:rPr lang="en-US" dirty="0"/>
              <a:t>	Especially if you cannot move your go-live date</a:t>
            </a:r>
          </a:p>
          <a:p>
            <a:endParaRPr lang="en-US" dirty="0"/>
          </a:p>
          <a:p>
            <a:r>
              <a:rPr lang="en-US" dirty="0"/>
              <a:t>Keep the coordinating team small</a:t>
            </a:r>
          </a:p>
          <a:p>
            <a:endParaRPr lang="de-DE" dirty="0"/>
          </a:p>
          <a:p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aware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efforts</a:t>
            </a:r>
            <a:endParaRPr lang="en-US" dirty="0"/>
          </a:p>
          <a:p>
            <a:r>
              <a:rPr lang="de-DE" dirty="0"/>
              <a:t>	Secure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funding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87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Event </a:t>
            </a:r>
            <a:r>
              <a:rPr lang="de-DE" u="sng" dirty="0" err="1"/>
              <a:t>planning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a Cycle 0</a:t>
            </a:r>
            <a:endParaRPr lang="en-US" u="sng" dirty="0"/>
          </a:p>
        </p:txBody>
      </p:sp>
      <p:sp>
        <p:nvSpPr>
          <p:cNvPr id="6" name="Right Arrow 5"/>
          <p:cNvSpPr/>
          <p:nvPr/>
        </p:nvSpPr>
        <p:spPr>
          <a:xfrm>
            <a:off x="33678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89" y="2476163"/>
            <a:ext cx="70643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 by ProServe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Definition of the GameDay exercise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Definition of the back log for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Setup of the environment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The GameDay Event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3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Event </a:t>
            </a:r>
            <a:r>
              <a:rPr lang="de-DE" u="sng" dirty="0" err="1"/>
              <a:t>planning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a Cycle 0</a:t>
            </a:r>
            <a:endParaRPr lang="en-US" u="sng" dirty="0"/>
          </a:p>
        </p:txBody>
      </p:sp>
      <p:sp>
        <p:nvSpPr>
          <p:cNvPr id="6" name="Right Arrow 5"/>
          <p:cNvSpPr/>
          <p:nvPr/>
        </p:nvSpPr>
        <p:spPr>
          <a:xfrm>
            <a:off x="33678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workshop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61939" y="1238082"/>
            <a:ext cx="163901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Setup</a:t>
            </a:r>
          </a:p>
          <a:p>
            <a:pPr algn="ctr"/>
            <a:r>
              <a:rPr lang="de-DE" dirty="0"/>
              <a:t>Environment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6789" y="2476163"/>
            <a:ext cx="70643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Supported by ProServe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of the team AWS accounts, copy of the workload,      mock-up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of the central components (load generator, scoreboard,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Codification of the exercises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prerequisites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Based on findings during the module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 preparations</a:t>
            </a:r>
          </a:p>
        </p:txBody>
      </p:sp>
    </p:spTree>
    <p:extLst>
      <p:ext uri="{BB962C8B-B14F-4D97-AF65-F5344CB8AC3E}">
        <p14:creationId xmlns:p14="http://schemas.microsoft.com/office/powerpoint/2010/main" val="102264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Event </a:t>
            </a:r>
            <a:r>
              <a:rPr lang="de-DE" u="sng" dirty="0" err="1"/>
              <a:t>planning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a Cycle 0</a:t>
            </a:r>
            <a:endParaRPr lang="en-US" u="sng" dirty="0"/>
          </a:p>
        </p:txBody>
      </p:sp>
      <p:sp>
        <p:nvSpPr>
          <p:cNvPr id="6" name="Right Arrow 5"/>
          <p:cNvSpPr/>
          <p:nvPr/>
        </p:nvSpPr>
        <p:spPr>
          <a:xfrm>
            <a:off x="33678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workshop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61939" y="1238082"/>
            <a:ext cx="163901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Setup</a:t>
            </a:r>
          </a:p>
          <a:p>
            <a:pPr algn="ctr"/>
            <a:r>
              <a:rPr lang="de-DE" dirty="0"/>
              <a:t>Environment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383119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The Event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6789" y="2476163"/>
            <a:ext cx="7064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Supported by ProServe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GameDay coordinators run the event, ProServe observes and notes down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6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Event </a:t>
            </a:r>
            <a:r>
              <a:rPr lang="de-DE" u="sng" dirty="0" err="1"/>
              <a:t>planning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a Cycle 0</a:t>
            </a:r>
            <a:endParaRPr lang="en-US" u="sng" dirty="0"/>
          </a:p>
        </p:txBody>
      </p:sp>
      <p:sp>
        <p:nvSpPr>
          <p:cNvPr id="6" name="Right Arrow 5"/>
          <p:cNvSpPr/>
          <p:nvPr/>
        </p:nvSpPr>
        <p:spPr>
          <a:xfrm>
            <a:off x="33678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workshop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61939" y="1238082"/>
            <a:ext cx="163901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Setup</a:t>
            </a:r>
          </a:p>
          <a:p>
            <a:pPr algn="ctr"/>
            <a:r>
              <a:rPr lang="de-DE" dirty="0"/>
              <a:t>Environment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383119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The Event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545634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Feedback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6789" y="2476163"/>
            <a:ext cx="70643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 by ProServe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next steps for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Operational readiness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Optimization</a:t>
            </a:r>
            <a:r>
              <a:rPr lang="de-DE" dirty="0"/>
              <a:t> after </a:t>
            </a:r>
            <a:r>
              <a:rPr lang="de-DE" dirty="0" err="1"/>
              <a:t>go</a:t>
            </a:r>
            <a:r>
              <a:rPr lang="de-DE" dirty="0"/>
              <a:t>-live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94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Event </a:t>
            </a:r>
            <a:r>
              <a:rPr lang="de-DE" u="sng" dirty="0" err="1"/>
              <a:t>planning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a Cycle 0</a:t>
            </a:r>
            <a:endParaRPr lang="en-US" u="sng" dirty="0"/>
          </a:p>
        </p:txBody>
      </p:sp>
      <p:sp>
        <p:nvSpPr>
          <p:cNvPr id="6" name="Right Arrow 5"/>
          <p:cNvSpPr/>
          <p:nvPr/>
        </p:nvSpPr>
        <p:spPr>
          <a:xfrm>
            <a:off x="33678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workshop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61939" y="1238082"/>
            <a:ext cx="163901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Setup</a:t>
            </a:r>
          </a:p>
          <a:p>
            <a:pPr algn="ctr"/>
            <a:r>
              <a:rPr lang="de-DE" dirty="0"/>
              <a:t>Environment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383119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The Event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5456349" y="1238082"/>
            <a:ext cx="139490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Feedback</a:t>
            </a:r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7081499" y="1238082"/>
            <a:ext cx="1639017" cy="954860"/>
          </a:xfrm>
          <a:prstGeom prst="rightArrow">
            <a:avLst>
              <a:gd name="adj1" fmla="val 100000"/>
              <a:gd name="adj2" fmla="val 17797"/>
            </a:avLst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Optimize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6789" y="2476163"/>
            <a:ext cx="7064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Supported by ProServe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16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 Definition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7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Module Definition</a:t>
            </a:r>
            <a:endParaRPr lang="en-US" u="sng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592" y="1009332"/>
            <a:ext cx="8205304" cy="3553926"/>
          </a:xfrm>
        </p:spPr>
        <p:txBody>
          <a:bodyPr/>
          <a:lstStyle/>
          <a:p>
            <a:r>
              <a:rPr lang="de-DE" dirty="0"/>
              <a:t>Whiteboard </a:t>
            </a:r>
            <a:r>
              <a:rPr lang="de-DE" dirty="0" err="1"/>
              <a:t>exercise</a:t>
            </a:r>
            <a:endParaRPr lang="en-US" dirty="0"/>
          </a:p>
          <a:p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23" y="1711929"/>
            <a:ext cx="622935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2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Module </a:t>
            </a:r>
            <a:r>
              <a:rPr lang="de-DE" u="sng" dirty="0" err="1"/>
              <a:t>Viability</a:t>
            </a:r>
            <a:r>
              <a:rPr lang="de-DE" u="sng" dirty="0"/>
              <a:t> </a:t>
            </a:r>
            <a:r>
              <a:rPr lang="de-DE" u="sng" dirty="0" err="1"/>
              <a:t>checks</a:t>
            </a:r>
            <a:endParaRPr lang="en-US" u="sng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592" y="1009332"/>
            <a:ext cx="8205304" cy="3553926"/>
          </a:xfrm>
        </p:spPr>
        <p:txBody>
          <a:bodyPr/>
          <a:lstStyle/>
          <a:p>
            <a:r>
              <a:rPr lang="en-US" sz="2000" b="1" dirty="0"/>
              <a:t>How can the participant detect the beginning of the module?</a:t>
            </a:r>
          </a:p>
          <a:p>
            <a:pPr lvl="1"/>
            <a:r>
              <a:rPr lang="en-US" sz="1800" dirty="0"/>
              <a:t>Do I have the right monitoring in place?</a:t>
            </a:r>
          </a:p>
          <a:p>
            <a:pPr lvl="1"/>
            <a:r>
              <a:rPr lang="en-US" sz="1800" dirty="0"/>
              <a:t>Are the alarm messages / dashboards clear and actionable?</a:t>
            </a:r>
            <a:endParaRPr lang="en-US" dirty="0"/>
          </a:p>
          <a:p>
            <a:pPr lvl="1"/>
            <a:endParaRPr lang="en-US" sz="700" dirty="0"/>
          </a:p>
          <a:p>
            <a:r>
              <a:rPr lang="en-US" sz="2000" b="1" dirty="0"/>
              <a:t>How can the participant solve the module?  </a:t>
            </a:r>
          </a:p>
          <a:p>
            <a:pPr lvl="1"/>
            <a:r>
              <a:rPr lang="en-US" sz="1800" dirty="0"/>
              <a:t>Do I have the correct operational procedures defined and documented?</a:t>
            </a:r>
          </a:p>
          <a:p>
            <a:pPr lvl="1"/>
            <a:r>
              <a:rPr lang="en-US" sz="1800" dirty="0"/>
              <a:t>Do my participants have the skills to solve the module?</a:t>
            </a:r>
            <a:endParaRPr lang="en-US" dirty="0"/>
          </a:p>
          <a:p>
            <a:pPr lvl="1"/>
            <a:endParaRPr lang="en-US" sz="700" dirty="0"/>
          </a:p>
          <a:p>
            <a:r>
              <a:rPr lang="en-US" sz="2000" b="1" dirty="0"/>
              <a:t>How can I simulate the module?</a:t>
            </a:r>
          </a:p>
          <a:p>
            <a:pPr lvl="1"/>
            <a:r>
              <a:rPr lang="en-US" sz="1800" dirty="0"/>
              <a:t>How to induce failure, change and load on you application?</a:t>
            </a:r>
          </a:p>
          <a:p>
            <a:pPr lvl="1"/>
            <a:r>
              <a:rPr lang="en-US" sz="1800" dirty="0"/>
              <a:t>How to simulate relevant systems and processes outside of your application?</a:t>
            </a:r>
          </a:p>
        </p:txBody>
      </p:sp>
    </p:spTree>
    <p:extLst>
      <p:ext uri="{BB962C8B-B14F-4D97-AF65-F5344CB8AC3E}">
        <p14:creationId xmlns:p14="http://schemas.microsoft.com/office/powerpoint/2010/main" val="273395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Module </a:t>
            </a:r>
            <a:r>
              <a:rPr lang="de-DE" u="sng" dirty="0" err="1"/>
              <a:t>classification</a:t>
            </a:r>
            <a:endParaRPr lang="en-US" u="sng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592" y="1009332"/>
            <a:ext cx="8205304" cy="3553926"/>
          </a:xfrm>
        </p:spPr>
        <p:txBody>
          <a:bodyPr/>
          <a:lstStyle/>
          <a:p>
            <a:r>
              <a:rPr lang="de-DE" sz="2000" b="1" dirty="0" err="1"/>
              <a:t>By</a:t>
            </a:r>
            <a:r>
              <a:rPr lang="de-DE" sz="2000" b="1" dirty="0"/>
              <a:t> </a:t>
            </a:r>
            <a:r>
              <a:rPr lang="de-DE" sz="2000" b="1" dirty="0" err="1"/>
              <a:t>the</a:t>
            </a:r>
            <a:r>
              <a:rPr lang="de-DE" sz="2000" b="1" dirty="0"/>
              <a:t> </a:t>
            </a:r>
            <a:r>
              <a:rPr lang="de-DE" sz="2000" b="1" dirty="0" err="1"/>
              <a:t>goal</a:t>
            </a:r>
            <a:r>
              <a:rPr lang="de-DE" sz="2000" b="1" dirty="0"/>
              <a:t> </a:t>
            </a:r>
            <a:r>
              <a:rPr lang="de-DE" sz="2000" b="1" dirty="0" err="1"/>
              <a:t>of</a:t>
            </a:r>
            <a:r>
              <a:rPr lang="de-DE" sz="2000" b="1" dirty="0"/>
              <a:t> </a:t>
            </a:r>
            <a:r>
              <a:rPr lang="de-DE" sz="2000" b="1" dirty="0" err="1"/>
              <a:t>the</a:t>
            </a:r>
            <a:r>
              <a:rPr lang="de-DE" sz="2000" b="1" dirty="0"/>
              <a:t> </a:t>
            </a:r>
            <a:r>
              <a:rPr lang="de-DE" sz="2000" b="1" dirty="0" err="1"/>
              <a:t>modules</a:t>
            </a:r>
            <a:endParaRPr lang="en-US" sz="2000" b="1" dirty="0"/>
          </a:p>
          <a:p>
            <a:pPr lvl="1"/>
            <a:r>
              <a:rPr lang="en-US" sz="1800" dirty="0"/>
              <a:t>Understanding the AWS platform?</a:t>
            </a:r>
          </a:p>
          <a:p>
            <a:pPr lvl="1"/>
            <a:r>
              <a:rPr lang="en-US" sz="1800" dirty="0"/>
              <a:t>Understanding a Customer process / implementation?</a:t>
            </a:r>
            <a:endParaRPr lang="en-US" dirty="0"/>
          </a:p>
          <a:p>
            <a:pPr lvl="1"/>
            <a:endParaRPr lang="en-US" sz="700" dirty="0"/>
          </a:p>
          <a:p>
            <a:r>
              <a:rPr lang="en-US" sz="2000" b="1" dirty="0"/>
              <a:t>By the runtime of the module</a:t>
            </a:r>
          </a:p>
          <a:p>
            <a:pPr lvl="1"/>
            <a:r>
              <a:rPr lang="en-US" sz="1800" dirty="0"/>
              <a:t>What is the minimum time we expect an experienced person to solve the module?</a:t>
            </a:r>
          </a:p>
          <a:p>
            <a:pPr lvl="1"/>
            <a:r>
              <a:rPr lang="en-US" sz="1800" dirty="0"/>
              <a:t>What is the maximum time we grant a participant to solve the module?</a:t>
            </a:r>
            <a:endParaRPr lang="en-US" dirty="0"/>
          </a:p>
          <a:p>
            <a:pPr lvl="1"/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41073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592" y="1009332"/>
            <a:ext cx="8205304" cy="3553926"/>
          </a:xfrm>
        </p:spPr>
        <p:txBody>
          <a:bodyPr/>
          <a:lstStyle/>
          <a:p>
            <a:r>
              <a:rPr lang="en-US" sz="2000" b="1" dirty="0"/>
              <a:t>Module order</a:t>
            </a:r>
          </a:p>
          <a:p>
            <a:pPr lvl="1"/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modules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run</a:t>
            </a:r>
            <a:r>
              <a:rPr lang="de-DE" sz="1800" dirty="0"/>
              <a:t> in parallel?</a:t>
            </a:r>
            <a:endParaRPr lang="en-US" sz="700" dirty="0"/>
          </a:p>
          <a:p>
            <a:pPr lvl="1"/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modules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dirty="0" err="1"/>
              <a:t>destructive</a:t>
            </a:r>
            <a:r>
              <a:rPr lang="de-DE" sz="1800" dirty="0"/>
              <a:t>?</a:t>
            </a:r>
          </a:p>
          <a:p>
            <a:endParaRPr lang="de-DE" sz="2200" dirty="0"/>
          </a:p>
          <a:p>
            <a:r>
              <a:rPr lang="de-DE" sz="2000" b="1" dirty="0"/>
              <a:t>Game </a:t>
            </a:r>
            <a:r>
              <a:rPr lang="de-DE" sz="2000" b="1" dirty="0" err="1"/>
              <a:t>run</a:t>
            </a:r>
            <a:r>
              <a:rPr lang="de-DE" sz="2000" b="1" dirty="0"/>
              <a:t> time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minimum</a:t>
            </a:r>
            <a:r>
              <a:rPr lang="de-DE" sz="1800" dirty="0"/>
              <a:t> </a:t>
            </a:r>
            <a:r>
              <a:rPr lang="de-DE" sz="1800" dirty="0" err="1"/>
              <a:t>run</a:t>
            </a:r>
            <a:r>
              <a:rPr lang="de-DE" sz="1800" dirty="0"/>
              <a:t> time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game</a:t>
            </a:r>
            <a:r>
              <a:rPr lang="de-DE" sz="1800" dirty="0"/>
              <a:t>?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maximum</a:t>
            </a:r>
            <a:r>
              <a:rPr lang="de-DE" sz="1800" dirty="0"/>
              <a:t> </a:t>
            </a:r>
            <a:r>
              <a:rPr lang="de-DE" sz="1800" dirty="0" err="1"/>
              <a:t>run</a:t>
            </a:r>
            <a:r>
              <a:rPr lang="de-DE" sz="1800" dirty="0"/>
              <a:t> time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game</a:t>
            </a:r>
            <a:r>
              <a:rPr lang="de-DE" sz="1800" dirty="0"/>
              <a:t>?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de-DE" dirty="0" err="1"/>
              <a:t>Aim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120-125%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planned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time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de-DE" sz="1800" dirty="0"/>
              <a:t>Are </a:t>
            </a:r>
            <a:r>
              <a:rPr lang="de-DE" sz="1800" dirty="0" err="1"/>
              <a:t>my</a:t>
            </a:r>
            <a:r>
              <a:rPr lang="de-DE" sz="1800" dirty="0"/>
              <a:t> A </a:t>
            </a:r>
            <a:r>
              <a:rPr lang="de-DE" sz="1800" dirty="0" err="1"/>
              <a:t>and</a:t>
            </a:r>
            <a:r>
              <a:rPr lang="de-DE" sz="1800" dirty="0"/>
              <a:t> C </a:t>
            </a:r>
            <a:r>
              <a:rPr lang="de-DE" sz="1800" dirty="0" err="1"/>
              <a:t>modules</a:t>
            </a:r>
            <a:r>
              <a:rPr lang="de-DE" sz="1800" dirty="0"/>
              <a:t> </a:t>
            </a:r>
            <a:r>
              <a:rPr lang="de-DE" sz="1800" dirty="0" err="1"/>
              <a:t>well</a:t>
            </a:r>
            <a:r>
              <a:rPr lang="de-DE" sz="1800" dirty="0"/>
              <a:t> </a:t>
            </a:r>
            <a:r>
              <a:rPr lang="de-DE" sz="1800" dirty="0" err="1"/>
              <a:t>balanced</a:t>
            </a:r>
            <a:r>
              <a:rPr lang="de-DE" sz="1800" dirty="0"/>
              <a:t>?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lvl="1" indent="0">
              <a:buNone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72856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GameDay </a:t>
            </a:r>
            <a:r>
              <a:rPr lang="de-DE" dirty="0" err="1"/>
              <a:t>event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55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464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98752"/>
            <a:ext cx="8205304" cy="545741"/>
          </a:xfrm>
        </p:spPr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8272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09:30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14322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24159" y="1552543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Intro Session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74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98752"/>
            <a:ext cx="8205304" cy="545741"/>
          </a:xfrm>
        </p:spPr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8272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09:30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14322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24159" y="1552543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Intro Session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43795" y="2227471"/>
            <a:ext cx="3479575" cy="12866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The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15:00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824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98752"/>
            <a:ext cx="8205304" cy="545741"/>
          </a:xfrm>
        </p:spPr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8272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09:30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14322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24159" y="1552543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Intro Session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43795" y="2227471"/>
            <a:ext cx="3479575" cy="12866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The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3370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15:00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579459" y="1552542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Break / </a:t>
            </a:r>
            <a:r>
              <a:rPr lang="de-DE" dirty="0" err="1"/>
              <a:t>Cooldown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09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98752"/>
            <a:ext cx="8205304" cy="545741"/>
          </a:xfrm>
        </p:spPr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8272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09:30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14322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24159" y="1552543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Intro Session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43795" y="2227471"/>
            <a:ext cx="3479575" cy="12866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The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3370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15:00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52843" y="2225309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923370" y="1009957"/>
            <a:ext cx="1399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Feedback </a:t>
            </a:r>
            <a:r>
              <a:rPr lang="de-DE" dirty="0" err="1"/>
              <a:t>round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r>
              <a:rPr lang="de-DE" dirty="0"/>
              <a:t> / </a:t>
            </a:r>
            <a:r>
              <a:rPr lang="de-DE" dirty="0" err="1"/>
              <a:t>prices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923371" y="402983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16:00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194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98752"/>
            <a:ext cx="8205304" cy="545741"/>
          </a:xfrm>
        </p:spPr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8272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09:30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14322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24159" y="1552543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Intro Session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43795" y="2227471"/>
            <a:ext cx="3479575" cy="12866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The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3370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15:00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52843" y="2225309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923370" y="1009957"/>
            <a:ext cx="1399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Feedback </a:t>
            </a:r>
            <a:r>
              <a:rPr lang="de-DE" dirty="0" err="1"/>
              <a:t>round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r>
              <a:rPr lang="de-DE" dirty="0"/>
              <a:t> / </a:t>
            </a:r>
            <a:r>
              <a:rPr lang="de-DE" dirty="0" err="1"/>
              <a:t>prices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923371" y="402983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16:00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360340" y="2225308"/>
            <a:ext cx="436970" cy="1286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926783" y="2369709"/>
            <a:ext cx="1399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Internal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round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36034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17:00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33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98752"/>
            <a:ext cx="8205304" cy="545741"/>
          </a:xfrm>
        </p:spPr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8272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09:30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14322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24159" y="1552543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Intro Session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43795" y="2227471"/>
            <a:ext cx="3479575" cy="12866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The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3370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15:00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52843" y="2225309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923370" y="1009957"/>
            <a:ext cx="1399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Feedback </a:t>
            </a:r>
            <a:r>
              <a:rPr lang="de-DE" dirty="0" err="1"/>
              <a:t>round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r>
              <a:rPr lang="de-DE" dirty="0"/>
              <a:t> / </a:t>
            </a:r>
            <a:r>
              <a:rPr lang="de-DE" dirty="0" err="1"/>
              <a:t>prices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923371" y="402983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16:00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360340" y="2225308"/>
            <a:ext cx="436970" cy="1286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926783" y="2369709"/>
            <a:ext cx="1399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Internal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round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36034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17:00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006825" y="2225310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69855" y="402983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306864" y="1034652"/>
            <a:ext cx="139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Breakfast</a:t>
            </a:r>
            <a:endParaRPr lang="en-US" dirty="0"/>
          </a:p>
        </p:txBody>
      </p:sp>
      <p:cxnSp>
        <p:nvCxnSpPr>
          <p:cNvPr id="4" name="Straight Connector 3"/>
          <p:cNvCxnSpPr>
            <a:stCxn id="21" idx="2"/>
            <a:endCxn id="19" idx="0"/>
          </p:cNvCxnSpPr>
          <p:nvPr/>
        </p:nvCxnSpPr>
        <p:spPr>
          <a:xfrm>
            <a:off x="2006825" y="1403984"/>
            <a:ext cx="153749" cy="821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768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98752"/>
            <a:ext cx="8205304" cy="545741"/>
          </a:xfrm>
        </p:spPr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8272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09:30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14322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24159" y="1552543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Intro Session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43795" y="2227471"/>
            <a:ext cx="3479575" cy="12866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The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3370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15:00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52843" y="2225309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923370" y="1009957"/>
            <a:ext cx="1399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Feedback </a:t>
            </a:r>
            <a:r>
              <a:rPr lang="de-DE" dirty="0" err="1"/>
              <a:t>round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r>
              <a:rPr lang="de-DE" dirty="0"/>
              <a:t> / </a:t>
            </a:r>
            <a:r>
              <a:rPr lang="de-DE" dirty="0" err="1"/>
              <a:t>prices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923371" y="402983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16:00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360340" y="2225308"/>
            <a:ext cx="436970" cy="1286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926783" y="2369709"/>
            <a:ext cx="1399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Internal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round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36034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17:00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006825" y="2225310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69855" y="402983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306864" y="1034652"/>
            <a:ext cx="139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Breakfast</a:t>
            </a:r>
            <a:endParaRPr lang="en-US" dirty="0"/>
          </a:p>
        </p:txBody>
      </p:sp>
      <p:cxnSp>
        <p:nvCxnSpPr>
          <p:cNvPr id="4" name="Straight Connector 3"/>
          <p:cNvCxnSpPr>
            <a:stCxn id="21" idx="2"/>
            <a:endCxn id="19" idx="0"/>
          </p:cNvCxnSpPr>
          <p:nvPr/>
        </p:nvCxnSpPr>
        <p:spPr>
          <a:xfrm>
            <a:off x="2006825" y="1403984"/>
            <a:ext cx="153749" cy="821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91236" y="2233399"/>
            <a:ext cx="307497" cy="12866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25982" y="1361668"/>
            <a:ext cx="1011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Support </a:t>
            </a:r>
            <a:r>
              <a:rPr lang="de-DE" dirty="0" err="1"/>
              <a:t>staff</a:t>
            </a:r>
            <a:r>
              <a:rPr lang="de-DE" dirty="0"/>
              <a:t> </a:t>
            </a:r>
            <a:r>
              <a:rPr lang="de-DE" dirty="0" err="1"/>
              <a:t>briefing</a:t>
            </a:r>
            <a:endParaRPr lang="en-US" dirty="0"/>
          </a:p>
        </p:txBody>
      </p:sp>
      <p:cxnSp>
        <p:nvCxnSpPr>
          <p:cNvPr id="25" name="Straight Connector 24"/>
          <p:cNvCxnSpPr>
            <a:stCxn id="23" idx="3"/>
            <a:endCxn id="22" idx="0"/>
          </p:cNvCxnSpPr>
          <p:nvPr/>
        </p:nvCxnSpPr>
        <p:spPr>
          <a:xfrm>
            <a:off x="1537488" y="1823333"/>
            <a:ext cx="307497" cy="4100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532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98752"/>
            <a:ext cx="8205304" cy="545741"/>
          </a:xfrm>
        </p:spPr>
        <p:txBody>
          <a:bodyPr/>
          <a:lstStyle/>
          <a:p>
            <a:r>
              <a:rPr lang="de-DE" u="sng" dirty="0"/>
              <a:t>Game Schedule</a:t>
            </a:r>
            <a:endParaRPr lang="en-US" u="sng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87823" y="3520035"/>
            <a:ext cx="7444673" cy="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58272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09:30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14322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24159" y="1552543"/>
            <a:ext cx="139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Intro Session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43795" y="2227471"/>
            <a:ext cx="3479575" cy="128663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de-DE" dirty="0">
                <a:solidFill>
                  <a:schemeClr val="tx1"/>
                </a:solidFill>
              </a:rPr>
              <a:t>The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3370" y="2225310"/>
            <a:ext cx="129473" cy="128663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15:00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52843" y="2225309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923370" y="1009957"/>
            <a:ext cx="1399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Feedback </a:t>
            </a:r>
            <a:r>
              <a:rPr lang="de-DE" dirty="0" err="1"/>
              <a:t>round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r>
              <a:rPr lang="de-DE" dirty="0"/>
              <a:t> / </a:t>
            </a:r>
            <a:r>
              <a:rPr lang="de-DE" dirty="0" err="1"/>
              <a:t>prices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923371" y="402983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16:00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360340" y="2225308"/>
            <a:ext cx="436970" cy="1286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926783" y="2369709"/>
            <a:ext cx="1399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Internal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round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360340" y="3722336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17:00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006825" y="2225310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69855" y="402983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09:00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306864" y="1034652"/>
            <a:ext cx="139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Breakfast</a:t>
            </a:r>
            <a:endParaRPr lang="en-US" dirty="0"/>
          </a:p>
        </p:txBody>
      </p:sp>
      <p:cxnSp>
        <p:nvCxnSpPr>
          <p:cNvPr id="4" name="Straight Connector 3"/>
          <p:cNvCxnSpPr>
            <a:stCxn id="21" idx="2"/>
            <a:endCxn id="19" idx="0"/>
          </p:cNvCxnSpPr>
          <p:nvPr/>
        </p:nvCxnSpPr>
        <p:spPr>
          <a:xfrm>
            <a:off x="2006825" y="1403984"/>
            <a:ext cx="153749" cy="821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91236" y="2233399"/>
            <a:ext cx="307497" cy="128663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25982" y="1361668"/>
            <a:ext cx="1011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Support </a:t>
            </a:r>
            <a:r>
              <a:rPr lang="de-DE" dirty="0" err="1"/>
              <a:t>staff</a:t>
            </a:r>
            <a:r>
              <a:rPr lang="de-DE" dirty="0"/>
              <a:t> </a:t>
            </a:r>
            <a:r>
              <a:rPr lang="de-DE" dirty="0" err="1"/>
              <a:t>briefing</a:t>
            </a:r>
            <a:endParaRPr lang="en-US" dirty="0"/>
          </a:p>
        </p:txBody>
      </p:sp>
      <p:cxnSp>
        <p:nvCxnSpPr>
          <p:cNvPr id="25" name="Straight Connector 24"/>
          <p:cNvCxnSpPr>
            <a:stCxn id="23" idx="3"/>
            <a:endCxn id="22" idx="0"/>
          </p:cNvCxnSpPr>
          <p:nvPr/>
        </p:nvCxnSpPr>
        <p:spPr>
          <a:xfrm>
            <a:off x="1537488" y="1823333"/>
            <a:ext cx="307497" cy="4100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71601" y="2225306"/>
            <a:ext cx="307497" cy="12866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03728" y="2760206"/>
            <a:ext cx="1011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Room</a:t>
            </a:r>
            <a:r>
              <a:rPr lang="de-DE" dirty="0"/>
              <a:t> </a:t>
            </a:r>
            <a:r>
              <a:rPr lang="de-DE" dirty="0" err="1"/>
              <a:t>setup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914400" y="3714453"/>
            <a:ext cx="87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08:00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323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location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435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The </a:t>
            </a:r>
            <a:r>
              <a:rPr lang="de-DE" u="sng" dirty="0" err="1"/>
              <a:t>location</a:t>
            </a:r>
            <a:endParaRPr lang="en-US" u="sng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592" y="1009332"/>
            <a:ext cx="8205304" cy="3553926"/>
          </a:xfrm>
        </p:spPr>
        <p:txBody>
          <a:bodyPr/>
          <a:lstStyle/>
          <a:p>
            <a:r>
              <a:rPr lang="en-US" sz="2000" b="1" dirty="0"/>
              <a:t>Room layout</a:t>
            </a:r>
          </a:p>
          <a:p>
            <a:pPr lvl="1"/>
            <a:r>
              <a:rPr lang="de-DE" sz="1800" dirty="0" err="1"/>
              <a:t>Tables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teams</a:t>
            </a:r>
            <a:endParaRPr lang="de-DE" sz="1800" dirty="0"/>
          </a:p>
          <a:p>
            <a:pPr lvl="1"/>
            <a:r>
              <a:rPr lang="de-DE" sz="1800" dirty="0"/>
              <a:t>Central </a:t>
            </a:r>
            <a:r>
              <a:rPr lang="de-DE" sz="1800" dirty="0" err="1"/>
              <a:t>screen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introduction</a:t>
            </a:r>
            <a:r>
              <a:rPr lang="de-DE" sz="1800" dirty="0"/>
              <a:t> </a:t>
            </a:r>
            <a:r>
              <a:rPr lang="de-DE" sz="1800" dirty="0" err="1"/>
              <a:t>and</a:t>
            </a:r>
            <a:r>
              <a:rPr lang="de-DE" sz="1800" dirty="0"/>
              <a:t> </a:t>
            </a:r>
            <a:r>
              <a:rPr lang="de-DE" sz="1800" dirty="0" err="1"/>
              <a:t>scoreboard</a:t>
            </a:r>
            <a:endParaRPr lang="de-DE" sz="1800" dirty="0"/>
          </a:p>
          <a:p>
            <a:pPr lvl="1"/>
            <a:r>
              <a:rPr lang="de-DE" sz="1800" dirty="0"/>
              <a:t>Flipcharts / </a:t>
            </a:r>
            <a:r>
              <a:rPr lang="de-DE" sz="1800" dirty="0" err="1"/>
              <a:t>whiteboards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mock-up</a:t>
            </a:r>
            <a:r>
              <a:rPr lang="de-DE" sz="1800" dirty="0"/>
              <a:t> </a:t>
            </a:r>
            <a:r>
              <a:rPr lang="de-DE" sz="1800" dirty="0" err="1"/>
              <a:t>processes</a:t>
            </a:r>
            <a:r>
              <a:rPr lang="de-DE" sz="1800" dirty="0"/>
              <a:t> </a:t>
            </a:r>
            <a:r>
              <a:rPr lang="de-DE" sz="1800" dirty="0" err="1"/>
              <a:t>or</a:t>
            </a:r>
            <a:r>
              <a:rPr lang="de-DE" sz="1800" dirty="0"/>
              <a:t> </a:t>
            </a:r>
            <a:r>
              <a:rPr lang="de-DE" sz="1800" dirty="0" err="1"/>
              <a:t>suggestions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improvements</a:t>
            </a:r>
            <a:endParaRPr lang="de-DE" sz="1800" dirty="0"/>
          </a:p>
          <a:p>
            <a:pPr lvl="1"/>
            <a:r>
              <a:rPr lang="de-DE" sz="1800" dirty="0"/>
              <a:t>Separate </a:t>
            </a:r>
            <a:r>
              <a:rPr lang="de-DE" sz="1800" dirty="0" err="1"/>
              <a:t>area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support</a:t>
            </a:r>
            <a:r>
              <a:rPr lang="de-DE" sz="1800" dirty="0"/>
              <a:t> </a:t>
            </a:r>
            <a:r>
              <a:rPr lang="de-DE" sz="1800" dirty="0" err="1"/>
              <a:t>people</a:t>
            </a:r>
            <a:endParaRPr lang="de-DE" sz="1800" dirty="0"/>
          </a:p>
          <a:p>
            <a:pPr lvl="1"/>
            <a:r>
              <a:rPr lang="de-DE" sz="1800" dirty="0" err="1"/>
              <a:t>Spearate</a:t>
            </a:r>
            <a:r>
              <a:rPr lang="de-DE" sz="1800" dirty="0"/>
              <a:t> </a:t>
            </a:r>
            <a:r>
              <a:rPr lang="de-DE" sz="1800" dirty="0" err="1"/>
              <a:t>area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GameDay </a:t>
            </a:r>
            <a:r>
              <a:rPr lang="de-DE" sz="1800" dirty="0" err="1"/>
              <a:t>coordinators</a:t>
            </a:r>
            <a:endParaRPr lang="de-DE" sz="1800" dirty="0"/>
          </a:p>
          <a:p>
            <a:pPr lvl="1"/>
            <a:r>
              <a:rPr lang="de-DE" sz="1800" dirty="0"/>
              <a:t>Catering Area (</a:t>
            </a:r>
            <a:r>
              <a:rPr lang="de-DE" sz="1800" dirty="0" err="1"/>
              <a:t>there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dedicated</a:t>
            </a:r>
            <a:r>
              <a:rPr lang="de-DE" sz="1800" dirty="0"/>
              <a:t> lunch break)</a:t>
            </a:r>
          </a:p>
          <a:p>
            <a:pPr lvl="1"/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12294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Feedback </a:t>
            </a:r>
            <a:r>
              <a:rPr lang="de-DE" dirty="0" err="1"/>
              <a:t>loops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01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Feedback </a:t>
            </a:r>
            <a:r>
              <a:rPr lang="de-DE" u="sng" dirty="0" err="1"/>
              <a:t>loops</a:t>
            </a:r>
            <a:endParaRPr lang="en-US" u="sng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592" y="1009332"/>
            <a:ext cx="8205304" cy="3553926"/>
          </a:xfrm>
        </p:spPr>
        <p:txBody>
          <a:bodyPr/>
          <a:lstStyle/>
          <a:p>
            <a:r>
              <a:rPr lang="en-US" sz="2000" b="1" dirty="0"/>
              <a:t>During the event</a:t>
            </a:r>
          </a:p>
          <a:p>
            <a:pPr lvl="1"/>
            <a:r>
              <a:rPr lang="de-DE" sz="1800" dirty="0" err="1"/>
              <a:t>By</a:t>
            </a:r>
            <a:r>
              <a:rPr lang="de-DE" sz="1800" dirty="0"/>
              <a:t> </a:t>
            </a:r>
            <a:r>
              <a:rPr lang="de-DE" sz="1800" dirty="0" err="1"/>
              <a:t>observing</a:t>
            </a:r>
            <a:r>
              <a:rPr lang="de-DE" sz="1800" dirty="0"/>
              <a:t>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partipants</a:t>
            </a:r>
            <a:endParaRPr lang="de-DE" sz="1800" dirty="0"/>
          </a:p>
          <a:p>
            <a:pPr lvl="1"/>
            <a:r>
              <a:rPr lang="de-DE" sz="1800" dirty="0" err="1"/>
              <a:t>By</a:t>
            </a:r>
            <a:r>
              <a:rPr lang="de-DE" sz="1800" dirty="0"/>
              <a:t> </a:t>
            </a:r>
            <a:r>
              <a:rPr lang="de-DE" sz="1800" dirty="0" err="1"/>
              <a:t>asking</a:t>
            </a:r>
            <a:r>
              <a:rPr lang="de-DE" sz="1800" dirty="0"/>
              <a:t>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participants</a:t>
            </a:r>
            <a:endParaRPr lang="de-DE" sz="1800" dirty="0"/>
          </a:p>
          <a:p>
            <a:pPr lvl="1"/>
            <a:r>
              <a:rPr lang="de-DE" sz="1800" dirty="0" err="1"/>
              <a:t>By</a:t>
            </a:r>
            <a:r>
              <a:rPr lang="de-DE" sz="1800" dirty="0"/>
              <a:t> </a:t>
            </a:r>
            <a:r>
              <a:rPr lang="de-DE" sz="1800" dirty="0" err="1"/>
              <a:t>asking</a:t>
            </a:r>
            <a:r>
              <a:rPr lang="de-DE" sz="1800" dirty="0"/>
              <a:t>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support</a:t>
            </a:r>
            <a:r>
              <a:rPr lang="de-DE" sz="1800" dirty="0"/>
              <a:t> </a:t>
            </a:r>
            <a:r>
              <a:rPr lang="de-DE" sz="1800" dirty="0" err="1"/>
              <a:t>staff</a:t>
            </a:r>
            <a:endParaRPr lang="de-DE" sz="1800" dirty="0"/>
          </a:p>
          <a:p>
            <a:endParaRPr lang="de-DE" sz="2200" dirty="0"/>
          </a:p>
          <a:p>
            <a:r>
              <a:rPr lang="de-DE" sz="2000" b="1" dirty="0" err="1"/>
              <a:t>During</a:t>
            </a:r>
            <a:r>
              <a:rPr lang="de-DE" sz="2000" b="1" dirty="0"/>
              <a:t> </a:t>
            </a:r>
            <a:r>
              <a:rPr lang="de-DE" sz="2000" b="1" dirty="0" err="1"/>
              <a:t>the</a:t>
            </a:r>
            <a:r>
              <a:rPr lang="de-DE" sz="2000" b="1" dirty="0"/>
              <a:t> </a:t>
            </a:r>
            <a:r>
              <a:rPr lang="de-DE" sz="2000" b="1" dirty="0" err="1"/>
              <a:t>preparation</a:t>
            </a:r>
            <a:r>
              <a:rPr lang="de-DE" sz="2000" b="1" dirty="0"/>
              <a:t> </a:t>
            </a:r>
            <a:r>
              <a:rPr lang="de-DE" sz="2000" b="1" dirty="0" err="1"/>
              <a:t>phase</a:t>
            </a:r>
            <a:endParaRPr lang="de-DE" sz="2000" b="1" dirty="0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de-DE" sz="1800" dirty="0" err="1"/>
              <a:t>When</a:t>
            </a:r>
            <a:r>
              <a:rPr lang="de-DE" sz="1800" dirty="0"/>
              <a:t> </a:t>
            </a:r>
            <a:r>
              <a:rPr lang="de-DE" sz="1800" dirty="0" err="1"/>
              <a:t>defining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modules</a:t>
            </a:r>
            <a:endParaRPr lang="de-DE" sz="1800" dirty="0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de-DE" sz="1800" dirty="0" err="1"/>
              <a:t>When</a:t>
            </a:r>
            <a:r>
              <a:rPr lang="de-DE" sz="1800" dirty="0"/>
              <a:t> </a:t>
            </a:r>
            <a:r>
              <a:rPr lang="de-DE" sz="1800" dirty="0" err="1"/>
              <a:t>setting</a:t>
            </a:r>
            <a:r>
              <a:rPr lang="de-DE" sz="1800" dirty="0"/>
              <a:t> </a:t>
            </a:r>
            <a:r>
              <a:rPr lang="de-DE" sz="1800" dirty="0" err="1"/>
              <a:t>up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infrastructure</a:t>
            </a:r>
            <a:endParaRPr lang="de-DE" sz="1800" dirty="0"/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r>
              <a:rPr lang="de-DE" sz="2000" b="1" dirty="0"/>
              <a:t>Follow-</a:t>
            </a:r>
            <a:r>
              <a:rPr lang="de-DE" sz="2000" b="1" dirty="0" err="1"/>
              <a:t>up</a:t>
            </a:r>
            <a:r>
              <a:rPr lang="de-DE" sz="2000" b="1" dirty="0"/>
              <a:t> on </a:t>
            </a:r>
            <a:r>
              <a:rPr lang="de-DE" sz="2000" b="1" dirty="0" err="1"/>
              <a:t>this</a:t>
            </a:r>
            <a:r>
              <a:rPr lang="de-DE" sz="2000" b="1" dirty="0"/>
              <a:t> </a:t>
            </a:r>
            <a:r>
              <a:rPr lang="de-DE" sz="2000" b="1" dirty="0" err="1"/>
              <a:t>feedback</a:t>
            </a:r>
            <a:r>
              <a:rPr lang="de-DE" sz="2000" b="1" dirty="0"/>
              <a:t>!</a:t>
            </a:r>
          </a:p>
          <a:p>
            <a:pPr lvl="1" indent="0">
              <a:buNone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62444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I </a:t>
            </a:r>
            <a:r>
              <a:rPr lang="de-DE" dirty="0" err="1"/>
              <a:t>run</a:t>
            </a:r>
            <a:r>
              <a:rPr lang="de-DE" dirty="0"/>
              <a:t> such an </a:t>
            </a:r>
            <a:r>
              <a:rPr lang="de-DE" dirty="0" err="1"/>
              <a:t>event</a:t>
            </a:r>
            <a:r>
              <a:rPr lang="de-DE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379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GameDay </a:t>
            </a:r>
            <a:r>
              <a:rPr lang="de-DE" u="sng" dirty="0" err="1"/>
              <a:t>frequency</a:t>
            </a:r>
            <a:endParaRPr lang="en-US" u="sng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592" y="1009332"/>
            <a:ext cx="8205304" cy="355392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Go-live </a:t>
            </a:r>
            <a:r>
              <a:rPr lang="de-DE" sz="2000" dirty="0" err="1"/>
              <a:t>of</a:t>
            </a:r>
            <a:r>
              <a:rPr lang="de-DE" sz="2000" dirty="0"/>
              <a:t> a </a:t>
            </a:r>
            <a:r>
              <a:rPr lang="de-DE" sz="2000" dirty="0" err="1"/>
              <a:t>new</a:t>
            </a:r>
            <a:r>
              <a:rPr lang="de-DE" sz="2000" dirty="0"/>
              <a:t> </a:t>
            </a:r>
            <a:r>
              <a:rPr lang="de-DE" sz="2000" dirty="0" err="1"/>
              <a:t>product</a:t>
            </a: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Change in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architecture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a </a:t>
            </a:r>
            <a:r>
              <a:rPr lang="de-DE" sz="2000" dirty="0" err="1"/>
              <a:t>product</a:t>
            </a: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Change in </a:t>
            </a:r>
            <a:r>
              <a:rPr lang="de-DE" sz="2000" dirty="0" err="1"/>
              <a:t>your</a:t>
            </a:r>
            <a:r>
              <a:rPr lang="de-DE" sz="2000" dirty="0"/>
              <a:t> </a:t>
            </a:r>
            <a:r>
              <a:rPr lang="de-DE" sz="2000" dirty="0" err="1"/>
              <a:t>operations</a:t>
            </a:r>
            <a:r>
              <a:rPr lang="de-DE" sz="2000" dirty="0"/>
              <a:t> </a:t>
            </a:r>
            <a:r>
              <a:rPr lang="de-DE" sz="2000" dirty="0" err="1"/>
              <a:t>team</a:t>
            </a:r>
            <a:r>
              <a:rPr lang="de-DE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Change in </a:t>
            </a:r>
            <a:r>
              <a:rPr lang="de-DE" sz="2000" dirty="0" err="1"/>
              <a:t>your</a:t>
            </a:r>
            <a:r>
              <a:rPr lang="de-DE" sz="2000" dirty="0"/>
              <a:t> operational </a:t>
            </a:r>
            <a:r>
              <a:rPr lang="de-DE" sz="2000" dirty="0" err="1"/>
              <a:t>procedures</a:t>
            </a: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/>
              <a:t>Unexpected</a:t>
            </a:r>
            <a:endParaRPr lang="de-DE" sz="2000" dirty="0"/>
          </a:p>
          <a:p>
            <a:pPr lvl="1" indent="0">
              <a:buNone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17733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771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 err="1"/>
              <a:t>Example</a:t>
            </a:r>
            <a:r>
              <a:rPr lang="de-DE" u="sng"/>
              <a:t> Lessons</a:t>
            </a:r>
            <a:r>
              <a:rPr lang="de-DE" u="sng" dirty="0"/>
              <a:t> </a:t>
            </a:r>
            <a:r>
              <a:rPr lang="de-DE" u="sng" dirty="0" err="1"/>
              <a:t>learned</a:t>
            </a:r>
            <a:r>
              <a:rPr lang="de-DE" u="sng" dirty="0"/>
              <a:t> </a:t>
            </a:r>
            <a:endParaRPr lang="en-US" u="sng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592" y="1009332"/>
            <a:ext cx="8205304" cy="355392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People fear to be evaluated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Coordinators overestimate their readiness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Coordinators underestimate the time needed for preparations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Equipment of the participants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Delay your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CloudWatch</a:t>
            </a:r>
            <a:r>
              <a:rPr lang="en-US" sz="2200" dirty="0"/>
              <a:t> dashboards have reduced granularity for number &gt; 1000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1747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DeckTemplate-AWS">
  <a:themeElements>
    <a:clrScheme name="AWS Colors">
      <a:dk1>
        <a:srgbClr val="1D516C"/>
      </a:dk1>
      <a:lt1>
        <a:srgbClr val="FFFFFF"/>
      </a:lt1>
      <a:dk2>
        <a:srgbClr val="1D516C"/>
      </a:dk2>
      <a:lt2>
        <a:srgbClr val="F8F8F8"/>
      </a:lt2>
      <a:accent1>
        <a:srgbClr val="FF9900"/>
      </a:accent1>
      <a:accent2>
        <a:srgbClr val="00A1C9"/>
      </a:accent2>
      <a:accent3>
        <a:srgbClr val="007DBC"/>
      </a:accent3>
      <a:accent4>
        <a:srgbClr val="69AF34"/>
      </a:accent4>
      <a:accent5>
        <a:srgbClr val="EB5F07"/>
      </a:accent5>
      <a:accent6>
        <a:srgbClr val="545B64"/>
      </a:accent6>
      <a:hlink>
        <a:srgbClr val="00E0EA"/>
      </a:hlink>
      <a:folHlink>
        <a:srgbClr val="0069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97C89A-FD0C-431E-81F6-90225B937683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DeckTemplate_AWS</Template>
  <TotalTime>7</TotalTime>
  <Words>1404</Words>
  <Application>Microsoft Macintosh PowerPoint</Application>
  <PresentationFormat>On-screen Show (16:9)</PresentationFormat>
  <Paragraphs>319</Paragraphs>
  <Slides>37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Amazon Ember Light</vt:lpstr>
      <vt:lpstr>Amazon Ember Regular</vt:lpstr>
      <vt:lpstr>Arial</vt:lpstr>
      <vt:lpstr>Calibri</vt:lpstr>
      <vt:lpstr>Lucida Console</vt:lpstr>
      <vt:lpstr>DeckTemplate-AWS</vt:lpstr>
      <vt:lpstr>PowerPoint Presentation</vt:lpstr>
      <vt:lpstr>Agenda</vt:lpstr>
      <vt:lpstr>The Basics</vt:lpstr>
      <vt:lpstr>Distinction</vt:lpstr>
      <vt:lpstr>The GameDay concept 1/2</vt:lpstr>
      <vt:lpstr>The GameDay concept 2/2</vt:lpstr>
      <vt:lpstr>Reasons to run a GameDay Exercise </vt:lpstr>
      <vt:lpstr>The Approach</vt:lpstr>
      <vt:lpstr>How to plan such an event</vt:lpstr>
      <vt:lpstr>Event planning for a Cycle 0</vt:lpstr>
      <vt:lpstr>Event planning for a Cycle 0</vt:lpstr>
      <vt:lpstr>Event planning for a Cycle 0</vt:lpstr>
      <vt:lpstr>Event planning for a Cycle 0</vt:lpstr>
      <vt:lpstr>Event planning for a Cycle 0</vt:lpstr>
      <vt:lpstr>Module Definition</vt:lpstr>
      <vt:lpstr>Module Definition</vt:lpstr>
      <vt:lpstr>Module Viability checks</vt:lpstr>
      <vt:lpstr>Module classification</vt:lpstr>
      <vt:lpstr>Game Schedule</vt:lpstr>
      <vt:lpstr>The GameDay event</vt:lpstr>
      <vt:lpstr>Game Schedule</vt:lpstr>
      <vt:lpstr>Game Schedule</vt:lpstr>
      <vt:lpstr>Game Schedule</vt:lpstr>
      <vt:lpstr>Game Schedule</vt:lpstr>
      <vt:lpstr>Game Schedule</vt:lpstr>
      <vt:lpstr>Game Schedule</vt:lpstr>
      <vt:lpstr>Game Schedule</vt:lpstr>
      <vt:lpstr>Game Schedule</vt:lpstr>
      <vt:lpstr>Game Schedule</vt:lpstr>
      <vt:lpstr>The location</vt:lpstr>
      <vt:lpstr>The location</vt:lpstr>
      <vt:lpstr>Feedback loops</vt:lpstr>
      <vt:lpstr>Feedback loops</vt:lpstr>
      <vt:lpstr>When should I run such an event?</vt:lpstr>
      <vt:lpstr>GameDay frequency</vt:lpstr>
      <vt:lpstr>Lessons learned</vt:lpstr>
      <vt:lpstr>Example Lessons learned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Khurram Nizami</cp:lastModifiedBy>
  <cp:revision>1408</cp:revision>
  <cp:lastPrinted>2018-12-18T22:23:48Z</cp:lastPrinted>
  <dcterms:created xsi:type="dcterms:W3CDTF">2016-06-17T18:22:10Z</dcterms:created>
  <dcterms:modified xsi:type="dcterms:W3CDTF">2022-02-17T20:43:22Z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