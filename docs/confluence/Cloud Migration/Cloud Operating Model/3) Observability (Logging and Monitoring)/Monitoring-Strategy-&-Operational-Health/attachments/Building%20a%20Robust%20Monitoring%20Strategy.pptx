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36"/>
  </p:notesMasterIdLst>
  <p:sldIdLst>
    <p:sldId id="285" r:id="rId5"/>
    <p:sldId id="259" r:id="rId6"/>
    <p:sldId id="315" r:id="rId7"/>
    <p:sldId id="305" r:id="rId8"/>
    <p:sldId id="310" r:id="rId9"/>
    <p:sldId id="341" r:id="rId10"/>
    <p:sldId id="336" r:id="rId11"/>
    <p:sldId id="316" r:id="rId12"/>
    <p:sldId id="339" r:id="rId13"/>
    <p:sldId id="338" r:id="rId14"/>
    <p:sldId id="311" r:id="rId15"/>
    <p:sldId id="290" r:id="rId16"/>
    <p:sldId id="312" r:id="rId17"/>
    <p:sldId id="317" r:id="rId18"/>
    <p:sldId id="318" r:id="rId19"/>
    <p:sldId id="319" r:id="rId20"/>
    <p:sldId id="314" r:id="rId21"/>
    <p:sldId id="313" r:id="rId22"/>
    <p:sldId id="337" r:id="rId23"/>
    <p:sldId id="323" r:id="rId24"/>
    <p:sldId id="322" r:id="rId25"/>
    <p:sldId id="325" r:id="rId26"/>
    <p:sldId id="342" r:id="rId27"/>
    <p:sldId id="321" r:id="rId28"/>
    <p:sldId id="324" r:id="rId29"/>
    <p:sldId id="328" r:id="rId30"/>
    <p:sldId id="334" r:id="rId31"/>
    <p:sldId id="329" r:id="rId32"/>
    <p:sldId id="326" r:id="rId33"/>
    <p:sldId id="335" r:id="rId34"/>
    <p:sldId id="333" r:id="rId35"/>
  </p:sldIdLst>
  <p:sldSz cx="14630400" cy="8229600"/>
  <p:notesSz cx="6858000" cy="9144000"/>
  <p:custDataLst>
    <p:tags r:id="rId37"/>
  </p:custDataLst>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A5D"/>
    <a:srgbClr val="414042"/>
    <a:srgbClr val="DCDCDC"/>
    <a:srgbClr val="4F81BD"/>
    <a:srgbClr val="0C9B2E"/>
    <a:srgbClr val="FFFAD0"/>
    <a:srgbClr val="FFF8AE"/>
    <a:srgbClr val="FCB64C"/>
    <a:srgbClr val="FEC46F"/>
    <a:srgbClr val="FFE1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0" autoAdjust="0"/>
    <p:restoredTop sz="81140" autoAdjust="0"/>
  </p:normalViewPr>
  <p:slideViewPr>
    <p:cSldViewPr snapToGrid="0" showGuides="1">
      <p:cViewPr>
        <p:scale>
          <a:sx n="75" d="100"/>
          <a:sy n="75" d="100"/>
        </p:scale>
        <p:origin x="78" y="198"/>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8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5/24/2021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orkshop.aws-management.tools/cloudwatch/"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altLang="en-US" dirty="0" smtClean="0"/>
              <a:t>First delivered by: </a:t>
            </a:r>
          </a:p>
          <a:p>
            <a:pPr>
              <a:spcBef>
                <a:spcPct val="0"/>
              </a:spcBef>
            </a:pPr>
            <a:r>
              <a:rPr lang="en-US" altLang="en-US" dirty="0" smtClean="0"/>
              <a:t>Brian Carlson</a:t>
            </a:r>
          </a:p>
          <a:p>
            <a:pPr>
              <a:spcBef>
                <a:spcPct val="0"/>
              </a:spcBef>
            </a:pPr>
            <a:r>
              <a:rPr lang="en-US" altLang="en-US" dirty="0" smtClean="0"/>
              <a:t>Operational Excellence Lead</a:t>
            </a:r>
          </a:p>
          <a:p>
            <a:pPr>
              <a:spcBef>
                <a:spcPct val="0"/>
              </a:spcBef>
            </a:pPr>
            <a:r>
              <a:rPr lang="en-US" altLang="en-US" dirty="0" smtClean="0"/>
              <a:t>Well-Architected Program</a:t>
            </a:r>
          </a:p>
          <a:p>
            <a:pPr marL="0" marR="0" lvl="0" indent="0" algn="l" defTabSz="731520" rtl="0" eaLnBrk="1" fontAlgn="auto" latinLnBrk="0" hangingPunct="1">
              <a:lnSpc>
                <a:spcPct val="100000"/>
              </a:lnSpc>
              <a:spcBef>
                <a:spcPct val="0"/>
              </a:spcBef>
              <a:spcAft>
                <a:spcPts val="0"/>
              </a:spcAft>
              <a:buClrTx/>
              <a:buSzTx/>
              <a:buFontTx/>
              <a:buNone/>
              <a:tabLst/>
              <a:defRPr/>
            </a:pPr>
            <a:r>
              <a:rPr lang="en-US" dirty="0" smtClean="0">
                <a:solidFill>
                  <a:schemeClr val="bg1"/>
                </a:solidFill>
              </a:rPr>
              <a:t>10/18/2019</a:t>
            </a:r>
          </a:p>
          <a:p>
            <a:pPr>
              <a:spcBef>
                <a:spcPct val="0"/>
              </a:spcBef>
            </a:pPr>
            <a:endParaRPr lang="en-US" altLang="en-US" dirty="0" smtClean="0">
              <a:solidFill>
                <a:srgbClr val="FFFFFF"/>
              </a:solidFill>
              <a:latin typeface="Amazon Ember" panose="02000000000000000000" pitchFamily="2" charset="0"/>
            </a:endParaRP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310097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point of a robust monitoring strategy is to ensure that business and operations teams have insight into the applications that support the needs of the business.</a:t>
            </a:r>
          </a:p>
          <a:p>
            <a:endParaRPr lang="en-US" dirty="0" smtClean="0"/>
          </a:p>
          <a:p>
            <a:r>
              <a:rPr lang="en-US" dirty="0" smtClean="0"/>
              <a:t>Effective monitoring will help customers gain situational awareness, be proactive in order to prevent issues from occurring, respond efficiently and effectively when production impacting incidents occur, and ultimately to help them achieve their business outcomes.</a:t>
            </a:r>
          </a:p>
          <a:p>
            <a:r>
              <a:rPr lang="en-US" dirty="0" smtClean="0"/>
              <a:t>What you see today is a lab and PowerPoint you will all be able to get access to, so you don’t need to take notes.</a:t>
            </a:r>
          </a:p>
          <a:p>
            <a:r>
              <a:rPr lang="en-US" dirty="0" smtClean="0"/>
              <a:t>Eventually we plan to open source the lab for customers.</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a:t>
            </a:fld>
            <a:endParaRPr lang="en-US" dirty="0"/>
          </a:p>
        </p:txBody>
      </p:sp>
    </p:spTree>
    <p:extLst>
      <p:ext uri="{BB962C8B-B14F-4D97-AF65-F5344CB8AC3E}">
        <p14:creationId xmlns:p14="http://schemas.microsoft.com/office/powerpoint/2010/main" val="3573130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b="1" baseline="0" dirty="0" smtClean="0"/>
              <a:t>Note that a strategy includes a plan</a:t>
            </a:r>
          </a:p>
        </p:txBody>
      </p:sp>
      <p:sp>
        <p:nvSpPr>
          <p:cNvPr id="4" name="Slide Number Placeholder 3"/>
          <p:cNvSpPr>
            <a:spLocks noGrp="1"/>
          </p:cNvSpPr>
          <p:nvPr>
            <p:ph type="sldNum" sz="quarter" idx="10"/>
          </p:nvPr>
        </p:nvSpPr>
        <p:spPr/>
        <p:txBody>
          <a:bodyPr/>
          <a:lstStyle/>
          <a:p>
            <a:fld id="{69C3F2ED-74C5-7D4F-8560-0CC253E9A436}" type="slidenum">
              <a:rPr lang="en-US" smtClean="0"/>
              <a:pPr/>
              <a:t>3</a:t>
            </a:fld>
            <a:endParaRPr lang="en-US" dirty="0"/>
          </a:p>
        </p:txBody>
      </p:sp>
    </p:spTree>
    <p:extLst>
      <p:ext uri="{BB962C8B-B14F-4D97-AF65-F5344CB8AC3E}">
        <p14:creationId xmlns:p14="http://schemas.microsoft.com/office/powerpoint/2010/main" val="4048698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is a</a:t>
            </a:r>
            <a:r>
              <a:rPr lang="en-US" dirty="0" smtClean="0"/>
              <a:t> slide of “clichés”, but</a:t>
            </a:r>
            <a:r>
              <a:rPr lang="en-US" baseline="0" dirty="0" smtClean="0"/>
              <a:t> they are valid.</a:t>
            </a:r>
            <a:endParaRPr lang="en-US" dirty="0" smtClean="0"/>
          </a:p>
          <a:p>
            <a:endParaRPr lang="en-US" dirty="0" smtClean="0"/>
          </a:p>
          <a:p>
            <a:r>
              <a:rPr lang="en-US" dirty="0" smtClean="0"/>
              <a:t>Without a plan it is difficult to know whether or not they are monitoring the right things. This can result is both an overload of unnecessary information that makes it hard to understand the status of a workload, and it can also result in missing information that could be used to warn in a workload is at risk of not achieving its desired business outcomes.</a:t>
            </a:r>
          </a:p>
          <a:p>
            <a:endParaRPr lang="en-US" dirty="0" smtClean="0"/>
          </a:p>
          <a:p>
            <a:r>
              <a:rPr lang="en-US" dirty="0" smtClean="0"/>
              <a:t>In the end, as you will see written in many IT Service Management frameworks like ITIL (The information technology infrastructure library), you cannot manage what you do not measure.</a:t>
            </a:r>
          </a:p>
          <a:p>
            <a:endParaRPr lang="en-US" dirty="0" smtClean="0"/>
          </a:p>
          <a:p>
            <a:r>
              <a:rPr lang="en-US" dirty="0" smtClean="0"/>
              <a:t>A monitoring plan is how you document what the monitoring strategy is. You build a monitoring plan, because it defines what you will measure, and how you will measure it. </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4</a:t>
            </a:fld>
            <a:endParaRPr lang="en-US" dirty="0"/>
          </a:p>
        </p:txBody>
      </p:sp>
    </p:spTree>
    <p:extLst>
      <p:ext uri="{BB962C8B-B14F-4D97-AF65-F5344CB8AC3E}">
        <p14:creationId xmlns:p14="http://schemas.microsoft.com/office/powerpoint/2010/main" val="1563738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Discuss the severity of the implications of each of these.</a:t>
            </a:r>
          </a:p>
          <a:p>
            <a:r>
              <a:rPr lang="en-US" dirty="0" smtClean="0"/>
              <a:t>Green – generally a good and timely question</a:t>
            </a:r>
          </a:p>
          <a:p>
            <a:r>
              <a:rPr lang="en-US" dirty="0" smtClean="0"/>
              <a:t>Orange – time to have a conversation</a:t>
            </a:r>
          </a:p>
          <a:p>
            <a:r>
              <a:rPr lang="en-US" dirty="0" smtClean="0"/>
              <a:t>Red – take action, get</a:t>
            </a:r>
            <a:r>
              <a:rPr lang="en-US" baseline="0" dirty="0" smtClean="0"/>
              <a:t> engaged</a:t>
            </a:r>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5</a:t>
            </a:fld>
            <a:endParaRPr lang="en-US" dirty="0"/>
          </a:p>
        </p:txBody>
      </p:sp>
    </p:spTree>
    <p:extLst>
      <p:ext uri="{BB962C8B-B14F-4D97-AF65-F5344CB8AC3E}">
        <p14:creationId xmlns:p14="http://schemas.microsoft.com/office/powerpoint/2010/main" val="3258253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b="1" baseline="0" dirty="0" smtClean="0"/>
              <a:t>Note that a strategy includes a plan</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6</a:t>
            </a:fld>
            <a:endParaRPr lang="en-US" dirty="0"/>
          </a:p>
        </p:txBody>
      </p:sp>
    </p:spTree>
    <p:extLst>
      <p:ext uri="{BB962C8B-B14F-4D97-AF65-F5344CB8AC3E}">
        <p14:creationId xmlns:p14="http://schemas.microsoft.com/office/powerpoint/2010/main" val="2371056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07:00</a:t>
            </a:r>
          </a:p>
          <a:p>
            <a:r>
              <a:rPr lang="en-US" dirty="0" smtClean="0"/>
              <a:t>A monitoring strategy is based on the information lifecycle. Data that is collected when given context becomes information. The information can be correlated to create knowledge, and with analysis, the knowledge can be used to gain insight. The insights can be used to take informed actions, which in turn will lead to new data.</a:t>
            </a:r>
          </a:p>
          <a:p>
            <a:endParaRPr lang="en-US" dirty="0" smtClean="0"/>
          </a:p>
          <a:p>
            <a:r>
              <a:rPr lang="en-US" dirty="0" smtClean="0"/>
              <a:t>A complete monitoring plan will include Data, Information, and Knowledge from people that build and run systems.</a:t>
            </a:r>
          </a:p>
          <a:p>
            <a:r>
              <a:rPr lang="en-US" dirty="0" smtClean="0"/>
              <a:t>It will also include information and knowledge on the systems architecture, its components, configuration, and dependencies.</a:t>
            </a:r>
          </a:p>
          <a:p>
            <a:r>
              <a:rPr lang="en-US" dirty="0" smtClean="0"/>
              <a:t>It will then have telemetry that is a collection of data that represents the readings of the instrumentation from the components in a system.</a:t>
            </a:r>
          </a:p>
          <a:p>
            <a:r>
              <a:rPr lang="en-US" dirty="0" smtClean="0"/>
              <a:t>When we use the term “full-stack” telemetry we mean the application, and the infrastructure that supports the application.</a:t>
            </a:r>
          </a:p>
          <a:p>
            <a:r>
              <a:rPr lang="en-US" dirty="0" smtClean="0"/>
              <a:t>There will also be insights that are categorized based on all the business needs that are identified by all stakeholders.</a:t>
            </a:r>
          </a:p>
          <a:p>
            <a:r>
              <a:rPr lang="en-US" dirty="0" smtClean="0"/>
              <a:t>The monitoring plan will also include what actions must be taken based on the insights gained into the workload.</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7</a:t>
            </a:fld>
            <a:endParaRPr lang="en-US" dirty="0"/>
          </a:p>
        </p:txBody>
      </p:sp>
    </p:spTree>
    <p:extLst>
      <p:ext uri="{BB962C8B-B14F-4D97-AF65-F5344CB8AC3E}">
        <p14:creationId xmlns:p14="http://schemas.microsoft.com/office/powerpoint/2010/main" val="691547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gradFill>
                  <a:gsLst>
                    <a:gs pos="2917">
                      <a:schemeClr val="tx1"/>
                    </a:gs>
                    <a:gs pos="30000">
                      <a:schemeClr val="tx1"/>
                    </a:gs>
                  </a:gsLst>
                  <a:lin ang="5400000" scaled="0"/>
                </a:gradFill>
              </a:rPr>
              <a:t>09:30</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gradFill>
                  <a:gsLst>
                    <a:gs pos="2917">
                      <a:schemeClr val="tx1"/>
                    </a:gs>
                    <a:gs pos="30000">
                      <a:schemeClr val="tx1"/>
                    </a:gs>
                  </a:gsLst>
                  <a:lin ang="5400000" scaled="0"/>
                </a:gradFill>
              </a:rPr>
              <a:t>There are some key ways for Operations to know if it is successfully supporting the business</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gradFill>
                  <a:gsLst>
                    <a:gs pos="2917">
                      <a:schemeClr val="tx1"/>
                    </a:gs>
                    <a:gs pos="30000">
                      <a:schemeClr val="tx1"/>
                    </a:gs>
                  </a:gsLst>
                  <a:lin ang="5400000" scaled="0"/>
                </a:gradFill>
              </a:rPr>
              <a:t>The fist really is the concept of “System Level Thinking”, meaning that all parts of a system, and all those that have a vested interest in it (such as the line of business owners, the developers, operations, and security), have a shared understanding of values, priorities, and responsibility across the components of the system.</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dirty="0" smtClean="0">
              <a:gradFill>
                <a:gsLst>
                  <a:gs pos="2917">
                    <a:schemeClr val="tx1"/>
                  </a:gs>
                  <a:gs pos="30000">
                    <a:schemeClr val="tx1"/>
                  </a:gs>
                </a:gsLst>
                <a:lin ang="5400000" scaled="0"/>
              </a:gradFill>
            </a:endParaRP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gradFill>
                  <a:gsLst>
                    <a:gs pos="2917">
                      <a:schemeClr val="tx1"/>
                    </a:gs>
                    <a:gs pos="30000">
                      <a:schemeClr val="tx1"/>
                    </a:gs>
                  </a:gsLst>
                  <a:lin ang="5400000" scaled="0"/>
                </a:gradFill>
              </a:rPr>
              <a:t>The end goal is to establish Observability for all stakeholders across the components in the system using monitoring.</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gradFill>
                  <a:gsLst>
                    <a:gs pos="2917">
                      <a:schemeClr val="tx1"/>
                    </a:gs>
                    <a:gs pos="30000">
                      <a:schemeClr val="tx1"/>
                    </a:gs>
                  </a:gsLst>
                  <a:lin ang="5400000" scaled="0"/>
                </a:gradFill>
              </a:rPr>
              <a:t>That is done by establishing KPIs, collecting metrics, monitoring thresholds against metrics, and taking action when business outcomes are at risk.</a:t>
            </a:r>
          </a:p>
          <a:p>
            <a:pPr marL="514350" indent="-514350">
              <a:spcAft>
                <a:spcPts val="3000"/>
              </a:spcAft>
              <a:buClr>
                <a:schemeClr val="tx2">
                  <a:lumMod val="75000"/>
                </a:schemeClr>
              </a:buClr>
              <a:buFont typeface="+mj-lt"/>
              <a:buAutoNum type="arabicPeriod"/>
            </a:pPr>
            <a:r>
              <a:rPr lang="en-US" dirty="0" smtClean="0">
                <a:gradFill>
                  <a:gsLst>
                    <a:gs pos="2917">
                      <a:schemeClr val="tx1"/>
                    </a:gs>
                    <a:gs pos="30000">
                      <a:schemeClr val="tx1"/>
                    </a:gs>
                  </a:gsLst>
                  <a:lin ang="5400000" scaled="0"/>
                </a:gradFill>
              </a:rPr>
              <a:t>Determine the business requirements and desired outcomes </a:t>
            </a:r>
          </a:p>
          <a:p>
            <a:pPr marL="514350" indent="-514350">
              <a:spcAft>
                <a:spcPts val="3000"/>
              </a:spcAft>
              <a:buClr>
                <a:schemeClr val="tx2">
                  <a:lumMod val="75000"/>
                </a:schemeClr>
              </a:buClr>
              <a:buFont typeface="+mj-lt"/>
              <a:buAutoNum type="arabicPeriod"/>
            </a:pPr>
            <a:r>
              <a:rPr lang="en-US" dirty="0" smtClean="0">
                <a:gradFill>
                  <a:gsLst>
                    <a:gs pos="2917">
                      <a:schemeClr val="tx1"/>
                    </a:gs>
                    <a:gs pos="30000">
                      <a:schemeClr val="tx1"/>
                    </a:gs>
                  </a:gsLst>
                  <a:lin ang="5400000" scaled="0"/>
                </a:gradFill>
              </a:rPr>
              <a:t>Establish KPIs based on business outcomes</a:t>
            </a:r>
          </a:p>
          <a:p>
            <a:pPr marL="514350" indent="-514350">
              <a:spcAft>
                <a:spcPts val="3000"/>
              </a:spcAft>
              <a:buClr>
                <a:schemeClr val="tx2">
                  <a:lumMod val="75000"/>
                </a:schemeClr>
              </a:buClr>
              <a:buFont typeface="+mj-lt"/>
              <a:buAutoNum type="arabicPeriod"/>
            </a:pPr>
            <a:r>
              <a:rPr lang="en-US" dirty="0" smtClean="0">
                <a:gradFill>
                  <a:gsLst>
                    <a:gs pos="2917">
                      <a:schemeClr val="tx1"/>
                    </a:gs>
                    <a:gs pos="30000">
                      <a:schemeClr val="tx1"/>
                    </a:gs>
                  </a:gsLst>
                  <a:lin ang="5400000" scaled="0"/>
                </a:gradFill>
              </a:rPr>
              <a:t>Collect metrics that measure against those KPIs</a:t>
            </a:r>
          </a:p>
          <a:p>
            <a:pPr marL="514350" indent="-514350">
              <a:spcAft>
                <a:spcPts val="3000"/>
              </a:spcAft>
              <a:buClr>
                <a:schemeClr val="tx2">
                  <a:lumMod val="75000"/>
                </a:schemeClr>
              </a:buClr>
              <a:buFont typeface="+mj-lt"/>
              <a:buAutoNum type="arabicPeriod"/>
            </a:pPr>
            <a:r>
              <a:rPr lang="en-US" dirty="0" smtClean="0">
                <a:gradFill>
                  <a:gsLst>
                    <a:gs pos="2917">
                      <a:schemeClr val="tx1"/>
                    </a:gs>
                    <a:gs pos="30000">
                      <a:schemeClr val="tx1"/>
                    </a:gs>
                  </a:gsLst>
                  <a:lin ang="5400000" scaled="0"/>
                </a:gradFill>
              </a:rPr>
              <a:t>Develop monitoring based on those metrics</a:t>
            </a:r>
          </a:p>
          <a:p>
            <a:pPr marL="514350" indent="-514350">
              <a:spcAft>
                <a:spcPts val="3000"/>
              </a:spcAft>
              <a:buClr>
                <a:schemeClr val="tx2">
                  <a:lumMod val="75000"/>
                </a:schemeClr>
              </a:buClr>
              <a:buFont typeface="+mj-lt"/>
              <a:buAutoNum type="arabicPeriod"/>
            </a:pPr>
            <a:r>
              <a:rPr lang="en-US" dirty="0" smtClean="0">
                <a:gradFill>
                  <a:gsLst>
                    <a:gs pos="2917">
                      <a:schemeClr val="tx1"/>
                    </a:gs>
                    <a:gs pos="30000">
                      <a:schemeClr val="tx1"/>
                    </a:gs>
                  </a:gsLst>
                  <a:lin ang="5400000" scaled="0"/>
                </a:gradFill>
              </a:rPr>
              <a:t>Take action when monitoring shows risks to business outcomes</a:t>
            </a:r>
          </a:p>
          <a:p>
            <a:endParaRPr lang="en-US" dirty="0" smtClean="0">
              <a:latin typeface="Amazon Ember" panose="020B0603020204020204" pitchFamily="34" charset="0"/>
              <a:ea typeface="Amazon Ember" panose="020B0603020204020204" pitchFamily="34" charset="0"/>
              <a:cs typeface="Amazon Ember" panose="020B0603020204020204" pitchFamily="34" charset="0"/>
            </a:endParaRP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1942664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a:t>
            </a:r>
            <a:r>
              <a:rPr lang="en-US" baseline="0" dirty="0" smtClean="0"/>
              <a:t> you have a monitoring strategy?</a:t>
            </a:r>
          </a:p>
          <a:p>
            <a:r>
              <a:rPr lang="en-US" baseline="0" dirty="0" smtClean="0"/>
              <a:t>Yes</a:t>
            </a:r>
          </a:p>
          <a:p>
            <a:r>
              <a:rPr lang="en-US" baseline="0" dirty="0" smtClean="0"/>
              <a:t>It is a work in progress</a:t>
            </a:r>
          </a:p>
          <a:p>
            <a:r>
              <a:rPr lang="en-US" baseline="0" dirty="0" smtClean="0"/>
              <a:t>Not yet</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10</a:t>
            </a:fld>
            <a:endParaRPr lang="en-US" dirty="0"/>
          </a:p>
        </p:txBody>
      </p:sp>
    </p:spTree>
    <p:extLst>
      <p:ext uri="{BB962C8B-B14F-4D97-AF65-F5344CB8AC3E}">
        <p14:creationId xmlns:p14="http://schemas.microsoft.com/office/powerpoint/2010/main" val="2511811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10:00</a:t>
            </a:r>
          </a:p>
          <a:p>
            <a:r>
              <a:rPr lang="en-US" dirty="0" smtClean="0"/>
              <a:t>For full-stack telemetry to allow for observability across an application workload. Amazon CloudWatch can help collect infrastructure telemetry. AWS X-Ray can help collect application level telemetry through distributed tracing.</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11</a:t>
            </a:fld>
            <a:endParaRPr lang="en-US" dirty="0"/>
          </a:p>
        </p:txBody>
      </p:sp>
    </p:spTree>
    <p:extLst>
      <p:ext uri="{BB962C8B-B14F-4D97-AF65-F5344CB8AC3E}">
        <p14:creationId xmlns:p14="http://schemas.microsoft.com/office/powerpoint/2010/main" val="2666776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smtClean="0"/>
              <a:t>Three legged stool</a:t>
            </a:r>
          </a:p>
          <a:p>
            <a:endParaRPr lang="en-US" b="0" baseline="0" dirty="0" smtClean="0"/>
          </a:p>
          <a:p>
            <a:r>
              <a:rPr lang="en-US" b="0" baseline="0" dirty="0" smtClean="0"/>
              <a:t>It take the biz, ops, and dev.</a:t>
            </a:r>
            <a:endParaRPr lang="en-US" b="0" baseline="0"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12</a:t>
            </a:fld>
            <a:endParaRPr lang="en-US" dirty="0"/>
          </a:p>
        </p:txBody>
      </p:sp>
    </p:spTree>
    <p:extLst>
      <p:ext uri="{BB962C8B-B14F-4D97-AF65-F5344CB8AC3E}">
        <p14:creationId xmlns:p14="http://schemas.microsoft.com/office/powerpoint/2010/main" val="116437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13:00</a:t>
            </a:r>
          </a:p>
          <a:p>
            <a:r>
              <a:rPr lang="en-US" dirty="0" smtClean="0"/>
              <a:t>Who are</a:t>
            </a:r>
            <a:r>
              <a:rPr lang="en-US" baseline="0" dirty="0" smtClean="0"/>
              <a:t> the personas? Who will consume information from or about the workload?</a:t>
            </a:r>
          </a:p>
          <a:p>
            <a:r>
              <a:rPr lang="en-US" baseline="0" dirty="0" smtClean="0"/>
              <a:t>What are their responsibilities? What are their needs?</a:t>
            </a:r>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13</a:t>
            </a:fld>
            <a:endParaRPr lang="en-US" dirty="0"/>
          </a:p>
        </p:txBody>
      </p:sp>
    </p:spTree>
    <p:extLst>
      <p:ext uri="{BB962C8B-B14F-4D97-AF65-F5344CB8AC3E}">
        <p14:creationId xmlns:p14="http://schemas.microsoft.com/office/powerpoint/2010/main" val="842525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15:00</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Discuss the columns and one row as details.</a:t>
            </a:r>
            <a:r>
              <a:rPr lang="en-US" baseline="0" dirty="0" smtClean="0"/>
              <a:t> Discuss the quality of the examples and how they could be developed to be more appropriate/relevant.</a:t>
            </a:r>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The SMART test should apply. </a:t>
            </a:r>
            <a:r>
              <a:rPr lang="en-US" i="1" dirty="0" smtClean="0"/>
              <a:t>Specific</a:t>
            </a:r>
            <a:r>
              <a:rPr lang="en-US" dirty="0" smtClean="0"/>
              <a:t>  </a:t>
            </a:r>
            <a:r>
              <a:rPr lang="en-US" i="1" dirty="0" smtClean="0"/>
              <a:t>Measurable</a:t>
            </a:r>
            <a:r>
              <a:rPr lang="en-US" dirty="0" smtClean="0"/>
              <a:t>   </a:t>
            </a:r>
            <a:r>
              <a:rPr lang="en-US" i="1" dirty="0" err="1" smtClean="0"/>
              <a:t>Acheivable</a:t>
            </a:r>
            <a:r>
              <a:rPr lang="en-US" i="1" dirty="0" smtClean="0"/>
              <a:t>  Realistic  Timely</a:t>
            </a:r>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dirty="0" smtClean="0"/>
          </a:p>
          <a:p>
            <a:r>
              <a:rPr lang="en-US" dirty="0" smtClean="0"/>
              <a:t>Consider that last example, it doesn’t include non-peak</a:t>
            </a:r>
            <a:r>
              <a:rPr lang="en-US" baseline="0" dirty="0" smtClean="0"/>
              <a:t> versus peak periods, it doesn’t consider transfer rate, it doesn’t consider maximum bandwidth available to the customer, doesn’t consider latency </a:t>
            </a:r>
            <a:r>
              <a:rPr lang="en-US" baseline="0" dirty="0" err="1" smtClean="0"/>
              <a:t>etc</a:t>
            </a:r>
            <a:r>
              <a:rPr lang="en-US" baseline="0" dirty="0" smtClean="0"/>
              <a:t>, or transitory event. So it’s a bad KPI, and the outcome and what good looks like are poorly defined.</a:t>
            </a:r>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14</a:t>
            </a:fld>
            <a:endParaRPr lang="en-US" dirty="0"/>
          </a:p>
        </p:txBody>
      </p:sp>
    </p:spTree>
    <p:extLst>
      <p:ext uri="{BB962C8B-B14F-4D97-AF65-F5344CB8AC3E}">
        <p14:creationId xmlns:p14="http://schemas.microsoft.com/office/powerpoint/2010/main" val="3381978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14:00</a:t>
            </a:r>
          </a:p>
          <a:p>
            <a:r>
              <a:rPr lang="en-US" dirty="0" smtClean="0"/>
              <a:t>Discuss the columns and one row as details. </a:t>
            </a:r>
          </a:p>
          <a:p>
            <a:r>
              <a:rPr lang="en-US" dirty="0" smtClean="0"/>
              <a:t>Potential</a:t>
            </a:r>
            <a:r>
              <a:rPr lang="en-US" baseline="0" dirty="0" smtClean="0"/>
              <a:t> sources of information to create metrics for the KPIs.</a:t>
            </a:r>
          </a:p>
          <a:p>
            <a:r>
              <a:rPr lang="en-US" baseline="0" dirty="0" smtClean="0"/>
              <a:t>Part of the emphasis is that there might not currently be an information source available.</a:t>
            </a:r>
          </a:p>
          <a:p>
            <a:r>
              <a:rPr lang="en-US" baseline="0" dirty="0" smtClean="0"/>
              <a:t>Development may be required to emit the telemetry needed.</a:t>
            </a:r>
          </a:p>
          <a:p>
            <a:r>
              <a:rPr lang="en-US" baseline="0" dirty="0" smtClean="0"/>
              <a:t>Or at least engagement with the developers to identify additional sources of information.</a:t>
            </a:r>
          </a:p>
          <a:p>
            <a:r>
              <a:rPr lang="en-US" baseline="0" dirty="0" smtClean="0"/>
              <a:t>In this example, the log path to image trends was not intuitive and we had to reach back to the developer to discover where the logs were located.</a:t>
            </a:r>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15</a:t>
            </a:fld>
            <a:endParaRPr lang="en-US" dirty="0"/>
          </a:p>
        </p:txBody>
      </p:sp>
    </p:spTree>
    <p:extLst>
      <p:ext uri="{BB962C8B-B14F-4D97-AF65-F5344CB8AC3E}">
        <p14:creationId xmlns:p14="http://schemas.microsoft.com/office/powerpoint/2010/main" val="2609222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15:00</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Discuss the columns and one row as details.</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Metrics formally defined, thresholds established.</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Discuss</a:t>
            </a:r>
            <a:r>
              <a:rPr lang="en-US" baseline="0" dirty="0" smtClean="0"/>
              <a:t> that threshold development is the result of testing and determining what is appropriate if not part of a KPI definition.</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Anecdote about the “Golden Metrics”. </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Question: “What CPU utilization is acceptable?” </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Answer: “I don’t know, what CPU utilization is acceptable?”</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Use case specific, defined thresholds based on testing.</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16</a:t>
            </a:fld>
            <a:endParaRPr lang="en-US" dirty="0"/>
          </a:p>
        </p:txBody>
      </p:sp>
    </p:spTree>
    <p:extLst>
      <p:ext uri="{BB962C8B-B14F-4D97-AF65-F5344CB8AC3E}">
        <p14:creationId xmlns:p14="http://schemas.microsoft.com/office/powerpoint/2010/main" val="3207214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16:00</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Discuss the columns and one row as details</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Note that some reporting,</a:t>
            </a:r>
            <a:r>
              <a:rPr lang="en-US" baseline="0" dirty="0" smtClean="0"/>
              <a:t> such as compliance reporting, is critical specifically when the report is due to regulators.</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Other reporting has much softer delivery requirements (time to action) and satisfying that should be taken into consideration.</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Reporting discussion is contrast to alerts. Content needed with different time horizon.</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baseline="0"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Note also that some trends from reporting may result in alerts if the trend is towards failure in the near term, i.e. action is required immediately.</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17</a:t>
            </a:fld>
            <a:endParaRPr lang="en-US" dirty="0"/>
          </a:p>
        </p:txBody>
      </p:sp>
    </p:spTree>
    <p:extLst>
      <p:ext uri="{BB962C8B-B14F-4D97-AF65-F5344CB8AC3E}">
        <p14:creationId xmlns:p14="http://schemas.microsoft.com/office/powerpoint/2010/main" val="1531561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17:00</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Discuss the columns and one row as details</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Key take-</a:t>
            </a:r>
            <a:r>
              <a:rPr lang="en-US" dirty="0" err="1" smtClean="0"/>
              <a:t>aways</a:t>
            </a:r>
            <a:r>
              <a:rPr lang="en-US" baseline="0" dirty="0" smtClean="0"/>
              <a:t> from this slide: If the “action” is not something that happens on an alert/alarm then it really doesn’t belong in here and will just be noise.</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The “Delete the bad image” on “more than 1 image error” belongs here; its immediate action required and can be triggered on event.</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The “Determine if further action is required” alarms may belong here, that is a discussion with the customer, and involves human interaction. </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baseline="0"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Can the investigation be automated? Can you do more before contacting a person? Can you make a more detailed determination before involving a human?</a:t>
            </a:r>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he “Prioritize backlog” does not belong here.</a:t>
            </a:r>
          </a:p>
          <a:p>
            <a:pPr marL="0" marR="0" lvl="0" indent="0" algn="l" defTabSz="1096963" rtl="0" eaLnBrk="1" fontAlgn="base" latinLnBrk="0" hangingPunct="1">
              <a:lnSpc>
                <a:spcPct val="90000"/>
              </a:lnSpc>
              <a:spcBef>
                <a:spcPct val="30000"/>
              </a:spcBef>
              <a:spcAft>
                <a:spcPts val="400"/>
              </a:spcAft>
              <a:buClrTx/>
              <a:buSzTx/>
              <a:buFontTx/>
              <a:buNone/>
              <a:tabLst/>
              <a:defRPr/>
            </a:pPr>
            <a:endParaRPr lang="en-US" baseline="0"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baseline="0" dirty="0" smtClean="0"/>
              <a:t>I like to go back to slide 12 and summarize the journey and key takeaways before moving on from this slide.</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18</a:t>
            </a:fld>
            <a:endParaRPr lang="en-US" dirty="0"/>
          </a:p>
        </p:txBody>
      </p:sp>
    </p:spTree>
    <p:extLst>
      <p:ext uri="{BB962C8B-B14F-4D97-AF65-F5344CB8AC3E}">
        <p14:creationId xmlns:p14="http://schemas.microsoft.com/office/powerpoint/2010/main" val="3355087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Can you trace your metrics back to a KPI and Business Outcome?</a:t>
            </a:r>
          </a:p>
          <a:p>
            <a:r>
              <a:rPr lang="en-US" dirty="0" smtClean="0"/>
              <a:t>Yes</a:t>
            </a:r>
          </a:p>
          <a:p>
            <a:r>
              <a:rPr lang="en-US" dirty="0" smtClean="0"/>
              <a:t>No</a:t>
            </a:r>
          </a:p>
          <a:p>
            <a:r>
              <a:rPr lang="en-US" dirty="0" smtClean="0"/>
              <a:t>Working on it</a:t>
            </a:r>
          </a:p>
          <a:p>
            <a:endParaRPr lang="en-US" dirty="0" smtClean="0"/>
          </a:p>
          <a:p>
            <a:r>
              <a:rPr lang="en-US" dirty="0" smtClean="0"/>
              <a:t>Do you know “what good looks like”?</a:t>
            </a:r>
          </a:p>
          <a:p>
            <a:r>
              <a:rPr lang="en-US" dirty="0" smtClean="0"/>
              <a:t>Yes</a:t>
            </a:r>
          </a:p>
          <a:p>
            <a:r>
              <a:rPr lang="en-US" dirty="0" smtClean="0"/>
              <a:t>No</a:t>
            </a:r>
          </a:p>
          <a:p>
            <a:r>
              <a:rPr lang="en-US" dirty="0" smtClean="0"/>
              <a:t>Working on it</a:t>
            </a:r>
          </a:p>
          <a:p>
            <a:endParaRPr lang="en-US" dirty="0" smtClean="0"/>
          </a:p>
          <a:p>
            <a:r>
              <a:rPr lang="en-US" dirty="0" smtClean="0"/>
              <a:t>Do you have a process for every alert you generate?</a:t>
            </a:r>
          </a:p>
          <a:p>
            <a:r>
              <a:rPr lang="en-US" dirty="0" smtClean="0"/>
              <a:t>Yes</a:t>
            </a:r>
          </a:p>
          <a:p>
            <a:r>
              <a:rPr lang="en-US" dirty="0" smtClean="0"/>
              <a:t>No</a:t>
            </a:r>
          </a:p>
          <a:p>
            <a:r>
              <a:rPr lang="en-US" dirty="0" smtClean="0"/>
              <a:t>Working on it</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19</a:t>
            </a:fld>
            <a:endParaRPr lang="en-US" dirty="0"/>
          </a:p>
        </p:txBody>
      </p:sp>
    </p:spTree>
    <p:extLst>
      <p:ext uri="{BB962C8B-B14F-4D97-AF65-F5344CB8AC3E}">
        <p14:creationId xmlns:p14="http://schemas.microsoft.com/office/powerpoint/2010/main" val="932415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Walk through action step-by-step</a:t>
            </a:r>
          </a:p>
          <a:p>
            <a:r>
              <a:rPr lang="en-US" dirty="0" smtClean="0"/>
              <a:t>This is the steps we are about to demonstrate in depth</a:t>
            </a:r>
          </a:p>
          <a:p>
            <a:endParaRPr lang="en-US" dirty="0" smtClean="0"/>
          </a:p>
          <a:p>
            <a:r>
              <a:rPr lang="en-US" sz="2000" b="0" i="0" kern="1200" dirty="0" smtClean="0">
                <a:solidFill>
                  <a:schemeClr val="tx1"/>
                </a:solidFill>
                <a:effectLst/>
                <a:latin typeface="Amazon Ember Regular" charset="0"/>
                <a:ea typeface="+mn-ea"/>
                <a:cs typeface="+mn-cs"/>
              </a:rPr>
              <a:t>The lab is not currently in GitHub but the content can be found here as of 20191009:</a:t>
            </a:r>
          </a:p>
          <a:p>
            <a:r>
              <a:rPr lang="en-US" sz="2000" b="0" i="0" u="sng" kern="1200" dirty="0" smtClean="0">
                <a:solidFill>
                  <a:schemeClr val="tx1"/>
                </a:solidFill>
                <a:effectLst/>
                <a:latin typeface="Amazon Ember Regular" charset="0"/>
                <a:ea typeface="+mn-ea"/>
                <a:cs typeface="+mn-cs"/>
                <a:hlinkClick r:id="rId3"/>
              </a:rPr>
              <a:t>https://workshop.aws-management.tools/cloudwatch/</a:t>
            </a:r>
            <a:endParaRPr lang="en-US" dirty="0" smtClean="0"/>
          </a:p>
          <a:p>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sz="2000" i="1" dirty="0" smtClean="0"/>
              <a:t>Here is what the solution looks like…</a:t>
            </a:r>
          </a:p>
          <a:p>
            <a:endParaRPr lang="en-US" dirty="0" smtClean="0"/>
          </a:p>
          <a:p>
            <a:pPr>
              <a:spcBef>
                <a:spcPts val="0"/>
              </a:spcBef>
              <a:spcAft>
                <a:spcPts val="2000"/>
              </a:spcAft>
            </a:pPr>
            <a:r>
              <a:rPr lang="en-US" b="1" dirty="0" smtClean="0"/>
              <a:t>So what does monitoring look like in a real-world example?</a:t>
            </a:r>
          </a:p>
          <a:p>
            <a:pPr marL="457200" indent="-457200">
              <a:spcBef>
                <a:spcPts val="0"/>
              </a:spcBef>
              <a:spcAft>
                <a:spcPts val="2000"/>
              </a:spcAft>
              <a:buClr>
                <a:srgbClr val="5983F7"/>
              </a:buClr>
              <a:buFont typeface="Arial" panose="020B0604020202020204" pitchFamily="34" charset="0"/>
              <a:buChar char="•"/>
            </a:pPr>
            <a:r>
              <a:rPr lang="en-US" dirty="0" smtClean="0"/>
              <a:t>Uptime is a key business </a:t>
            </a:r>
            <a:r>
              <a:rPr lang="en-US" dirty="0" smtClean="0">
                <a:solidFill>
                  <a:srgbClr val="FFFFFF"/>
                </a:solidFill>
              </a:rPr>
              <a:t>requirement</a:t>
            </a:r>
            <a:endParaRPr lang="en-US" dirty="0" smtClean="0">
              <a:solidFill>
                <a:srgbClr val="FFFFFF"/>
              </a:solidFill>
              <a:latin typeface="Amazon Ember" panose="02000000000000000000" pitchFamily="2" charset="0"/>
            </a:endParaRPr>
          </a:p>
          <a:p>
            <a:pPr marL="457200" indent="-457200">
              <a:spcBef>
                <a:spcPts val="0"/>
              </a:spcBef>
              <a:spcAft>
                <a:spcPts val="2000"/>
              </a:spcAft>
              <a:buClr>
                <a:srgbClr val="5983F7"/>
              </a:buClr>
              <a:buFont typeface="Arial" panose="020B0604020202020204" pitchFamily="34" charset="0"/>
              <a:buChar char="•"/>
            </a:pPr>
            <a:r>
              <a:rPr lang="en-US" dirty="0" smtClean="0"/>
              <a:t>There is a known issue with </a:t>
            </a:r>
            <a:r>
              <a:rPr lang="en-US" dirty="0" err="1" smtClean="0">
                <a:solidFill>
                  <a:srgbClr val="FFFFFF"/>
                </a:solidFill>
              </a:rPr>
              <a:t>Imagetrends</a:t>
            </a:r>
            <a:endParaRPr lang="en-US" dirty="0" smtClean="0">
              <a:solidFill>
                <a:srgbClr val="FFFFFF"/>
              </a:solidFill>
              <a:latin typeface="Amazon Ember" panose="02000000000000000000" pitchFamily="2" charset="0"/>
            </a:endParaRPr>
          </a:p>
          <a:p>
            <a:pPr marL="457200" indent="-457200">
              <a:spcBef>
                <a:spcPts val="0"/>
              </a:spcBef>
              <a:spcAft>
                <a:spcPts val="2000"/>
              </a:spcAft>
              <a:buClr>
                <a:srgbClr val="5983F7"/>
              </a:buClr>
              <a:buFont typeface="Arial" panose="020B0604020202020204" pitchFamily="34" charset="0"/>
              <a:buChar char="•"/>
            </a:pPr>
            <a:r>
              <a:rPr lang="en-US" dirty="0" smtClean="0"/>
              <a:t>The </a:t>
            </a:r>
            <a:r>
              <a:rPr lang="en-US" dirty="0" err="1" smtClean="0"/>
              <a:t>devs</a:t>
            </a:r>
            <a:r>
              <a:rPr lang="en-US" dirty="0" smtClean="0"/>
              <a:t> don’t have cycles to resolve it right </a:t>
            </a:r>
            <a:r>
              <a:rPr lang="en-US" dirty="0" smtClean="0">
                <a:solidFill>
                  <a:srgbClr val="FFFFFF"/>
                </a:solidFill>
              </a:rPr>
              <a:t>now</a:t>
            </a:r>
            <a:endParaRPr lang="en-US" dirty="0" smtClean="0">
              <a:solidFill>
                <a:srgbClr val="FFFFFF"/>
              </a:solidFill>
              <a:latin typeface="Amazon Ember" panose="02000000000000000000" pitchFamily="2" charset="0"/>
            </a:endParaRPr>
          </a:p>
          <a:p>
            <a:pPr marL="457200" indent="-457200">
              <a:spcBef>
                <a:spcPts val="0"/>
              </a:spcBef>
              <a:spcAft>
                <a:spcPts val="2000"/>
              </a:spcAft>
              <a:buClr>
                <a:srgbClr val="5983F7"/>
              </a:buClr>
              <a:buFont typeface="Arial" panose="020B0604020202020204" pitchFamily="34" charset="0"/>
              <a:buChar char="•"/>
            </a:pPr>
            <a:r>
              <a:rPr lang="en-US" dirty="0" smtClean="0"/>
              <a:t>Dev </a:t>
            </a:r>
            <a:r>
              <a:rPr lang="en-US" dirty="0" smtClean="0">
                <a:solidFill>
                  <a:srgbClr val="FFFFFF"/>
                </a:solidFill>
              </a:rPr>
              <a:t>told the operations team</a:t>
            </a:r>
            <a:r>
              <a:rPr lang="en-US" dirty="0" smtClean="0"/>
              <a:t> how to temporarily fix it</a:t>
            </a:r>
          </a:p>
          <a:p>
            <a:pPr marL="457200" indent="-457200">
              <a:spcBef>
                <a:spcPts val="0"/>
              </a:spcBef>
              <a:spcAft>
                <a:spcPts val="2000"/>
              </a:spcAft>
              <a:buClr>
                <a:srgbClr val="5983F7"/>
              </a:buClr>
              <a:buFont typeface="Arial" panose="020B0604020202020204" pitchFamily="34" charset="0"/>
              <a:buChar char="•"/>
            </a:pPr>
            <a:r>
              <a:rPr lang="en-US" dirty="0" smtClean="0"/>
              <a:t>Ops </a:t>
            </a:r>
            <a:r>
              <a:rPr lang="en-US" dirty="0" smtClean="0">
                <a:solidFill>
                  <a:srgbClr val="FFFFFF"/>
                </a:solidFill>
              </a:rPr>
              <a:t>needs to</a:t>
            </a:r>
            <a:r>
              <a:rPr lang="en-US" dirty="0" smtClean="0"/>
              <a:t> identify and resolve it as quickly as </a:t>
            </a:r>
            <a:r>
              <a:rPr lang="en-US" dirty="0" smtClean="0">
                <a:solidFill>
                  <a:srgbClr val="FFFFFF"/>
                </a:solidFill>
              </a:rPr>
              <a:t>possible</a:t>
            </a:r>
            <a:endParaRPr lang="en-US" dirty="0" smtClean="0">
              <a:solidFill>
                <a:srgbClr val="FFFFFF"/>
              </a:solidFill>
              <a:latin typeface="Amazon Ember" panose="02000000000000000000" pitchFamily="2" charset="0"/>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21</a:t>
            </a:fld>
            <a:endParaRPr lang="en-US" dirty="0"/>
          </a:p>
        </p:txBody>
      </p:sp>
    </p:spTree>
    <p:extLst>
      <p:ext uri="{BB962C8B-B14F-4D97-AF65-F5344CB8AC3E}">
        <p14:creationId xmlns:p14="http://schemas.microsoft.com/office/powerpoint/2010/main" val="1948545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a:t>
            </a:r>
            <a:r>
              <a:rPr lang="en-US" baseline="0" dirty="0" smtClean="0"/>
              <a:t> you have any automated responses to events in your environment?</a:t>
            </a:r>
            <a:endParaRPr lang="en-US" dirty="0" smtClean="0"/>
          </a:p>
          <a:p>
            <a:r>
              <a:rPr lang="en-US" dirty="0" smtClean="0"/>
              <a:t>Yes</a:t>
            </a:r>
          </a:p>
          <a:p>
            <a:r>
              <a:rPr lang="en-US" dirty="0" smtClean="0"/>
              <a:t>No</a:t>
            </a:r>
          </a:p>
          <a:p>
            <a:r>
              <a:rPr lang="en-US" dirty="0" smtClean="0"/>
              <a:t>Working on it</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026052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dirty="0" smtClean="0"/>
              <a:t>Metrics are the measurements we use against raw data to yield information, knowledge, and insights. There are a lot of ways to generate metrics, they should all be based on what your monitoring plan dictates the business needs in order to take effective action. Amazon CloudWatch has several methods for establishing metrics. You can use the metrics already in CloudWatch, as well as creating custom metrics using log filters. You can also use Metric math, which enables you to query multiple CloudWatch metrics and use math expressions to create new time series based on these metrics.</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24</a:t>
            </a:fld>
            <a:endParaRPr lang="en-US" dirty="0"/>
          </a:p>
        </p:txBody>
      </p:sp>
    </p:spTree>
    <p:extLst>
      <p:ext uri="{BB962C8B-B14F-4D97-AF65-F5344CB8AC3E}">
        <p14:creationId xmlns:p14="http://schemas.microsoft.com/office/powerpoint/2010/main" val="2370996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dirty="0" smtClean="0"/>
              <a:t>Alarms should be tied to business </a:t>
            </a:r>
            <a:r>
              <a:rPr lang="en-US" sz="2000" dirty="0" smtClean="0">
                <a:solidFill>
                  <a:srgbClr val="FFFFFF"/>
                </a:solidFill>
              </a:rPr>
              <a:t>outcomes</a:t>
            </a:r>
            <a:r>
              <a:rPr lang="en-US" sz="2000" baseline="0" dirty="0" smtClean="0">
                <a:solidFill>
                  <a:schemeClr val="tx1"/>
                </a:solidFill>
              </a:rPr>
              <a:t> – emphasis</a:t>
            </a:r>
            <a:endParaRPr lang="en-US" sz="2000" dirty="0" smtClean="0">
              <a:solidFill>
                <a:srgbClr val="FFFFFF"/>
              </a:solidFill>
              <a:latin typeface="Amazon Ember" panose="02000000000000000000" pitchFamily="2" charset="0"/>
            </a:endParaRP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25</a:t>
            </a:fld>
            <a:endParaRPr lang="en-US" dirty="0"/>
          </a:p>
        </p:txBody>
      </p:sp>
    </p:spTree>
    <p:extLst>
      <p:ext uri="{BB962C8B-B14F-4D97-AF65-F5344CB8AC3E}">
        <p14:creationId xmlns:p14="http://schemas.microsoft.com/office/powerpoint/2010/main" val="58218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Review the learnings</a:t>
            </a:r>
          </a:p>
          <a:p>
            <a:r>
              <a:rPr lang="en-US" dirty="0" smtClean="0"/>
              <a:t>*** Call to action ***</a:t>
            </a:r>
          </a:p>
          <a:p>
            <a:r>
              <a:rPr lang="en-US" dirty="0" smtClean="0"/>
              <a:t>Understand how AWS approaches Operational Excellence, which is exactly</a:t>
            </a:r>
            <a:r>
              <a:rPr lang="en-US" baseline="0" dirty="0" smtClean="0"/>
              <a:t> </a:t>
            </a:r>
            <a:r>
              <a:rPr lang="en-US" dirty="0" smtClean="0"/>
              <a:t>what this presentation and lab are based on.</a:t>
            </a:r>
          </a:p>
          <a:p>
            <a:endParaRPr lang="en-US" dirty="0" smtClean="0"/>
          </a:p>
          <a:p>
            <a:pPr marL="0" marR="0" lvl="0" indent="0" algn="l" defTabSz="1096963" rtl="0" eaLnBrk="1" fontAlgn="base" latinLnBrk="0" hangingPunct="1">
              <a:lnSpc>
                <a:spcPct val="90000"/>
              </a:lnSpc>
              <a:spcBef>
                <a:spcPct val="30000"/>
              </a:spcBef>
              <a:spcAft>
                <a:spcPts val="400"/>
              </a:spcAft>
              <a:buClrTx/>
              <a:buSzTx/>
              <a:buFontTx/>
              <a:buNone/>
              <a:tabLst/>
              <a:defRPr/>
            </a:pPr>
            <a:r>
              <a:rPr lang="en-US" dirty="0" smtClean="0"/>
              <a:t>Walk through each of the step to develop a monitoring </a:t>
            </a:r>
            <a:r>
              <a:rPr lang="en-US" dirty="0" smtClean="0">
                <a:solidFill>
                  <a:srgbClr val="FFFFFF"/>
                </a:solidFill>
              </a:rPr>
              <a:t>plan - *keep what</a:t>
            </a:r>
            <a:r>
              <a:rPr lang="en-US" baseline="0" dirty="0" smtClean="0">
                <a:solidFill>
                  <a:srgbClr val="FFFFFF"/>
                </a:solidFill>
              </a:rPr>
              <a:t> you capture as documentation of the workload.</a:t>
            </a:r>
            <a:endParaRPr lang="en-US" dirty="0" smtClean="0">
              <a:solidFill>
                <a:srgbClr val="FFFFFF"/>
              </a:solidFill>
              <a:latin typeface="Amazon Ember" panose="02000000000000000000" pitchFamily="2" charset="0"/>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28</a:t>
            </a:fld>
            <a:endParaRPr lang="en-US" dirty="0"/>
          </a:p>
        </p:txBody>
      </p:sp>
    </p:spTree>
    <p:extLst>
      <p:ext uri="{BB962C8B-B14F-4D97-AF65-F5344CB8AC3E}">
        <p14:creationId xmlns:p14="http://schemas.microsoft.com/office/powerpoint/2010/main" val="3937835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45:00</a:t>
            </a:r>
          </a:p>
          <a:p>
            <a:r>
              <a:rPr lang="en-US" dirty="0" smtClean="0"/>
              <a:t>Review the learnings</a:t>
            </a:r>
          </a:p>
          <a:p>
            <a:r>
              <a:rPr lang="en-US" dirty="0" smtClean="0"/>
              <a:t>*** Call to action ***</a:t>
            </a:r>
          </a:p>
          <a:p>
            <a:r>
              <a:rPr lang="en-US" dirty="0" smtClean="0"/>
              <a:t>Understand how AWS approaches Operational Excellence, which is exactly</a:t>
            </a:r>
            <a:r>
              <a:rPr lang="en-US" baseline="0" dirty="0" smtClean="0"/>
              <a:t> </a:t>
            </a:r>
            <a:r>
              <a:rPr lang="en-US" dirty="0" smtClean="0"/>
              <a:t>what this presentation and lab are based on.</a:t>
            </a:r>
          </a:p>
          <a:p>
            <a:endParaRPr lang="en-US" dirty="0" smtClean="0"/>
          </a:p>
          <a:p>
            <a:r>
              <a:rPr lang="en-US" dirty="0" smtClean="0"/>
              <a:t>Speak</a:t>
            </a:r>
            <a:r>
              <a:rPr lang="en-US" baseline="0" dirty="0" smtClean="0"/>
              <a:t> to check and act – </a:t>
            </a:r>
          </a:p>
          <a:p>
            <a:r>
              <a:rPr lang="en-US" baseline="0" dirty="0" smtClean="0"/>
              <a:t>validate insights, validate KPIs and metrics address business needs</a:t>
            </a:r>
          </a:p>
          <a:p>
            <a:r>
              <a:rPr lang="en-US" baseline="0" dirty="0" smtClean="0"/>
              <a:t>revise as appropriate, add change revise: KPIs and Metric, discard the ones that are not useful.</a:t>
            </a: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726629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ext Placeholder 11"/>
          <p:cNvSpPr>
            <a:spLocks noGrp="1"/>
          </p:cNvSpPr>
          <p:nvPr>
            <p:ph type="body" sz="quarter" idx="10" hasCustomPrompt="1"/>
          </p:nvPr>
        </p:nvSpPr>
        <p:spPr>
          <a:xfrm>
            <a:off x="780638" y="5572433"/>
            <a:ext cx="5892800" cy="693419"/>
          </a:xfrm>
        </p:spPr>
        <p:txBody>
          <a:bodyPr>
            <a:normAutofit/>
          </a:bodyPr>
          <a:lstStyle>
            <a:lvl1pPr marL="0" indent="0" algn="l">
              <a:buNone/>
              <a:defRPr sz="2560" baseline="0"/>
            </a:lvl1pPr>
          </a:lstStyle>
          <a:p>
            <a:pPr lvl="0"/>
            <a:r>
              <a:rPr lang="en-US" dirty="0" smtClean="0"/>
              <a:t>Click to edit Presenter, Team</a:t>
            </a:r>
            <a:endParaRPr lang="en-US" dirty="0"/>
          </a:p>
        </p:txBody>
      </p:sp>
      <p:sp>
        <p:nvSpPr>
          <p:cNvPr id="7" name="Text Placeholder 11"/>
          <p:cNvSpPr>
            <a:spLocks noGrp="1"/>
          </p:cNvSpPr>
          <p:nvPr>
            <p:ph type="body" sz="quarter" idx="11" hasCustomPrompt="1"/>
          </p:nvPr>
        </p:nvSpPr>
        <p:spPr>
          <a:xfrm>
            <a:off x="780638" y="6182034"/>
            <a:ext cx="5892800" cy="591821"/>
          </a:xfrm>
        </p:spPr>
        <p:txBody>
          <a:bodyPr>
            <a:normAutofit/>
          </a:bodyPr>
          <a:lstStyle>
            <a:lvl1pPr marL="0" indent="0" algn="l">
              <a:buNone/>
              <a:defRPr sz="2560" baseline="0">
                <a:solidFill>
                  <a:schemeClr val="accent6"/>
                </a:solidFill>
              </a:defRPr>
            </a:lvl1pPr>
          </a:lstStyle>
          <a:p>
            <a:pPr lvl="0"/>
            <a:r>
              <a:rPr lang="en-US" dirty="0" smtClean="0"/>
              <a:t>Click to edit Date</a:t>
            </a:r>
            <a:endParaRPr lang="en-US" dirty="0"/>
          </a:p>
        </p:txBody>
      </p:sp>
      <p:sp>
        <p:nvSpPr>
          <p:cNvPr id="10" name="Text Placeholder 8"/>
          <p:cNvSpPr>
            <a:spLocks noGrp="1"/>
          </p:cNvSpPr>
          <p:nvPr>
            <p:ph type="body" sz="quarter" idx="12" hasCustomPrompt="1"/>
          </p:nvPr>
        </p:nvSpPr>
        <p:spPr>
          <a:xfrm>
            <a:off x="780638" y="2000915"/>
            <a:ext cx="11719981" cy="1191259"/>
          </a:xfrm>
        </p:spPr>
        <p:txBody>
          <a:bodyPr>
            <a:noAutofit/>
          </a:bodyPr>
          <a:lstStyle>
            <a:lvl1pPr marL="0" indent="0" algn="l">
              <a:buNone/>
              <a:defRPr sz="6400" b="1" baseline="0"/>
            </a:lvl1pPr>
          </a:lstStyle>
          <a:p>
            <a:pPr lvl="0"/>
            <a:r>
              <a:rPr lang="en-US" dirty="0" smtClean="0"/>
              <a:t>Click to edit Master title style</a:t>
            </a:r>
            <a:endParaRPr lang="en-US" dirty="0"/>
          </a:p>
        </p:txBody>
      </p:sp>
      <p:sp>
        <p:nvSpPr>
          <p:cNvPr id="12" name="Text Placeholder 11"/>
          <p:cNvSpPr>
            <a:spLocks noGrp="1"/>
          </p:cNvSpPr>
          <p:nvPr>
            <p:ph type="body" sz="quarter" idx="13"/>
          </p:nvPr>
        </p:nvSpPr>
        <p:spPr>
          <a:xfrm>
            <a:off x="780639" y="3201470"/>
            <a:ext cx="9666531" cy="780558"/>
          </a:xfrm>
        </p:spPr>
        <p:txBody>
          <a:bodyPr/>
          <a:lstStyle>
            <a:lvl1pPr marL="0" indent="0" algn="l">
              <a:buNone/>
              <a:defRPr/>
            </a:lvl1pPr>
          </a:lstStyle>
          <a:p>
            <a:pPr lvl="0"/>
            <a:r>
              <a:rPr lang="en-US" smtClean="0"/>
              <a:t>Click to edit Master text styles</a:t>
            </a:r>
          </a:p>
        </p:txBody>
      </p:sp>
    </p:spTree>
    <p:extLst>
      <p:ext uri="{BB962C8B-B14F-4D97-AF65-F5344CB8AC3E}">
        <p14:creationId xmlns:p14="http://schemas.microsoft.com/office/powerpoint/2010/main" val="2005314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3186"/>
          </a:xfrm>
        </p:spPr>
        <p:txBody>
          <a:bodyPr/>
          <a:lstStyle>
            <a:lvl1pPr>
              <a:defRPr>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0" indent="0">
              <a:buNone/>
              <a:defRPr>
                <a:solidFill>
                  <a:schemeClr val="bg1"/>
                </a:solidFill>
              </a:defRPr>
            </a:lvl1pPr>
            <a:lvl2pPr marL="1188720" indent="-457200">
              <a:buFont typeface="Arial"/>
              <a:buChar char="•"/>
              <a:defRPr>
                <a:solidFill>
                  <a:schemeClr val="bg1"/>
                </a:solidFill>
              </a:defRPr>
            </a:lvl2pPr>
            <a:lvl3pPr marL="1828800" indent="-365760">
              <a:buFont typeface="Arial"/>
              <a:buChar cha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08459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de Snippet">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3186"/>
          </a:xfrm>
        </p:spPr>
        <p:txBody>
          <a:bodyPr/>
          <a:lstStyle>
            <a:lvl1pPr>
              <a:defRPr>
                <a:solidFill>
                  <a:schemeClr val="bg1"/>
                </a:solidFill>
              </a:defRPr>
            </a:lvl1pPr>
          </a:lstStyle>
          <a:p>
            <a:r>
              <a:rPr lang="en-US" dirty="0" smtClean="0"/>
              <a:t>Click to edit Master title style</a:t>
            </a:r>
            <a:endParaRPr lang="en-US" dirty="0"/>
          </a:p>
        </p:txBody>
      </p:sp>
      <p:sp>
        <p:nvSpPr>
          <p:cNvPr id="6" name="Content Placeholder 3"/>
          <p:cNvSpPr>
            <a:spLocks noGrp="1"/>
          </p:cNvSpPr>
          <p:nvPr>
            <p:ph sz="quarter" idx="11" hasCustomPrompt="1"/>
          </p:nvPr>
        </p:nvSpPr>
        <p:spPr>
          <a:xfrm>
            <a:off x="538581" y="1616653"/>
            <a:ext cx="13132387" cy="5827082"/>
          </a:xfrm>
          <a:noFill/>
        </p:spPr>
        <p:txBody>
          <a:bodyPr/>
          <a:lstStyle>
            <a:lvl1pPr marL="0" indent="0">
              <a:buNone/>
              <a:defRPr lang="en-US" sz="1760">
                <a:solidFill>
                  <a:srgbClr val="3366FF"/>
                </a:solidFill>
                <a:effectLst/>
                <a:latin typeface="Lucida Console" panose="020B0609040504020204" pitchFamily="49" charset="0"/>
              </a:defRPr>
            </a:lvl1pPr>
            <a:lvl2pPr marL="731520" indent="0">
              <a:buNone/>
              <a:defRPr>
                <a:latin typeface="Lucida Console" panose="020B0609040504020204" pitchFamily="49" charset="0"/>
              </a:defRPr>
            </a:lvl2pPr>
            <a:lvl3pPr marL="1463040" indent="0">
              <a:buNone/>
              <a:defRPr>
                <a:latin typeface="Lucida Console" panose="020B0609040504020204" pitchFamily="49" charset="0"/>
              </a:defRPr>
            </a:lvl3pPr>
            <a:lvl4pPr marL="2194560" indent="0">
              <a:buNone/>
              <a:defRPr>
                <a:latin typeface="Lucida Console" panose="020B0609040504020204" pitchFamily="49" charset="0"/>
              </a:defRPr>
            </a:lvl4pPr>
            <a:lvl5pPr marL="2926080" indent="0">
              <a:buNone/>
              <a:defRPr>
                <a:latin typeface="Lucida Console" panose="020B0609040504020204" pitchFamily="49" charset="0"/>
              </a:defRPr>
            </a:lvl5pPr>
          </a:lstStyle>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 Syntax Test file for 68k Assembly code</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 Some comments about this file</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.D0 00000000</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MS 2100 00000002</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MM 2000;DI</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 LEA.L $002100,A1</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2240" dirty="0" smtClean="0">
                <a:effectLst/>
                <a:latin typeface="Lucida Console" panose="020B0609040504020204" pitchFamily="49" charset="0"/>
                <a:ea typeface="Calibri" panose="020F0502020204030204" pitchFamily="34" charset="0"/>
                <a:cs typeface="Consolas" panose="020B0609020204030204" pitchFamily="49" charset="0"/>
              </a:rPr>
              <a:t> MOVE.L #2,-(A1)</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BSR $00002050</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MM 2050;DI</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MOVE.L (A1)+,D1</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MOVE.L (A1),D2</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ADD.L D1,D2</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MOVE.L D2,D0</a:t>
            </a:r>
            <a:endParaRPr lang="en-US" sz="176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sk-SK" sz="2240" dirty="0" smtClean="0">
                <a:effectLst/>
                <a:latin typeface="Lucida Console" panose="020B0609040504020204" pitchFamily="49" charset="0"/>
                <a:ea typeface="Calibri" panose="020F0502020204030204" pitchFamily="34" charset="0"/>
                <a:cs typeface="Consolas" panose="020B0609020204030204" pitchFamily="49" charset="0"/>
              </a:rPr>
              <a:t> RTS</a:t>
            </a:r>
            <a:endParaRPr lang="en-US" sz="176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696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1">
    <p:spTree>
      <p:nvGrpSpPr>
        <p:cNvPr id="1" name=""/>
        <p:cNvGrpSpPr/>
        <p:nvPr/>
      </p:nvGrpSpPr>
      <p:grpSpPr>
        <a:xfrm>
          <a:off x="0" y="0"/>
          <a:ext cx="0" cy="0"/>
          <a:chOff x="0" y="0"/>
          <a:chExt cx="0" cy="0"/>
        </a:xfrm>
      </p:grpSpPr>
      <p:sp>
        <p:nvSpPr>
          <p:cNvPr id="2" name="Title 1"/>
          <p:cNvSpPr>
            <a:spLocks noGrp="1"/>
          </p:cNvSpPr>
          <p:nvPr>
            <p:ph type="title"/>
          </p:nvPr>
        </p:nvSpPr>
        <p:spPr>
          <a:xfrm>
            <a:off x="634230" y="3150724"/>
            <a:ext cx="12435840" cy="1488168"/>
          </a:xfrm>
        </p:spPr>
        <p:txBody>
          <a:bodyPr anchor="ctr">
            <a:noAutofit/>
          </a:bodyPr>
          <a:lstStyle>
            <a:lvl1pPr algn="l">
              <a:defRPr sz="6400" b="1" cap="none">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12483756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3186"/>
          </a:xfrm>
        </p:spPr>
        <p:txBody>
          <a:bodyPr>
            <a:normAutofit/>
          </a:bodyPr>
          <a:lstStyle>
            <a:lvl1pPr>
              <a:defRPr sz="4480">
                <a:solidFill>
                  <a:schemeClr val="bg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533720" y="1620012"/>
            <a:ext cx="6461760" cy="5555317"/>
          </a:xfrm>
        </p:spPr>
        <p:txBody>
          <a:bodyPr/>
          <a:lstStyle>
            <a:lvl1pPr>
              <a:defRPr sz="3520">
                <a:solidFill>
                  <a:schemeClr val="bg1"/>
                </a:solidFill>
              </a:defRPr>
            </a:lvl1pPr>
            <a:lvl2pPr>
              <a:defRPr sz="3200">
                <a:solidFill>
                  <a:schemeClr val="bg1"/>
                </a:solidFill>
              </a:defRPr>
            </a:lvl2pPr>
            <a:lvl3pPr>
              <a:defRPr sz="2560">
                <a:solidFill>
                  <a:schemeClr val="bg1"/>
                </a:solidFill>
              </a:defRPr>
            </a:lvl3pPr>
            <a:lvl4pPr>
              <a:defRPr sz="2560">
                <a:solidFill>
                  <a:schemeClr val="bg1"/>
                </a:solidFill>
              </a:defRPr>
            </a:lvl4pPr>
            <a:lvl5pPr>
              <a:defRPr sz="2560">
                <a:solidFill>
                  <a:schemeClr val="bg1"/>
                </a:solidFill>
              </a:defRPr>
            </a:lvl5pPr>
            <a:lvl6pPr>
              <a:defRPr sz="2880"/>
            </a:lvl6pPr>
            <a:lvl7pPr>
              <a:defRPr sz="2880"/>
            </a:lvl7pPr>
            <a:lvl8pPr>
              <a:defRPr sz="2880"/>
            </a:lvl8pPr>
            <a:lvl9pPr>
              <a:defRPr sz="288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239320" y="1620012"/>
            <a:ext cx="6461760" cy="5555317"/>
          </a:xfrm>
        </p:spPr>
        <p:txBody>
          <a:bodyPr/>
          <a:lstStyle>
            <a:lvl1pPr>
              <a:defRPr sz="3520">
                <a:solidFill>
                  <a:schemeClr val="bg1"/>
                </a:solidFill>
              </a:defRPr>
            </a:lvl1pPr>
            <a:lvl2pPr>
              <a:defRPr sz="3200">
                <a:solidFill>
                  <a:schemeClr val="bg1"/>
                </a:solidFill>
              </a:defRPr>
            </a:lvl2pPr>
            <a:lvl3pPr>
              <a:defRPr sz="2560">
                <a:solidFill>
                  <a:schemeClr val="bg1"/>
                </a:solidFill>
              </a:defRPr>
            </a:lvl3pPr>
            <a:lvl4pPr>
              <a:defRPr sz="2560">
                <a:solidFill>
                  <a:schemeClr val="bg1"/>
                </a:solidFill>
              </a:defRPr>
            </a:lvl4pPr>
            <a:lvl5pPr>
              <a:defRPr sz="2560">
                <a:solidFill>
                  <a:schemeClr val="bg1"/>
                </a:solidFill>
              </a:defRPr>
            </a:lvl5pPr>
            <a:lvl6pPr>
              <a:defRPr sz="2880"/>
            </a:lvl6pPr>
            <a:lvl7pPr>
              <a:defRPr sz="2880"/>
            </a:lvl7pPr>
            <a:lvl8pPr>
              <a:defRPr sz="2880"/>
            </a:lvl8pPr>
            <a:lvl9pPr>
              <a:defRPr sz="288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3351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0389" y="1612885"/>
            <a:ext cx="6464301" cy="767715"/>
          </a:xfrm>
        </p:spPr>
        <p:txBody>
          <a:bodyPr anchor="b">
            <a:noAutofit/>
          </a:bodyPr>
          <a:lstStyle>
            <a:lvl1pPr marL="0" indent="0">
              <a:buNone/>
              <a:defRPr sz="320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smtClean="0"/>
              <a:t>Click to edit Master text styles</a:t>
            </a:r>
          </a:p>
        </p:txBody>
      </p:sp>
      <p:sp>
        <p:nvSpPr>
          <p:cNvPr id="4" name="Content Placeholder 3"/>
          <p:cNvSpPr>
            <a:spLocks noGrp="1"/>
          </p:cNvSpPr>
          <p:nvPr>
            <p:ph sz="half" idx="2"/>
          </p:nvPr>
        </p:nvSpPr>
        <p:spPr>
          <a:xfrm>
            <a:off x="540389" y="2380598"/>
            <a:ext cx="6464301" cy="4741546"/>
          </a:xfrm>
        </p:spPr>
        <p:txBody>
          <a:bodyPr/>
          <a:lstStyle>
            <a:lvl1pPr>
              <a:defRPr sz="3200"/>
            </a:lvl1pPr>
            <a:lvl2pPr>
              <a:defRPr sz="2880"/>
            </a:lvl2pPr>
            <a:lvl3pPr>
              <a:defRPr sz="2880"/>
            </a:lvl3pPr>
            <a:lvl4pPr>
              <a:defRPr sz="2880"/>
            </a:lvl4pPr>
            <a:lvl5pPr>
              <a:defRPr sz="2880"/>
            </a:lvl5pPr>
            <a:lvl6pPr>
              <a:defRPr sz="2560"/>
            </a:lvl6pPr>
            <a:lvl7pPr>
              <a:defRPr sz="2560"/>
            </a:lvl7pPr>
            <a:lvl8pPr>
              <a:defRPr sz="2560"/>
            </a:lvl8pPr>
            <a:lvl9pPr>
              <a:defRPr sz="256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itle 1"/>
          <p:cNvSpPr>
            <a:spLocks noGrp="1"/>
          </p:cNvSpPr>
          <p:nvPr>
            <p:ph type="title"/>
          </p:nvPr>
        </p:nvSpPr>
        <p:spPr>
          <a:xfrm>
            <a:off x="538863" y="183898"/>
            <a:ext cx="13128486" cy="873186"/>
          </a:xfrm>
        </p:spPr>
        <p:txBody>
          <a:bodyPr>
            <a:normAutofit/>
          </a:bodyPr>
          <a:lstStyle>
            <a:lvl1pPr>
              <a:defRPr sz="4480">
                <a:solidFill>
                  <a:schemeClr val="bg1"/>
                </a:solidFill>
              </a:defRPr>
            </a:lvl1pPr>
          </a:lstStyle>
          <a:p>
            <a:r>
              <a:rPr lang="en-US" dirty="0" smtClean="0"/>
              <a:t>Click to edit Master title style</a:t>
            </a:r>
            <a:endParaRPr lang="en-US" dirty="0"/>
          </a:p>
        </p:txBody>
      </p:sp>
      <p:sp>
        <p:nvSpPr>
          <p:cNvPr id="15" name="Text Placeholder 4"/>
          <p:cNvSpPr>
            <a:spLocks noGrp="1"/>
          </p:cNvSpPr>
          <p:nvPr>
            <p:ph type="body" sz="quarter" idx="3"/>
          </p:nvPr>
        </p:nvSpPr>
        <p:spPr>
          <a:xfrm>
            <a:off x="7240911" y="1612885"/>
            <a:ext cx="6466840" cy="767715"/>
          </a:xfrm>
        </p:spPr>
        <p:txBody>
          <a:bodyPr anchor="b">
            <a:normAutofit/>
          </a:bodyPr>
          <a:lstStyle>
            <a:lvl1pPr marL="0" indent="0">
              <a:buNone/>
              <a:defRPr sz="320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smtClean="0"/>
              <a:t>Click to edit Master text styles</a:t>
            </a:r>
          </a:p>
        </p:txBody>
      </p:sp>
      <p:sp>
        <p:nvSpPr>
          <p:cNvPr id="16" name="Content Placeholder 5"/>
          <p:cNvSpPr>
            <a:spLocks noGrp="1"/>
          </p:cNvSpPr>
          <p:nvPr>
            <p:ph sz="quarter" idx="4"/>
          </p:nvPr>
        </p:nvSpPr>
        <p:spPr>
          <a:xfrm>
            <a:off x="7240911" y="2380598"/>
            <a:ext cx="6466840" cy="4741546"/>
          </a:xfrm>
        </p:spPr>
        <p:txBody>
          <a:bodyPr/>
          <a:lstStyle>
            <a:lvl1pPr>
              <a:defRPr sz="3200"/>
            </a:lvl1pPr>
            <a:lvl2pPr>
              <a:defRPr sz="2880"/>
            </a:lvl2pPr>
            <a:lvl3pPr>
              <a:defRPr sz="2880"/>
            </a:lvl3pPr>
            <a:lvl4pPr>
              <a:defRPr sz="2880"/>
            </a:lvl4pPr>
            <a:lvl5pPr>
              <a:defRPr sz="2880"/>
            </a:lvl5pPr>
            <a:lvl6pPr>
              <a:defRPr sz="2560"/>
            </a:lvl6pPr>
            <a:lvl7pPr>
              <a:defRPr sz="2560"/>
            </a:lvl7pPr>
            <a:lvl8pPr>
              <a:defRPr sz="2560"/>
            </a:lvl8pPr>
            <a:lvl9pPr>
              <a:defRPr sz="256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01287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318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40030" y="1618467"/>
            <a:ext cx="3908213" cy="5431155"/>
          </a:xfrm>
        </p:spPr>
        <p:txBody>
          <a:bodyPr>
            <a:normAutofit/>
          </a:bodyPr>
          <a:lstStyle>
            <a:lvl1pPr>
              <a:defRPr sz="3200"/>
            </a:lvl1pPr>
            <a:lvl2pPr>
              <a:defRPr sz="2880"/>
            </a:lvl2pPr>
            <a:lvl3pPr>
              <a:defRPr sz="2560"/>
            </a:lvl3pPr>
            <a:lvl4pPr marL="2194560" indent="0">
              <a:buNone/>
              <a:defRPr sz="2560"/>
            </a:lvl4pPr>
            <a:lvl5pPr>
              <a:defRPr sz="2560"/>
            </a:lvl5pPr>
            <a:lvl6pPr>
              <a:defRPr sz="2880"/>
            </a:lvl6pPr>
            <a:lvl7pPr>
              <a:defRPr sz="2880"/>
            </a:lvl7pPr>
            <a:lvl8pPr>
              <a:defRPr sz="2880"/>
            </a:lvl8pPr>
            <a:lvl9pPr>
              <a:defRPr sz="288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Content Placeholder 2"/>
          <p:cNvSpPr>
            <a:spLocks noGrp="1"/>
          </p:cNvSpPr>
          <p:nvPr>
            <p:ph sz="half" idx="10"/>
          </p:nvPr>
        </p:nvSpPr>
        <p:spPr>
          <a:xfrm>
            <a:off x="5169602" y="1618467"/>
            <a:ext cx="3908213" cy="5431155"/>
          </a:xfrm>
        </p:spPr>
        <p:txBody>
          <a:bodyPr>
            <a:normAutofit/>
          </a:bodyPr>
          <a:lstStyle>
            <a:lvl1pPr>
              <a:defRPr sz="3200"/>
            </a:lvl1pPr>
            <a:lvl2pPr>
              <a:defRPr sz="2880"/>
            </a:lvl2pPr>
            <a:lvl3pPr>
              <a:defRPr sz="2560"/>
            </a:lvl3pPr>
            <a:lvl4pPr marL="2194560" indent="0">
              <a:buNone/>
              <a:defRPr sz="2560"/>
            </a:lvl4pPr>
            <a:lvl5pPr>
              <a:defRPr sz="2560"/>
            </a:lvl5pPr>
            <a:lvl6pPr>
              <a:defRPr sz="2880"/>
            </a:lvl6pPr>
            <a:lvl7pPr>
              <a:defRPr sz="2880"/>
            </a:lvl7pPr>
            <a:lvl8pPr>
              <a:defRPr sz="2880"/>
            </a:lvl8pPr>
            <a:lvl9pPr>
              <a:defRPr sz="288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Content Placeholder 2"/>
          <p:cNvSpPr>
            <a:spLocks noGrp="1"/>
          </p:cNvSpPr>
          <p:nvPr>
            <p:ph sz="half" idx="11"/>
          </p:nvPr>
        </p:nvSpPr>
        <p:spPr>
          <a:xfrm>
            <a:off x="9799177" y="1618467"/>
            <a:ext cx="3908213" cy="5431155"/>
          </a:xfrm>
        </p:spPr>
        <p:txBody>
          <a:bodyPr>
            <a:normAutofit/>
          </a:bodyPr>
          <a:lstStyle>
            <a:lvl1pPr>
              <a:defRPr sz="3200"/>
            </a:lvl1pPr>
            <a:lvl2pPr>
              <a:defRPr sz="2880"/>
            </a:lvl2pPr>
            <a:lvl3pPr>
              <a:defRPr sz="2560"/>
            </a:lvl3pPr>
            <a:lvl4pPr marL="2194560" indent="0">
              <a:buNone/>
              <a:defRPr sz="2560"/>
            </a:lvl4pPr>
            <a:lvl5pPr>
              <a:defRPr sz="2560"/>
            </a:lvl5pPr>
            <a:lvl6pPr>
              <a:defRPr sz="2880"/>
            </a:lvl6pPr>
            <a:lvl7pPr>
              <a:defRPr sz="2880"/>
            </a:lvl7pPr>
            <a:lvl8pPr>
              <a:defRPr sz="2880"/>
            </a:lvl8pPr>
            <a:lvl9pPr>
              <a:defRPr sz="288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826396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Content - Graphics">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2307"/>
          </a:xfrm>
        </p:spPr>
        <p:txBody>
          <a:bodyPr/>
          <a:lstStyle/>
          <a:p>
            <a:r>
              <a:rPr lang="en-US" smtClean="0"/>
              <a:t>Click to edit Master title style</a:t>
            </a:r>
            <a:endParaRPr lang="en-US" dirty="0"/>
          </a:p>
        </p:txBody>
      </p:sp>
      <p:sp>
        <p:nvSpPr>
          <p:cNvPr id="11" name="Text Placeholder 3"/>
          <p:cNvSpPr>
            <a:spLocks noGrp="1"/>
          </p:cNvSpPr>
          <p:nvPr>
            <p:ph type="body" sz="half" idx="2"/>
          </p:nvPr>
        </p:nvSpPr>
        <p:spPr>
          <a:xfrm>
            <a:off x="540387" y="5003334"/>
            <a:ext cx="2875280" cy="545504"/>
          </a:xfrm>
        </p:spPr>
        <p:txBody>
          <a:bodyPr>
            <a:noAutofit/>
          </a:bodyPr>
          <a:lstStyle>
            <a:lvl1pPr marL="0" indent="0" algn="ctr">
              <a:buNone/>
              <a:defRPr sz="2240">
                <a:solidFill>
                  <a:schemeClr val="bg1"/>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12" name="Text Placeholder 3"/>
          <p:cNvSpPr>
            <a:spLocks noGrp="1"/>
          </p:cNvSpPr>
          <p:nvPr>
            <p:ph type="body" sz="half" idx="11"/>
          </p:nvPr>
        </p:nvSpPr>
        <p:spPr>
          <a:xfrm>
            <a:off x="3994795" y="5003334"/>
            <a:ext cx="2875280" cy="545504"/>
          </a:xfrm>
        </p:spPr>
        <p:txBody>
          <a:bodyPr>
            <a:noAutofit/>
          </a:bodyPr>
          <a:lstStyle>
            <a:lvl1pPr marL="0" indent="0" algn="ctr">
              <a:buNone/>
              <a:defRPr sz="2240">
                <a:solidFill>
                  <a:schemeClr val="bg1"/>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13" name="Text Placeholder 3"/>
          <p:cNvSpPr>
            <a:spLocks noGrp="1"/>
          </p:cNvSpPr>
          <p:nvPr>
            <p:ph type="body" sz="half" idx="13"/>
          </p:nvPr>
        </p:nvSpPr>
        <p:spPr>
          <a:xfrm>
            <a:off x="7415336" y="5003334"/>
            <a:ext cx="2875280" cy="545504"/>
          </a:xfrm>
        </p:spPr>
        <p:txBody>
          <a:bodyPr>
            <a:noAutofit/>
          </a:bodyPr>
          <a:lstStyle>
            <a:lvl1pPr marL="0" indent="0" algn="ctr">
              <a:buNone/>
              <a:defRPr sz="2240">
                <a:solidFill>
                  <a:schemeClr val="bg1"/>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14" name="Text Placeholder 3"/>
          <p:cNvSpPr>
            <a:spLocks noGrp="1"/>
          </p:cNvSpPr>
          <p:nvPr>
            <p:ph type="body" sz="half" idx="15"/>
          </p:nvPr>
        </p:nvSpPr>
        <p:spPr>
          <a:xfrm>
            <a:off x="11184552" y="5003334"/>
            <a:ext cx="2875280" cy="545504"/>
          </a:xfrm>
        </p:spPr>
        <p:txBody>
          <a:bodyPr>
            <a:noAutofit/>
          </a:bodyPr>
          <a:lstStyle>
            <a:lvl1pPr marL="0" indent="0" algn="ctr">
              <a:buNone/>
              <a:defRPr sz="2240">
                <a:solidFill>
                  <a:schemeClr val="bg1"/>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15" name="Picture Placeholder 2"/>
          <p:cNvSpPr>
            <a:spLocks noGrp="1"/>
          </p:cNvSpPr>
          <p:nvPr>
            <p:ph type="pic" sz="quarter" idx="16"/>
          </p:nvPr>
        </p:nvSpPr>
        <p:spPr>
          <a:xfrm>
            <a:off x="540387" y="2566967"/>
            <a:ext cx="2875280" cy="2151379"/>
          </a:xfrm>
        </p:spPr>
        <p:txBody>
          <a:bodyPr>
            <a:normAutofit/>
          </a:bodyPr>
          <a:lstStyle>
            <a:lvl1pPr>
              <a:defRPr sz="2240">
                <a:solidFill>
                  <a:schemeClr val="bg1"/>
                </a:solidFill>
              </a:defRPr>
            </a:lvl1pPr>
          </a:lstStyle>
          <a:p>
            <a:r>
              <a:rPr lang="en-US" smtClean="0"/>
              <a:t>Drag picture to placeholder or click icon to add</a:t>
            </a:r>
            <a:endParaRPr lang="en-US" dirty="0"/>
          </a:p>
        </p:txBody>
      </p:sp>
      <p:sp>
        <p:nvSpPr>
          <p:cNvPr id="16" name="Picture Placeholder 2"/>
          <p:cNvSpPr>
            <a:spLocks noGrp="1"/>
          </p:cNvSpPr>
          <p:nvPr>
            <p:ph type="pic" sz="quarter" idx="17"/>
          </p:nvPr>
        </p:nvSpPr>
        <p:spPr>
          <a:xfrm>
            <a:off x="3994795" y="2566967"/>
            <a:ext cx="2875280" cy="2151379"/>
          </a:xfrm>
        </p:spPr>
        <p:txBody>
          <a:bodyPr>
            <a:normAutofit/>
          </a:bodyPr>
          <a:lstStyle>
            <a:lvl1pPr>
              <a:defRPr sz="2240">
                <a:solidFill>
                  <a:schemeClr val="bg1"/>
                </a:solidFill>
              </a:defRPr>
            </a:lvl1pPr>
          </a:lstStyle>
          <a:p>
            <a:r>
              <a:rPr lang="en-US" smtClean="0"/>
              <a:t>Drag picture to placeholder or click icon to add</a:t>
            </a:r>
            <a:endParaRPr lang="en-US" dirty="0"/>
          </a:p>
        </p:txBody>
      </p:sp>
      <p:sp>
        <p:nvSpPr>
          <p:cNvPr id="17" name="Picture Placeholder 2"/>
          <p:cNvSpPr>
            <a:spLocks noGrp="1"/>
          </p:cNvSpPr>
          <p:nvPr>
            <p:ph type="pic" sz="quarter" idx="18"/>
          </p:nvPr>
        </p:nvSpPr>
        <p:spPr>
          <a:xfrm>
            <a:off x="7415336" y="2566967"/>
            <a:ext cx="2875280" cy="2151379"/>
          </a:xfrm>
        </p:spPr>
        <p:txBody>
          <a:bodyPr>
            <a:normAutofit/>
          </a:bodyPr>
          <a:lstStyle>
            <a:lvl1pPr>
              <a:defRPr sz="2240">
                <a:solidFill>
                  <a:schemeClr val="bg1"/>
                </a:solidFill>
              </a:defRPr>
            </a:lvl1pPr>
          </a:lstStyle>
          <a:p>
            <a:r>
              <a:rPr lang="en-US" smtClean="0"/>
              <a:t>Drag picture to placeholder or click icon to add</a:t>
            </a:r>
            <a:endParaRPr lang="en-US" dirty="0"/>
          </a:p>
        </p:txBody>
      </p:sp>
      <p:sp>
        <p:nvSpPr>
          <p:cNvPr id="18" name="Picture Placeholder 2"/>
          <p:cNvSpPr>
            <a:spLocks noGrp="1"/>
          </p:cNvSpPr>
          <p:nvPr>
            <p:ph type="pic" sz="quarter" idx="19"/>
          </p:nvPr>
        </p:nvSpPr>
        <p:spPr>
          <a:xfrm>
            <a:off x="11184552" y="2566967"/>
            <a:ext cx="2875280" cy="2151379"/>
          </a:xfrm>
        </p:spPr>
        <p:txBody>
          <a:bodyPr>
            <a:normAutofit/>
          </a:bodyPr>
          <a:lstStyle>
            <a:lvl1pPr>
              <a:defRPr sz="2240">
                <a:solidFill>
                  <a:schemeClr val="bg1"/>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30250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x Content - Graphics">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2307"/>
          </a:xfrm>
        </p:spPr>
        <p:txBody>
          <a:bodyPr/>
          <a:lstStyle/>
          <a:p>
            <a:r>
              <a:rPr lang="en-US" smtClean="0"/>
              <a:t>Click to edit Master title style</a:t>
            </a:r>
            <a:endParaRPr lang="en-US"/>
          </a:p>
        </p:txBody>
      </p:sp>
      <p:sp>
        <p:nvSpPr>
          <p:cNvPr id="3" name="Text Placeholder 3"/>
          <p:cNvSpPr>
            <a:spLocks noGrp="1"/>
          </p:cNvSpPr>
          <p:nvPr>
            <p:ph type="body" sz="half" idx="2"/>
          </p:nvPr>
        </p:nvSpPr>
        <p:spPr>
          <a:xfrm>
            <a:off x="543893" y="3443035"/>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4" name="Text Placeholder 3"/>
          <p:cNvSpPr>
            <a:spLocks noGrp="1"/>
          </p:cNvSpPr>
          <p:nvPr>
            <p:ph type="body" sz="half" idx="11"/>
          </p:nvPr>
        </p:nvSpPr>
        <p:spPr>
          <a:xfrm>
            <a:off x="5566893" y="3443035"/>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5" name="Text Placeholder 3"/>
          <p:cNvSpPr>
            <a:spLocks noGrp="1"/>
          </p:cNvSpPr>
          <p:nvPr>
            <p:ph type="body" sz="half" idx="13"/>
          </p:nvPr>
        </p:nvSpPr>
        <p:spPr>
          <a:xfrm>
            <a:off x="10599958" y="3443035"/>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6" name="Text Placeholder 3"/>
          <p:cNvSpPr>
            <a:spLocks noGrp="1"/>
          </p:cNvSpPr>
          <p:nvPr>
            <p:ph type="body" sz="half" idx="15"/>
          </p:nvPr>
        </p:nvSpPr>
        <p:spPr>
          <a:xfrm>
            <a:off x="543893" y="6341824"/>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7" name="Text Placeholder 3"/>
          <p:cNvSpPr>
            <a:spLocks noGrp="1"/>
          </p:cNvSpPr>
          <p:nvPr>
            <p:ph type="body" sz="half" idx="17"/>
          </p:nvPr>
        </p:nvSpPr>
        <p:spPr>
          <a:xfrm>
            <a:off x="5566893" y="6341824"/>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8" name="Text Placeholder 3"/>
          <p:cNvSpPr>
            <a:spLocks noGrp="1"/>
          </p:cNvSpPr>
          <p:nvPr>
            <p:ph type="body" sz="half" idx="19"/>
          </p:nvPr>
        </p:nvSpPr>
        <p:spPr>
          <a:xfrm>
            <a:off x="10599958" y="6341824"/>
            <a:ext cx="3078480" cy="545504"/>
          </a:xfrm>
        </p:spPr>
        <p:txBody>
          <a:bodyPr>
            <a:noAutofit/>
          </a:bodyPr>
          <a:lstStyle>
            <a:lvl1pPr marL="0" indent="0" algn="ctr">
              <a:buNone/>
              <a:defRPr sz="2240">
                <a:solidFill>
                  <a:schemeClr val="accent6">
                    <a:lumMod val="50000"/>
                  </a:schemeClr>
                </a:solidFill>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smtClean="0"/>
              <a:t>Click to edit Master text styles</a:t>
            </a:r>
          </a:p>
        </p:txBody>
      </p:sp>
      <p:sp>
        <p:nvSpPr>
          <p:cNvPr id="9" name="Picture Placeholder 2"/>
          <p:cNvSpPr>
            <a:spLocks noGrp="1"/>
          </p:cNvSpPr>
          <p:nvPr>
            <p:ph type="pic" sz="quarter" idx="20"/>
          </p:nvPr>
        </p:nvSpPr>
        <p:spPr>
          <a:xfrm>
            <a:off x="543902" y="1485278"/>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
        <p:nvSpPr>
          <p:cNvPr id="10" name="Picture Placeholder 2"/>
          <p:cNvSpPr>
            <a:spLocks noGrp="1"/>
          </p:cNvSpPr>
          <p:nvPr>
            <p:ph type="pic" sz="quarter" idx="21"/>
          </p:nvPr>
        </p:nvSpPr>
        <p:spPr>
          <a:xfrm>
            <a:off x="5566893" y="1485278"/>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
        <p:nvSpPr>
          <p:cNvPr id="11" name="Picture Placeholder 2"/>
          <p:cNvSpPr>
            <a:spLocks noGrp="1"/>
          </p:cNvSpPr>
          <p:nvPr>
            <p:ph type="pic" sz="quarter" idx="22"/>
          </p:nvPr>
        </p:nvSpPr>
        <p:spPr>
          <a:xfrm>
            <a:off x="10599958" y="1485278"/>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p:spPr>
        <p:txBody>
          <a:bodyPr>
            <a:normAutofit/>
          </a:bodyPr>
          <a:lstStyle>
            <a:lvl1pPr>
              <a:defRPr sz="2240">
                <a:solidFill>
                  <a:srgbClr val="C2C2C1"/>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3273093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8"/>
            <a:ext cx="13128486" cy="87230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6706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024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472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5123" y="2481329"/>
            <a:ext cx="12435840" cy="1634490"/>
          </a:xfrm>
        </p:spPr>
        <p:txBody>
          <a:bodyPr anchor="ctr">
            <a:noAutofit/>
          </a:bodyPr>
          <a:lstStyle>
            <a:lvl1pPr algn="l">
              <a:defRPr sz="6400" b="1" cap="none"/>
            </a:lvl1pPr>
          </a:lstStyle>
          <a:p>
            <a:r>
              <a:rPr lang="en-US" dirty="0" smtClean="0"/>
              <a:t>Thank you!</a:t>
            </a:r>
            <a:endParaRPr lang="en-US" dirty="0"/>
          </a:p>
        </p:txBody>
      </p:sp>
      <p:sp>
        <p:nvSpPr>
          <p:cNvPr id="3" name="Text Placeholder 11"/>
          <p:cNvSpPr>
            <a:spLocks noGrp="1"/>
          </p:cNvSpPr>
          <p:nvPr>
            <p:ph type="body" sz="quarter" idx="10"/>
          </p:nvPr>
        </p:nvSpPr>
        <p:spPr>
          <a:xfrm>
            <a:off x="780638" y="4115820"/>
            <a:ext cx="5892800" cy="693419"/>
          </a:xfrm>
        </p:spPr>
        <p:txBody>
          <a:bodyPr>
            <a:normAutofit/>
          </a:bodyPr>
          <a:lstStyle>
            <a:lvl1pPr marL="0" indent="0" algn="l">
              <a:buNone/>
              <a:defRPr sz="2560" baseline="0"/>
            </a:lvl1pPr>
          </a:lstStyle>
          <a:p>
            <a:pPr lvl="0"/>
            <a:r>
              <a:rPr lang="en-US" smtClean="0"/>
              <a:t>Click to edit Master text styles</a:t>
            </a:r>
          </a:p>
        </p:txBody>
      </p:sp>
    </p:spTree>
    <p:extLst>
      <p:ext uri="{BB962C8B-B14F-4D97-AF65-F5344CB8AC3E}">
        <p14:creationId xmlns:p14="http://schemas.microsoft.com/office/powerpoint/2010/main" val="21248375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lank - No Logo">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540" t="265" r="1" b="-1674"/>
          <a:stretch/>
        </p:blipFill>
        <p:spPr>
          <a:xfrm>
            <a:off x="0" y="1"/>
            <a:ext cx="14630400" cy="8388379"/>
          </a:xfrm>
          <a:prstGeom prst="rect">
            <a:avLst/>
          </a:prstGeom>
        </p:spPr>
      </p:pic>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658636" y="2679085"/>
            <a:ext cx="9711266" cy="2001069"/>
          </a:xfrm>
        </p:spPr>
        <p:txBody>
          <a:bodyPr anchor="ctr" anchorCtr="0">
            <a:noAutofit/>
          </a:bodyPr>
          <a:lstStyle>
            <a:lvl1pPr algn="l">
              <a:defRPr sz="4800"/>
            </a:lvl1pPr>
          </a:lstStyle>
          <a:p>
            <a:r>
              <a:rPr lang="en-US" smtClean="0"/>
              <a:t>Click to edit Master 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962302" y="7531058"/>
            <a:ext cx="709381" cy="424102"/>
          </a:xfrm>
          <a:prstGeom prst="rect">
            <a:avLst/>
          </a:prstGeom>
        </p:spPr>
      </p:pic>
      <p:sp>
        <p:nvSpPr>
          <p:cNvPr id="9" name="TextBox 8"/>
          <p:cNvSpPr txBox="1"/>
          <p:nvPr userDrawn="1"/>
        </p:nvSpPr>
        <p:spPr>
          <a:xfrm>
            <a:off x="782640" y="7683901"/>
            <a:ext cx="4844438" cy="172355"/>
          </a:xfrm>
          <a:prstGeom prst="rect">
            <a:avLst/>
          </a:prstGeom>
          <a:noFill/>
        </p:spPr>
        <p:txBody>
          <a:bodyPr wrap="square" lIns="0" tIns="0" rIns="0" bIns="0" rtlCol="0">
            <a:spAutoFit/>
          </a:bodyPr>
          <a:lstStyle/>
          <a:p>
            <a:r>
              <a:rPr lang="en-US" sz="1120" b="0" i="0" dirty="0" smtClean="0">
                <a:solidFill>
                  <a:schemeClr val="bg1"/>
                </a:solidFill>
                <a:latin typeface="Amazon Ember Regular" charset="0"/>
              </a:rPr>
              <a:t>© 2019, Amazon Web Services, Inc. or its Affiliates. All rights reserved.</a:t>
            </a:r>
            <a:endParaRPr lang="en-US" sz="1120" b="0" i="0" dirty="0">
              <a:solidFill>
                <a:schemeClr val="bg1"/>
              </a:solidFill>
              <a:latin typeface="Amazon Ember Regular" charset="0"/>
            </a:endParaRPr>
          </a:p>
        </p:txBody>
      </p:sp>
    </p:spTree>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lank - No Logo">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4630400" cy="8227208"/>
          </a:xfrm>
          <a:prstGeom prst="rect">
            <a:avLst/>
          </a:prstGeom>
        </p:spPr>
      </p:pic>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658636" y="2679085"/>
            <a:ext cx="9711266" cy="2001069"/>
          </a:xfrm>
        </p:spPr>
        <p:txBody>
          <a:bodyPr anchor="ctr" anchorCtr="0">
            <a:noAutofit/>
          </a:bodyPr>
          <a:lstStyle>
            <a:lvl1pPr algn="l">
              <a:defRPr sz="4800"/>
            </a:lvl1pPr>
          </a:lstStyle>
          <a:p>
            <a:r>
              <a:rPr lang="en-US" smtClean="0"/>
              <a:t>Click to edit Master 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962302" y="7531058"/>
            <a:ext cx="709381" cy="424102"/>
          </a:xfrm>
          <a:prstGeom prst="rect">
            <a:avLst/>
          </a:prstGeom>
        </p:spPr>
      </p:pic>
      <p:sp>
        <p:nvSpPr>
          <p:cNvPr id="9" name="TextBox 8"/>
          <p:cNvSpPr txBox="1"/>
          <p:nvPr userDrawn="1"/>
        </p:nvSpPr>
        <p:spPr>
          <a:xfrm>
            <a:off x="782640" y="7683901"/>
            <a:ext cx="4844438" cy="172355"/>
          </a:xfrm>
          <a:prstGeom prst="rect">
            <a:avLst/>
          </a:prstGeom>
          <a:noFill/>
        </p:spPr>
        <p:txBody>
          <a:bodyPr wrap="square" lIns="0" tIns="0" rIns="0" bIns="0" rtlCol="0">
            <a:spAutoFit/>
          </a:bodyPr>
          <a:lstStyle/>
          <a:p>
            <a:r>
              <a:rPr lang="en-US" sz="1120" b="0" i="0" dirty="0" smtClean="0">
                <a:solidFill>
                  <a:schemeClr val="bg1"/>
                </a:solidFill>
                <a:latin typeface="Amazon Ember Regular" charset="0"/>
              </a:rPr>
              <a:t>© 2019, Amazon Web Services, Inc. or its Affiliates. All rights reserved.</a:t>
            </a:r>
            <a:endParaRPr lang="en-US" sz="1120" b="0" i="0" dirty="0">
              <a:solidFill>
                <a:schemeClr val="bg1"/>
              </a:solidFill>
              <a:latin typeface="Amazon Ember Regular" charset="0"/>
            </a:endParaRPr>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lank - No Logo">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4630400" cy="8227208"/>
          </a:xfrm>
          <a:prstGeom prst="rect">
            <a:avLst/>
          </a:prstGeom>
        </p:spPr>
      </p:pic>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3960417" y="1488238"/>
            <a:ext cx="9711266" cy="2001069"/>
          </a:xfrm>
        </p:spPr>
        <p:txBody>
          <a:bodyPr anchor="ctr" anchorCtr="0">
            <a:noAutofit/>
          </a:bodyPr>
          <a:lstStyle>
            <a:lvl1pPr algn="r">
              <a:defRPr sz="4800"/>
            </a:lvl1pPr>
          </a:lstStyle>
          <a:p>
            <a:r>
              <a:rPr lang="en-US" smtClean="0"/>
              <a:t>Click to edit Master 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962302" y="7531058"/>
            <a:ext cx="709381" cy="424102"/>
          </a:xfrm>
          <a:prstGeom prst="rect">
            <a:avLst/>
          </a:prstGeom>
        </p:spPr>
      </p:pic>
      <p:sp>
        <p:nvSpPr>
          <p:cNvPr id="11" name="TextBox 10"/>
          <p:cNvSpPr txBox="1"/>
          <p:nvPr userDrawn="1"/>
        </p:nvSpPr>
        <p:spPr>
          <a:xfrm>
            <a:off x="782640" y="7683901"/>
            <a:ext cx="4844438" cy="172355"/>
          </a:xfrm>
          <a:prstGeom prst="rect">
            <a:avLst/>
          </a:prstGeom>
          <a:noFill/>
        </p:spPr>
        <p:txBody>
          <a:bodyPr wrap="square" lIns="0" tIns="0" rIns="0" bIns="0" rtlCol="0">
            <a:spAutoFit/>
          </a:bodyPr>
          <a:lstStyle/>
          <a:p>
            <a:r>
              <a:rPr lang="en-US" sz="1120" b="0" i="0" dirty="0" smtClean="0">
                <a:solidFill>
                  <a:schemeClr val="bg1"/>
                </a:solidFill>
                <a:latin typeface="Amazon Ember Regular" charset="0"/>
              </a:rPr>
              <a:t>© 2019, Amazon Web Services, Inc. or its Affiliates. All rights reserved.</a:t>
            </a:r>
            <a:endParaRPr lang="en-US" sz="1120" b="0" i="0" dirty="0">
              <a:solidFill>
                <a:schemeClr val="bg1"/>
              </a:solidFill>
              <a:latin typeface="Amazon Ember Regular" charset="0"/>
            </a:endParaRPr>
          </a:p>
        </p:txBody>
      </p:sp>
    </p:spTree>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4630400" cy="8229600"/>
          </a:xfrm>
          <a:prstGeom prst="rect">
            <a:avLst/>
          </a:prstGeom>
          <a:solidFill>
            <a:schemeClr val="tx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2" name="Title Placeholder 1"/>
          <p:cNvSpPr>
            <a:spLocks noGrp="1"/>
          </p:cNvSpPr>
          <p:nvPr>
            <p:ph type="title"/>
          </p:nvPr>
        </p:nvSpPr>
        <p:spPr>
          <a:xfrm>
            <a:off x="538863" y="183898"/>
            <a:ext cx="13128486" cy="1371600"/>
          </a:xfrm>
          <a:prstGeom prst="rect">
            <a:avLst/>
          </a:prstGeom>
        </p:spPr>
        <p:txBody>
          <a:bodyPr vert="horz" lIns="91440" tIns="45720" rIns="91440" bIns="4572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44947" y="1614931"/>
            <a:ext cx="13128486" cy="5686282"/>
          </a:xfrm>
          <a:prstGeom prst="rect">
            <a:avLst/>
          </a:prstGeom>
        </p:spPr>
        <p:txBody>
          <a:bodyPr vert="horz" lIns="91440" tIns="45720" rIns="91440" bIns="4572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Box 5"/>
          <p:cNvSpPr txBox="1"/>
          <p:nvPr userDrawn="1"/>
        </p:nvSpPr>
        <p:spPr>
          <a:xfrm>
            <a:off x="782640" y="7683901"/>
            <a:ext cx="4844438" cy="172355"/>
          </a:xfrm>
          <a:prstGeom prst="rect">
            <a:avLst/>
          </a:prstGeom>
          <a:noFill/>
        </p:spPr>
        <p:txBody>
          <a:bodyPr wrap="square" lIns="0" tIns="0" rIns="0" bIns="0" rtlCol="0">
            <a:spAutoFit/>
          </a:bodyPr>
          <a:lstStyle/>
          <a:p>
            <a:r>
              <a:rPr lang="en-US" sz="1120" b="0" i="0" dirty="0" smtClean="0">
                <a:solidFill>
                  <a:schemeClr val="bg1"/>
                </a:solidFill>
                <a:latin typeface="Amazon Ember Regular" charset="0"/>
              </a:rPr>
              <a:t>© 2019, Amazon Web Services, Inc. or its Affiliates. All rights reserved.</a:t>
            </a:r>
            <a:endParaRPr lang="en-US" sz="1120" b="0" i="0" dirty="0">
              <a:solidFill>
                <a:schemeClr val="bg1"/>
              </a:solidFill>
              <a:latin typeface="Amazon Ember Regular" charset="0"/>
            </a:endParaRPr>
          </a:p>
        </p:txBody>
      </p:sp>
      <p:pic>
        <p:nvPicPr>
          <p:cNvPr id="7" name="Picture 6"/>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2962302" y="7531058"/>
            <a:ext cx="709381" cy="424102"/>
          </a:xfrm>
          <a:prstGeom prst="rect">
            <a:avLst/>
          </a:prstGeom>
        </p:spPr>
      </p:pic>
    </p:spTree>
    <p:extLst>
      <p:ext uri="{BB962C8B-B14F-4D97-AF65-F5344CB8AC3E}">
        <p14:creationId xmlns:p14="http://schemas.microsoft.com/office/powerpoint/2010/main" val="1431177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92" r:id="rId3"/>
    <p:sldLayoutId id="2147483677" r:id="rId4"/>
    <p:sldLayoutId id="2147483678" r:id="rId5"/>
    <p:sldLayoutId id="2147483679" r:id="rId6"/>
    <p:sldLayoutId id="2147483689" r:id="rId7"/>
    <p:sldLayoutId id="2147483690" r:id="rId8"/>
    <p:sldLayoutId id="2147483691" r:id="rId9"/>
    <p:sldLayoutId id="2147483680" r:id="rId10"/>
    <p:sldLayoutId id="2147483681" r:id="rId11"/>
    <p:sldLayoutId id="2147483682" r:id="rId12"/>
    <p:sldLayoutId id="2147483687" r:id="rId13"/>
    <p:sldLayoutId id="2147483693" r:id="rId14"/>
    <p:sldLayoutId id="2147483695" r:id="rId15"/>
    <p:sldLayoutId id="2147483694" r:id="rId16"/>
  </p:sldLayoutIdLst>
  <p:txStyles>
    <p:titleStyle>
      <a:lvl1pPr algn="l" defTabSz="731520" rtl="0" eaLnBrk="1" latinLnBrk="0" hangingPunct="1">
        <a:spcBef>
          <a:spcPct val="0"/>
        </a:spcBef>
        <a:buNone/>
        <a:defRPr sz="4480" b="0" i="0" kern="1200">
          <a:solidFill>
            <a:schemeClr val="bg1"/>
          </a:solidFill>
          <a:latin typeface="Amazon Ember Regular" charset="0"/>
          <a:ea typeface="+mj-ea"/>
          <a:cs typeface="Amazon Ember Regular" charset="0"/>
        </a:defRPr>
      </a:lvl1pPr>
    </p:titleStyle>
    <p:body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33.tiff"/><Relationship Id="rId13" Type="http://schemas.openxmlformats.org/officeDocument/2006/relationships/image" Target="../media/image38.png"/><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38.svg"/><Relationship Id="rId11" Type="http://schemas.openxmlformats.org/officeDocument/2006/relationships/image" Target="../media/image36.png"/><Relationship Id="rId5" Type="http://schemas.openxmlformats.org/officeDocument/2006/relationships/image" Target="../media/image31.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36.svg"/><Relationship Id="rId9" Type="http://schemas.openxmlformats.org/officeDocument/2006/relationships/image" Target="../media/image34.png"/><Relationship Id="rId1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19.xml"/><Relationship Id="rId16" Type="http://schemas.openxmlformats.org/officeDocument/2006/relationships/image" Target="../media/image53.png"/><Relationship Id="rId1" Type="http://schemas.openxmlformats.org/officeDocument/2006/relationships/slideLayout" Target="../slideLayouts/slideLayout10.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10.png"/><Relationship Id="rId9" Type="http://schemas.openxmlformats.org/officeDocument/2006/relationships/image" Target="../media/image46.png"/><Relationship Id="rId14"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0.xml"/><Relationship Id="rId6" Type="http://schemas.openxmlformats.org/officeDocument/2006/relationships/image" Target="../media/image56.png"/><Relationship Id="rId5" Type="http://schemas.openxmlformats.org/officeDocument/2006/relationships/image" Target="../media/image6.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8.png"/><Relationship Id="rId7"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image" Target="../media/image57.png"/><Relationship Id="rId5" Type="http://schemas.openxmlformats.org/officeDocument/2006/relationships/image" Target="../media/image42.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1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80638" y="5052366"/>
            <a:ext cx="5892800" cy="1213486"/>
          </a:xfrm>
        </p:spPr>
        <p:txBody>
          <a:bodyPr>
            <a:normAutofit/>
          </a:bodyPr>
          <a:lstStyle/>
          <a:p>
            <a:endParaRPr lang="en-US" dirty="0"/>
          </a:p>
        </p:txBody>
      </p:sp>
      <p:sp>
        <p:nvSpPr>
          <p:cNvPr id="3" name="Text Placeholder 2"/>
          <p:cNvSpPr>
            <a:spLocks noGrp="1"/>
          </p:cNvSpPr>
          <p:nvPr>
            <p:ph type="body" sz="quarter" idx="11"/>
          </p:nvPr>
        </p:nvSpPr>
        <p:spPr/>
        <p:txBody>
          <a:bodyPr/>
          <a:lstStyle/>
          <a:p>
            <a:endParaRPr lang="en-US" dirty="0">
              <a:solidFill>
                <a:schemeClr val="bg1"/>
              </a:solidFill>
            </a:endParaRPr>
          </a:p>
        </p:txBody>
      </p:sp>
      <p:sp>
        <p:nvSpPr>
          <p:cNvPr id="4" name="Text Placeholder 3"/>
          <p:cNvSpPr>
            <a:spLocks noGrp="1"/>
          </p:cNvSpPr>
          <p:nvPr>
            <p:ph type="body" sz="quarter" idx="12"/>
          </p:nvPr>
        </p:nvSpPr>
        <p:spPr/>
        <p:txBody>
          <a:bodyPr/>
          <a:lstStyle/>
          <a:p>
            <a:pPr defTabSz="1755645">
              <a:defRPr/>
            </a:pPr>
            <a:r>
              <a:rPr lang="en-US" dirty="0"/>
              <a:t>Building &amp; Implementing a Robust Monitoring Strategy</a:t>
            </a:r>
          </a:p>
        </p:txBody>
      </p:sp>
    </p:spTree>
    <p:extLst>
      <p:ext uri="{BB962C8B-B14F-4D97-AF65-F5344CB8AC3E}">
        <p14:creationId xmlns:p14="http://schemas.microsoft.com/office/powerpoint/2010/main" val="33034442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48640" y="183898"/>
            <a:ext cx="13511460" cy="873186"/>
          </a:xfrm>
        </p:spPr>
        <p:txBody>
          <a:bodyPr/>
          <a:lstStyle/>
          <a:p>
            <a:r>
              <a:rPr lang="en-US" sz="5400" dirty="0"/>
              <a:t>Why are we here?</a:t>
            </a:r>
          </a:p>
        </p:txBody>
      </p:sp>
      <p:sp>
        <p:nvSpPr>
          <p:cNvPr id="5" name="Content Placeholder 1">
            <a:extLst>
              <a:ext uri="{FF2B5EF4-FFF2-40B4-BE49-F238E27FC236}">
                <a16:creationId xmlns:a16="http://schemas.microsoft.com/office/drawing/2014/main" id="{B873114E-CF2C-BA48-BCA8-4268B97803C9}"/>
              </a:ext>
            </a:extLst>
          </p:cNvPr>
          <p:cNvSpPr txBox="1">
            <a:spLocks/>
          </p:cNvSpPr>
          <p:nvPr/>
        </p:nvSpPr>
        <p:spPr>
          <a:xfrm>
            <a:off x="548640" y="1645920"/>
            <a:ext cx="13510260" cy="5431155"/>
          </a:xfrm>
          <a:prstGeom prst="rect">
            <a:avLst/>
          </a:prstGeom>
        </p:spPr>
        <p:txBody>
          <a:bodyPr>
            <a:normAutofit lnSpcReduction="10000"/>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b="1" smtClean="0"/>
              <a:t>In order to help you…</a:t>
            </a:r>
          </a:p>
          <a:p>
            <a:endParaRPr lang="en-US" sz="2000" i="1" smtClean="0"/>
          </a:p>
          <a:p>
            <a:pPr marL="457200" indent="-457200">
              <a:spcBef>
                <a:spcPts val="0"/>
              </a:spcBef>
              <a:spcAft>
                <a:spcPts val="3000"/>
              </a:spcAft>
              <a:buClr>
                <a:srgbClr val="5983F7"/>
              </a:buClr>
              <a:buFont typeface="Arial" panose="020B0604020202020204" pitchFamily="34" charset="0"/>
              <a:buChar char="•"/>
            </a:pPr>
            <a:r>
              <a:rPr lang="en-US" smtClean="0"/>
              <a:t>Gain insights for business </a:t>
            </a:r>
            <a:r>
              <a:rPr lang="en-US" smtClean="0">
                <a:solidFill>
                  <a:srgbClr val="FFFFFF"/>
                </a:solidFill>
              </a:rPr>
              <a:t>&amp;</a:t>
            </a:r>
            <a:r>
              <a:rPr lang="en-US" smtClean="0"/>
              <a:t> operations</a:t>
            </a:r>
          </a:p>
          <a:p>
            <a:pPr marL="457200" indent="-457200">
              <a:spcBef>
                <a:spcPts val="0"/>
              </a:spcBef>
              <a:spcAft>
                <a:spcPts val="3000"/>
              </a:spcAft>
              <a:buClr>
                <a:srgbClr val="5983F7"/>
              </a:buClr>
              <a:buFont typeface="Arial" panose="020B0604020202020204" pitchFamily="34" charset="0"/>
              <a:buChar char="•"/>
            </a:pPr>
            <a:r>
              <a:rPr lang="en-US" smtClean="0"/>
              <a:t>Achieve </a:t>
            </a:r>
            <a:r>
              <a:rPr lang="en-US" smtClean="0">
                <a:solidFill>
                  <a:srgbClr val="FFFFFF"/>
                </a:solidFill>
              </a:rPr>
              <a:t>situational awareness</a:t>
            </a:r>
            <a:endParaRPr lang="en-US" smtClean="0">
              <a:solidFill>
                <a:srgbClr val="FFFFFF"/>
              </a:solidFill>
              <a:latin typeface="Amazon Ember" panose="02000000000000000000" pitchFamily="2" charset="0"/>
            </a:endParaRPr>
          </a:p>
          <a:p>
            <a:pPr marL="457200" indent="-457200">
              <a:spcBef>
                <a:spcPts val="0"/>
              </a:spcBef>
              <a:spcAft>
                <a:spcPts val="3000"/>
              </a:spcAft>
              <a:buClr>
                <a:srgbClr val="5983F7"/>
              </a:buClr>
              <a:buFont typeface="Arial" panose="020B0604020202020204" pitchFamily="34" charset="0"/>
              <a:buChar char="•"/>
            </a:pPr>
            <a:r>
              <a:rPr lang="en-US" smtClean="0">
                <a:solidFill>
                  <a:srgbClr val="FFFFFF"/>
                </a:solidFill>
              </a:rPr>
              <a:t>Enable</a:t>
            </a:r>
            <a:r>
              <a:rPr lang="en-US" smtClean="0"/>
              <a:t> </a:t>
            </a:r>
            <a:r>
              <a:rPr lang="en-US" smtClean="0">
                <a:solidFill>
                  <a:srgbClr val="FFFFFF"/>
                </a:solidFill>
              </a:rPr>
              <a:t>proactive</a:t>
            </a:r>
            <a:r>
              <a:rPr lang="en-US" smtClean="0"/>
              <a:t> courses of </a:t>
            </a:r>
            <a:r>
              <a:rPr lang="en-US" smtClean="0">
                <a:solidFill>
                  <a:srgbClr val="FFFFFF"/>
                </a:solidFill>
              </a:rPr>
              <a:t>action</a:t>
            </a:r>
            <a:endParaRPr lang="en-US" smtClean="0">
              <a:solidFill>
                <a:srgbClr val="FFFFFF"/>
              </a:solidFill>
              <a:latin typeface="Amazon Ember" panose="02000000000000000000" pitchFamily="2" charset="0"/>
            </a:endParaRPr>
          </a:p>
          <a:p>
            <a:pPr marL="457200" indent="-457200">
              <a:spcBef>
                <a:spcPts val="0"/>
              </a:spcBef>
              <a:spcAft>
                <a:spcPts val="3000"/>
              </a:spcAft>
              <a:buClr>
                <a:srgbClr val="5983F7"/>
              </a:buClr>
              <a:buFont typeface="Arial" panose="020B0604020202020204" pitchFamily="34" charset="0"/>
              <a:buChar char="•"/>
            </a:pPr>
            <a:r>
              <a:rPr lang="en-US" smtClean="0"/>
              <a:t>Provide timely </a:t>
            </a:r>
            <a:r>
              <a:rPr lang="en-US" smtClean="0">
                <a:solidFill>
                  <a:srgbClr val="FFFFFF"/>
                </a:solidFill>
              </a:rPr>
              <a:t>&amp;</a:t>
            </a:r>
            <a:r>
              <a:rPr lang="en-US" smtClean="0"/>
              <a:t> effective </a:t>
            </a:r>
            <a:r>
              <a:rPr lang="en-US" smtClean="0">
                <a:solidFill>
                  <a:srgbClr val="FFFFFF"/>
                </a:solidFill>
              </a:rPr>
              <a:t>responses</a:t>
            </a:r>
            <a:endParaRPr lang="en-US" smtClean="0">
              <a:solidFill>
                <a:srgbClr val="FFFFFF"/>
              </a:solidFill>
              <a:latin typeface="Amazon Ember" panose="02000000000000000000" pitchFamily="2" charset="0"/>
            </a:endParaRPr>
          </a:p>
          <a:p>
            <a:pPr marL="457200" indent="-457200">
              <a:spcBef>
                <a:spcPts val="0"/>
              </a:spcBef>
              <a:spcAft>
                <a:spcPts val="3000"/>
              </a:spcAft>
              <a:buClr>
                <a:srgbClr val="5983F7"/>
              </a:buClr>
              <a:buFont typeface="Arial" panose="020B0604020202020204" pitchFamily="34" charset="0"/>
              <a:buChar char="•"/>
            </a:pPr>
            <a:r>
              <a:rPr lang="en-US" smtClean="0"/>
              <a:t>Achieve their business </a:t>
            </a:r>
            <a:r>
              <a:rPr lang="en-US" smtClean="0">
                <a:solidFill>
                  <a:srgbClr val="FFFFFF"/>
                </a:solidFill>
              </a:rPr>
              <a:t>outcomes</a:t>
            </a:r>
            <a:endParaRPr lang="en-US" dirty="0">
              <a:solidFill>
                <a:srgbClr val="FFFFFF"/>
              </a:solidFill>
              <a:latin typeface="Amazon Ember" panose="02000000000000000000" pitchFamily="2" charset="0"/>
            </a:endParaRPr>
          </a:p>
        </p:txBody>
      </p:sp>
      <p:pic>
        <p:nvPicPr>
          <p:cNvPr id="6" name="Picture 5">
            <a:extLst>
              <a:ext uri="{FF2B5EF4-FFF2-40B4-BE49-F238E27FC236}">
                <a16:creationId xmlns:a16="http://schemas.microsoft.com/office/drawing/2014/main" id="{73F80CD3-BD06-5249-98C4-1CDA6991DB4F}"/>
              </a:ext>
            </a:extLst>
          </p:cNvPr>
          <p:cNvPicPr>
            <a:picLocks noChangeAspect="1"/>
          </p:cNvPicPr>
          <p:nvPr/>
        </p:nvPicPr>
        <p:blipFill rotWithShape="1">
          <a:blip r:embed="rId3">
            <a:extLst>
              <a:ext uri="{BEBA8EAE-BF5A-486C-A8C5-ECC9F3942E4B}">
                <a14:imgProps xmlns:a14="http://schemas.microsoft.com/office/drawing/2010/main">
                  <a14:imgLayer>
                    <a14:imgEffect>
                      <a14:brightnessContrast bright="40000" contrast="-40000"/>
                    </a14:imgEffect>
                  </a14:imgLayer>
                </a14:imgProps>
              </a:ext>
            </a:extLst>
          </a:blip>
          <a:srcRect r="23743" b="10222"/>
          <a:stretch/>
        </p:blipFill>
        <p:spPr>
          <a:xfrm>
            <a:off x="10178714" y="1940895"/>
            <a:ext cx="4451686" cy="5240956"/>
          </a:xfrm>
          <a:prstGeom prst="rect">
            <a:avLst/>
          </a:prstGeom>
        </p:spPr>
      </p:pic>
    </p:spTree>
    <p:extLst>
      <p:ext uri="{BB962C8B-B14F-4D97-AF65-F5344CB8AC3E}">
        <p14:creationId xmlns:p14="http://schemas.microsoft.com/office/powerpoint/2010/main" val="152213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7FF327-1576-724C-87D1-8F43A6E2A62C}"/>
              </a:ext>
            </a:extLst>
          </p:cNvPr>
          <p:cNvSpPr>
            <a:spLocks noGrp="1"/>
          </p:cNvSpPr>
          <p:nvPr>
            <p:ph type="title"/>
          </p:nvPr>
        </p:nvSpPr>
        <p:spPr>
          <a:xfrm>
            <a:off x="548640" y="3108960"/>
            <a:ext cx="12435840" cy="1488168"/>
          </a:xfrm>
        </p:spPr>
        <p:txBody>
          <a:bodyPr/>
          <a:lstStyle/>
          <a:p>
            <a:r>
              <a:rPr lang="en-US" sz="5400" b="1" dirty="0"/>
              <a:t>Why do </a:t>
            </a:r>
            <a:r>
              <a:rPr lang="en-US" sz="5400" b="1" dirty="0" smtClean="0"/>
              <a:t>you </a:t>
            </a:r>
            <a:r>
              <a:rPr lang="en-US" sz="5400" b="1" dirty="0"/>
              <a:t>need a monitoring strategy?</a:t>
            </a:r>
            <a:endParaRPr lang="en-US" sz="4800" b="1" i="1" dirty="0"/>
          </a:p>
        </p:txBody>
      </p:sp>
    </p:spTree>
    <p:extLst>
      <p:ext uri="{BB962C8B-B14F-4D97-AF65-F5344CB8AC3E}">
        <p14:creationId xmlns:p14="http://schemas.microsoft.com/office/powerpoint/2010/main" val="3971230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1EC76FB2-9996-4C43-B514-2054459647C9}"/>
              </a:ext>
            </a:extLst>
          </p:cNvPr>
          <p:cNvSpPr>
            <a:spLocks noGrp="1"/>
          </p:cNvSpPr>
          <p:nvPr>
            <p:ph type="title"/>
          </p:nvPr>
        </p:nvSpPr>
        <p:spPr>
          <a:xfrm>
            <a:off x="548640" y="183898"/>
            <a:ext cx="13511460" cy="873186"/>
          </a:xfrm>
        </p:spPr>
        <p:txBody>
          <a:bodyPr/>
          <a:lstStyle/>
          <a:p>
            <a:r>
              <a:rPr lang="en-US" dirty="0" smtClean="0"/>
              <a:t>Why do you need a monitoring strategy?</a:t>
            </a:r>
            <a:endParaRPr lang="en-US" dirty="0"/>
          </a:p>
        </p:txBody>
      </p:sp>
      <p:sp>
        <p:nvSpPr>
          <p:cNvPr id="5" name="Content Placeholder 3">
            <a:extLst>
              <a:ext uri="{FF2B5EF4-FFF2-40B4-BE49-F238E27FC236}">
                <a16:creationId xmlns:a16="http://schemas.microsoft.com/office/drawing/2014/main" id="{28DF1838-91F1-254F-A034-A42B25B8B12E}"/>
              </a:ext>
            </a:extLst>
          </p:cNvPr>
          <p:cNvSpPr txBox="1">
            <a:spLocks/>
          </p:cNvSpPr>
          <p:nvPr/>
        </p:nvSpPr>
        <p:spPr>
          <a:xfrm>
            <a:off x="548640" y="2379806"/>
            <a:ext cx="13510260" cy="3469989"/>
          </a:xfrm>
          <a:prstGeom prst="rect">
            <a:avLst/>
          </a:prstGeom>
        </p:spPr>
        <p:txBody>
          <a:bodyPr>
            <a:normAutofit/>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571500" indent="-571500">
              <a:buFont typeface="Arial" panose="020B0604020202020204" pitchFamily="34" charset="0"/>
              <a:buChar char="•"/>
            </a:pPr>
            <a:r>
              <a:rPr lang="en-US" sz="3600" smtClean="0">
                <a:latin typeface="Amazon Ember" panose="020B0603020204020204" pitchFamily="34" charset="0"/>
                <a:ea typeface="Amazon Ember" panose="020B0603020204020204" pitchFamily="34" charset="0"/>
                <a:cs typeface="Amazon Ember" panose="020B0603020204020204" pitchFamily="34" charset="0"/>
              </a:rPr>
              <a:t>Failing to plan is planning to fail…</a:t>
            </a:r>
          </a:p>
          <a:p>
            <a:pPr marL="571500" indent="-571500">
              <a:buFont typeface="Arial" panose="020B0604020202020204" pitchFamily="34" charset="0"/>
              <a:buChar char="•"/>
            </a:pPr>
            <a:endParaRPr lang="en-US" sz="3600" smtClean="0">
              <a:latin typeface="Amazon Ember" panose="020B0603020204020204" pitchFamily="34" charset="0"/>
              <a:ea typeface="Amazon Ember" panose="020B0603020204020204" pitchFamily="34" charset="0"/>
              <a:cs typeface="Amazon Ember" panose="020B0603020204020204" pitchFamily="34" charset="0"/>
            </a:endParaRPr>
          </a:p>
          <a:p>
            <a:pPr marL="571500" indent="-571500">
              <a:buFont typeface="Arial" panose="020B0604020202020204" pitchFamily="34" charset="0"/>
              <a:buChar char="•"/>
            </a:pPr>
            <a:r>
              <a:rPr lang="en-US" sz="3600" smtClean="0">
                <a:latin typeface="Amazon Ember" panose="020B0603020204020204" pitchFamily="34" charset="0"/>
                <a:ea typeface="Amazon Ember" panose="020B0603020204020204" pitchFamily="34" charset="0"/>
                <a:cs typeface="Amazon Ember" panose="020B0603020204020204" pitchFamily="34" charset="0"/>
              </a:rPr>
              <a:t>You </a:t>
            </a:r>
            <a:r>
              <a:rPr lang="en-US" sz="3600" smtClean="0">
                <a:solidFill>
                  <a:srgbClr val="FFFFFF"/>
                </a:solidFill>
                <a:latin typeface="Amazon Ember" panose="020B0603020204020204" pitchFamily="34" charset="0"/>
                <a:ea typeface="Amazon Ember" panose="020B0603020204020204" pitchFamily="34" charset="0"/>
                <a:cs typeface="Amazon Ember" panose="020B0603020204020204" pitchFamily="34" charset="0"/>
              </a:rPr>
              <a:t>cannot</a:t>
            </a:r>
            <a:r>
              <a:rPr lang="en-US" sz="3600" smtClean="0">
                <a:latin typeface="Amazon Ember" panose="020B0603020204020204" pitchFamily="34" charset="0"/>
                <a:ea typeface="Amazon Ember" panose="020B0603020204020204" pitchFamily="34" charset="0"/>
                <a:cs typeface="Amazon Ember" panose="020B0603020204020204" pitchFamily="34" charset="0"/>
              </a:rPr>
              <a:t> manage what you </a:t>
            </a:r>
            <a:r>
              <a:rPr lang="en-US" sz="3600" smtClean="0">
                <a:solidFill>
                  <a:srgbClr val="FFFFFF"/>
                </a:solidFill>
                <a:latin typeface="Amazon Ember" panose="020B0603020204020204" pitchFamily="34" charset="0"/>
                <a:ea typeface="Amazon Ember" panose="020B0603020204020204" pitchFamily="34" charset="0"/>
                <a:cs typeface="Amazon Ember" panose="020B0603020204020204" pitchFamily="34" charset="0"/>
              </a:rPr>
              <a:t>do not</a:t>
            </a:r>
            <a:r>
              <a:rPr lang="en-US" sz="3600" smtClean="0">
                <a:latin typeface="Amazon Ember" panose="020B0603020204020204" pitchFamily="34" charset="0"/>
                <a:ea typeface="Amazon Ember" panose="020B0603020204020204" pitchFamily="34" charset="0"/>
                <a:cs typeface="Amazon Ember" panose="020B0603020204020204" pitchFamily="34" charset="0"/>
              </a:rPr>
              <a:t> measure</a:t>
            </a:r>
          </a:p>
          <a:p>
            <a:pPr marL="571500" indent="-571500">
              <a:buFont typeface="Arial" panose="020B0604020202020204" pitchFamily="34" charset="0"/>
              <a:buChar char="•"/>
            </a:pPr>
            <a:endParaRPr lang="en-US" sz="3600" smtClean="0">
              <a:latin typeface="Amazon Ember" panose="020B0603020204020204" pitchFamily="34" charset="0"/>
              <a:ea typeface="Amazon Ember" panose="020B0603020204020204" pitchFamily="34" charset="0"/>
              <a:cs typeface="Amazon Ember" panose="020B0603020204020204" pitchFamily="34" charset="0"/>
            </a:endParaRPr>
          </a:p>
          <a:p>
            <a:pPr marL="571500" indent="-571500">
              <a:buFont typeface="Arial" panose="020B0604020202020204" pitchFamily="34" charset="0"/>
              <a:buChar char="•"/>
            </a:pPr>
            <a:r>
              <a:rPr lang="en-US" sz="3600" smtClean="0">
                <a:latin typeface="Amazon Ember" panose="020B0603020204020204" pitchFamily="34" charset="0"/>
                <a:ea typeface="Amazon Ember" panose="020B0603020204020204" pitchFamily="34" charset="0"/>
                <a:cs typeface="Amazon Ember" panose="020B0603020204020204" pitchFamily="34" charset="0"/>
              </a:rPr>
              <a:t>A monitoring plan defines what is </a:t>
            </a:r>
            <a:r>
              <a:rPr lang="en-US" sz="3600" smtClean="0">
                <a:solidFill>
                  <a:srgbClr val="FFFFFF"/>
                </a:solidFill>
                <a:latin typeface="Amazon Ember" panose="020B0603020204020204" pitchFamily="34" charset="0"/>
                <a:ea typeface="Amazon Ember" panose="020B0603020204020204" pitchFamily="34" charset="0"/>
                <a:cs typeface="Amazon Ember" panose="020B0603020204020204" pitchFamily="34" charset="0"/>
              </a:rPr>
              <a:t>measured</a:t>
            </a:r>
          </a:p>
          <a:p>
            <a:pPr marL="571500" indent="-571500">
              <a:buFont typeface="Arial" panose="020B0604020202020204" pitchFamily="34" charset="0"/>
              <a:buChar char="•"/>
            </a:pPr>
            <a:endParaRPr lang="en-US" sz="36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735433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EC76FB2-9996-4C43-B514-2054459647C9}"/>
              </a:ext>
            </a:extLst>
          </p:cNvPr>
          <p:cNvSpPr>
            <a:spLocks noGrp="1"/>
          </p:cNvSpPr>
          <p:nvPr>
            <p:ph type="title"/>
          </p:nvPr>
        </p:nvSpPr>
        <p:spPr>
          <a:xfrm>
            <a:off x="548640" y="183898"/>
            <a:ext cx="13511460" cy="873186"/>
          </a:xfrm>
        </p:spPr>
        <p:txBody>
          <a:bodyPr/>
          <a:lstStyle/>
          <a:p>
            <a:r>
              <a:rPr lang="en-US" dirty="0" smtClean="0"/>
              <a:t>Does monitoring need your attention?</a:t>
            </a:r>
            <a:endParaRPr lang="en-US" dirty="0"/>
          </a:p>
        </p:txBody>
      </p:sp>
      <p:sp>
        <p:nvSpPr>
          <p:cNvPr id="3" name="Content Placeholder 3">
            <a:extLst>
              <a:ext uri="{FF2B5EF4-FFF2-40B4-BE49-F238E27FC236}">
                <a16:creationId xmlns:a16="http://schemas.microsoft.com/office/drawing/2014/main" id="{28DF1838-91F1-254F-A034-A42B25B8B12E}"/>
              </a:ext>
            </a:extLst>
          </p:cNvPr>
          <p:cNvSpPr txBox="1">
            <a:spLocks/>
          </p:cNvSpPr>
          <p:nvPr/>
        </p:nvSpPr>
        <p:spPr>
          <a:xfrm>
            <a:off x="548640" y="1645920"/>
            <a:ext cx="13510260" cy="5431155"/>
          </a:xfrm>
          <a:prstGeom prst="rect">
            <a:avLst/>
          </a:prstGeom>
        </p:spPr>
        <p:txBody>
          <a:bodyPr>
            <a:normAutofit fontScale="92500" lnSpcReduction="10000"/>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dirty="0" smtClean="0"/>
              <a:t>Have you ever…</a:t>
            </a:r>
          </a:p>
          <a:p>
            <a:r>
              <a:rPr lang="en-US" b="1" dirty="0" smtClean="0">
                <a:solidFill>
                  <a:srgbClr val="50FF1F"/>
                </a:solidFill>
              </a:rPr>
              <a:t>…been asked how are you supposed to monitor in the cloud</a:t>
            </a:r>
            <a:endParaRPr lang="en-US" b="1" dirty="0" smtClean="0">
              <a:solidFill>
                <a:srgbClr val="50FF1F"/>
              </a:solidFill>
              <a:latin typeface="Amazon Ember" panose="02000000000000000000" pitchFamily="2" charset="0"/>
            </a:endParaRPr>
          </a:p>
          <a:p>
            <a:r>
              <a:rPr lang="en-US" b="1" dirty="0" smtClean="0">
                <a:solidFill>
                  <a:srgbClr val="50FF1F"/>
                </a:solidFill>
              </a:rPr>
              <a:t>…been asked how to get visibility into serverless workloads</a:t>
            </a:r>
          </a:p>
          <a:p>
            <a:r>
              <a:rPr lang="en-US" b="1" dirty="0" smtClean="0">
                <a:solidFill>
                  <a:srgbClr val="F29D39"/>
                </a:solidFill>
              </a:rPr>
              <a:t>…struggled with not knowing why a workload has issues</a:t>
            </a:r>
          </a:p>
          <a:p>
            <a:r>
              <a:rPr lang="en-US" b="1" dirty="0" smtClean="0">
                <a:solidFill>
                  <a:srgbClr val="FF0000"/>
                </a:solidFill>
              </a:rPr>
              <a:t>…seen the same operations issue happen regularly</a:t>
            </a:r>
          </a:p>
          <a:p>
            <a:r>
              <a:rPr lang="en-US" b="1" dirty="0" smtClean="0">
                <a:solidFill>
                  <a:srgbClr val="FF0000"/>
                </a:solidFill>
              </a:rPr>
              <a:t>…been asked which monitoring tool is better</a:t>
            </a:r>
            <a:endParaRPr lang="en-US" b="1" dirty="0" smtClean="0">
              <a:solidFill>
                <a:srgbClr val="FF0000"/>
              </a:solidFill>
              <a:latin typeface="Amazon Ember" panose="02000000000000000000" pitchFamily="2" charset="0"/>
            </a:endParaRPr>
          </a:p>
          <a:p>
            <a:endParaRPr lang="en-US" dirty="0" smtClean="0"/>
          </a:p>
          <a:p>
            <a:r>
              <a:rPr lang="en-US" b="1" i="1" dirty="0" smtClean="0"/>
              <a:t>Then you probably need to work on building a monitoring strategy.</a:t>
            </a:r>
          </a:p>
          <a:p>
            <a:endParaRPr lang="en-US" dirty="0"/>
          </a:p>
        </p:txBody>
      </p:sp>
    </p:spTree>
    <p:extLst>
      <p:ext uri="{BB962C8B-B14F-4D97-AF65-F5344CB8AC3E}">
        <p14:creationId xmlns:p14="http://schemas.microsoft.com/office/powerpoint/2010/main" val="150694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1488238"/>
            <a:ext cx="10699883" cy="2001069"/>
          </a:xfrm>
        </p:spPr>
        <p:txBody>
          <a:bodyPr/>
          <a:lstStyle/>
          <a:p>
            <a:r>
              <a:rPr lang="en-US" sz="5400" b="1" dirty="0"/>
              <a:t>What is a Monitoring Strategy?</a:t>
            </a:r>
            <a:br>
              <a:rPr lang="en-US" sz="5400" b="1" dirty="0"/>
            </a:br>
            <a:r>
              <a:rPr lang="en-US" sz="3600" b="1" i="1" dirty="0"/>
              <a:t>And how do you build one?</a:t>
            </a:r>
            <a:endParaRPr lang="en-US" sz="5400" dirty="0"/>
          </a:p>
        </p:txBody>
      </p:sp>
    </p:spTree>
    <p:extLst>
      <p:ext uri="{BB962C8B-B14F-4D97-AF65-F5344CB8AC3E}">
        <p14:creationId xmlns:p14="http://schemas.microsoft.com/office/powerpoint/2010/main" val="4887586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18E08BC-5005-1743-9575-30705E6C0267}"/>
              </a:ext>
            </a:extLst>
          </p:cNvPr>
          <p:cNvGrpSpPr/>
          <p:nvPr/>
        </p:nvGrpSpPr>
        <p:grpSpPr>
          <a:xfrm>
            <a:off x="6123942" y="4337473"/>
            <a:ext cx="2464155" cy="2514851"/>
            <a:chOff x="6123942" y="4337473"/>
            <a:chExt cx="2464155" cy="2514851"/>
          </a:xfrm>
        </p:grpSpPr>
        <p:pic>
          <p:nvPicPr>
            <p:cNvPr id="5" name="Picture 4">
              <a:extLst>
                <a:ext uri="{FF2B5EF4-FFF2-40B4-BE49-F238E27FC236}">
                  <a16:creationId xmlns:a16="http://schemas.microsoft.com/office/drawing/2014/main" id="{2B4581EE-F71F-1643-83F7-BF45DC4AB1E2}"/>
                </a:ext>
              </a:extLst>
            </p:cNvPr>
            <p:cNvPicPr>
              <a:picLocks noChangeAspect="1"/>
            </p:cNvPicPr>
            <p:nvPr/>
          </p:nvPicPr>
          <p:blipFill>
            <a:blip r:embed="rId3"/>
            <a:stretch>
              <a:fillRect/>
            </a:stretch>
          </p:blipFill>
          <p:spPr>
            <a:xfrm>
              <a:off x="7252197" y="4337473"/>
              <a:ext cx="1335900" cy="1335900"/>
            </a:xfrm>
            <a:prstGeom prst="rect">
              <a:avLst/>
            </a:prstGeom>
          </p:spPr>
        </p:pic>
        <p:pic>
          <p:nvPicPr>
            <p:cNvPr id="6" name="Picture 5">
              <a:extLst>
                <a:ext uri="{FF2B5EF4-FFF2-40B4-BE49-F238E27FC236}">
                  <a16:creationId xmlns:a16="http://schemas.microsoft.com/office/drawing/2014/main" id="{08D17FBA-4F55-984F-9672-51D71C31ABF8}"/>
                </a:ext>
              </a:extLst>
            </p:cNvPr>
            <p:cNvPicPr>
              <a:picLocks noChangeAspect="1"/>
            </p:cNvPicPr>
            <p:nvPr/>
          </p:nvPicPr>
          <p:blipFill>
            <a:blip r:embed="rId4"/>
            <a:stretch>
              <a:fillRect/>
            </a:stretch>
          </p:blipFill>
          <p:spPr>
            <a:xfrm>
              <a:off x="6197359" y="4378544"/>
              <a:ext cx="1240944" cy="1240945"/>
            </a:xfrm>
            <a:prstGeom prst="rect">
              <a:avLst/>
            </a:prstGeom>
          </p:spPr>
        </p:pic>
        <p:pic>
          <p:nvPicPr>
            <p:cNvPr id="7" name="Picture 6">
              <a:extLst>
                <a:ext uri="{FF2B5EF4-FFF2-40B4-BE49-F238E27FC236}">
                  <a16:creationId xmlns:a16="http://schemas.microsoft.com/office/drawing/2014/main" id="{101376DE-97E0-6F4E-90A7-AFB9E32897E5}"/>
                </a:ext>
              </a:extLst>
            </p:cNvPr>
            <p:cNvPicPr>
              <a:picLocks noChangeAspect="1"/>
            </p:cNvPicPr>
            <p:nvPr/>
          </p:nvPicPr>
          <p:blipFill>
            <a:blip r:embed="rId5"/>
            <a:stretch>
              <a:fillRect/>
            </a:stretch>
          </p:blipFill>
          <p:spPr>
            <a:xfrm>
              <a:off x="7264494" y="5534462"/>
              <a:ext cx="1311304" cy="1317862"/>
            </a:xfrm>
            <a:prstGeom prst="rect">
              <a:avLst/>
            </a:prstGeom>
          </p:spPr>
        </p:pic>
        <p:pic>
          <p:nvPicPr>
            <p:cNvPr id="8" name="Picture 7">
              <a:extLst>
                <a:ext uri="{FF2B5EF4-FFF2-40B4-BE49-F238E27FC236}">
                  <a16:creationId xmlns:a16="http://schemas.microsoft.com/office/drawing/2014/main" id="{D054E2CF-15CD-8943-8FA7-FF532EE8B51A}"/>
                </a:ext>
              </a:extLst>
            </p:cNvPr>
            <p:cNvPicPr>
              <a:picLocks noChangeAspect="1"/>
            </p:cNvPicPr>
            <p:nvPr/>
          </p:nvPicPr>
          <p:blipFill>
            <a:blip r:embed="rId6"/>
            <a:stretch>
              <a:fillRect/>
            </a:stretch>
          </p:blipFill>
          <p:spPr>
            <a:xfrm>
              <a:off x="6123942" y="5586284"/>
              <a:ext cx="1220495" cy="1226599"/>
            </a:xfrm>
            <a:prstGeom prst="rect">
              <a:avLst/>
            </a:prstGeom>
          </p:spPr>
        </p:pic>
        <p:sp>
          <p:nvSpPr>
            <p:cNvPr id="9" name="Rectangle 8">
              <a:extLst>
                <a:ext uri="{FF2B5EF4-FFF2-40B4-BE49-F238E27FC236}">
                  <a16:creationId xmlns:a16="http://schemas.microsoft.com/office/drawing/2014/main" id="{2078BC71-F780-BE44-9FEC-0C448C29AF64}"/>
                </a:ext>
              </a:extLst>
            </p:cNvPr>
            <p:cNvSpPr/>
            <p:nvPr/>
          </p:nvSpPr>
          <p:spPr>
            <a:xfrm>
              <a:off x="6180926" y="4417985"/>
              <a:ext cx="2336595" cy="2336596"/>
            </a:xfrm>
            <a:prstGeom prst="rect">
              <a:avLst/>
            </a:prstGeom>
            <a:noFill/>
            <a:ln w="12700">
              <a:solidFill>
                <a:srgbClr val="414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7FD999F4-D1D4-7D45-8134-9E8B80B285EB}"/>
                </a:ext>
              </a:extLst>
            </p:cNvPr>
            <p:cNvCxnSpPr>
              <a:stCxn id="9" idx="1"/>
              <a:endCxn id="9" idx="3"/>
            </p:cNvCxnSpPr>
            <p:nvPr/>
          </p:nvCxnSpPr>
          <p:spPr>
            <a:xfrm>
              <a:off x="6180926" y="5586284"/>
              <a:ext cx="2336595" cy="0"/>
            </a:xfrm>
            <a:prstGeom prst="line">
              <a:avLst/>
            </a:prstGeom>
            <a:ln>
              <a:solidFill>
                <a:srgbClr val="84A1FC"/>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D5F736B-5F8D-554D-AB94-42692E04CA4C}"/>
                </a:ext>
              </a:extLst>
            </p:cNvPr>
            <p:cNvCxnSpPr>
              <a:cxnSpLocks/>
              <a:stCxn id="9" idx="0"/>
              <a:endCxn id="9" idx="2"/>
            </p:cNvCxnSpPr>
            <p:nvPr/>
          </p:nvCxnSpPr>
          <p:spPr>
            <a:xfrm>
              <a:off x="7349224" y="4417985"/>
              <a:ext cx="0" cy="2336596"/>
            </a:xfrm>
            <a:prstGeom prst="line">
              <a:avLst/>
            </a:prstGeom>
            <a:ln>
              <a:solidFill>
                <a:srgbClr val="84A1FC"/>
              </a:solidFill>
            </a:ln>
            <a:effectLst/>
          </p:spPr>
          <p:style>
            <a:lnRef idx="2">
              <a:schemeClr val="accent1"/>
            </a:lnRef>
            <a:fillRef idx="0">
              <a:schemeClr val="accent1"/>
            </a:fillRef>
            <a:effectRef idx="1">
              <a:schemeClr val="accent1"/>
            </a:effectRef>
            <a:fontRef idx="minor">
              <a:schemeClr val="tx1"/>
            </a:fontRef>
          </p:style>
        </p:cxnSp>
      </p:grpSp>
      <p:sp>
        <p:nvSpPr>
          <p:cNvPr id="12" name="arc_Actions">
            <a:extLst>
              <a:ext uri="{FF2B5EF4-FFF2-40B4-BE49-F238E27FC236}">
                <a16:creationId xmlns:a16="http://schemas.microsoft.com/office/drawing/2014/main" id="{3FA6D2D4-178D-4841-8E8D-62F047A6178D}"/>
              </a:ext>
            </a:extLst>
          </p:cNvPr>
          <p:cNvSpPr/>
          <p:nvPr/>
        </p:nvSpPr>
        <p:spPr bwMode="auto">
          <a:xfrm rot="8946525">
            <a:off x="8527475" y="4685348"/>
            <a:ext cx="3326073" cy="826416"/>
          </a:xfrm>
          <a:prstGeom prst="arc">
            <a:avLst>
              <a:gd name="adj1" fmla="val 13541838"/>
              <a:gd name="adj2" fmla="val 21520141"/>
            </a:avLst>
          </a:prstGeom>
          <a:ln w="111125">
            <a:solidFill>
              <a:schemeClr val="accent1"/>
            </a:solidFill>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grpSp>
        <p:nvGrpSpPr>
          <p:cNvPr id="13" name="Group 12">
            <a:extLst>
              <a:ext uri="{FF2B5EF4-FFF2-40B4-BE49-F238E27FC236}">
                <a16:creationId xmlns:a16="http://schemas.microsoft.com/office/drawing/2014/main" id="{0CC57C20-B1F6-354D-9906-39531D5B44F0}"/>
              </a:ext>
            </a:extLst>
          </p:cNvPr>
          <p:cNvGrpSpPr/>
          <p:nvPr/>
        </p:nvGrpSpPr>
        <p:grpSpPr>
          <a:xfrm>
            <a:off x="10916580" y="4335261"/>
            <a:ext cx="1522949" cy="1490297"/>
            <a:chOff x="10916580" y="4335261"/>
            <a:chExt cx="1522949" cy="1490297"/>
          </a:xfrm>
        </p:grpSpPr>
        <p:sp>
          <p:nvSpPr>
            <p:cNvPr id="14" name="TextBox 13">
              <a:extLst>
                <a:ext uri="{FF2B5EF4-FFF2-40B4-BE49-F238E27FC236}">
                  <a16:creationId xmlns:a16="http://schemas.microsoft.com/office/drawing/2014/main" id="{B8D0E9C4-34B9-FC48-9F61-6F766FA7E145}"/>
                </a:ext>
              </a:extLst>
            </p:cNvPr>
            <p:cNvSpPr txBox="1"/>
            <p:nvPr/>
          </p:nvSpPr>
          <p:spPr bwMode="auto">
            <a:xfrm>
              <a:off x="10916580" y="4335261"/>
              <a:ext cx="1522949" cy="415349"/>
            </a:xfrm>
            <a:prstGeom prst="rect">
              <a:avLst/>
            </a:prstGeom>
            <a:noFill/>
          </p:spPr>
          <p:txBody>
            <a:bodyPr>
              <a:spAutoFit/>
            </a:bodyPr>
            <a:lstStyle/>
            <a:p>
              <a:pPr algn="ctr" defTabSz="1097212" eaLnBrk="1" fontAlgn="auto" hangingPunct="1">
                <a:spcBef>
                  <a:spcPts val="0"/>
                </a:spcBef>
                <a:spcAft>
                  <a:spcPts val="0"/>
                </a:spcAft>
                <a:defRPr/>
              </a:pPr>
              <a:r>
                <a:rPr lang="en-US" sz="2000"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Actions</a:t>
              </a:r>
            </a:p>
          </p:txBody>
        </p:sp>
        <p:pic>
          <p:nvPicPr>
            <p:cNvPr id="15" name="Picture 14">
              <a:extLst>
                <a:ext uri="{FF2B5EF4-FFF2-40B4-BE49-F238E27FC236}">
                  <a16:creationId xmlns:a16="http://schemas.microsoft.com/office/drawing/2014/main" id="{8ED158EF-78E6-5844-A1E5-E9B6CAF4F3AD}"/>
                </a:ext>
              </a:extLst>
            </p:cNvPr>
            <p:cNvPicPr>
              <a:picLocks noChangeAspect="1"/>
            </p:cNvPicPr>
            <p:nvPr/>
          </p:nvPicPr>
          <p:blipFill>
            <a:blip r:embed="rId7"/>
            <a:stretch>
              <a:fillRect/>
            </a:stretch>
          </p:blipFill>
          <p:spPr>
            <a:xfrm>
              <a:off x="11053981" y="4577412"/>
              <a:ext cx="1248146" cy="1248146"/>
            </a:xfrm>
            <a:prstGeom prst="rect">
              <a:avLst/>
            </a:prstGeom>
          </p:spPr>
        </p:pic>
      </p:grpSp>
      <p:sp>
        <p:nvSpPr>
          <p:cNvPr id="16" name="arc_Insights">
            <a:extLst>
              <a:ext uri="{FF2B5EF4-FFF2-40B4-BE49-F238E27FC236}">
                <a16:creationId xmlns:a16="http://schemas.microsoft.com/office/drawing/2014/main" id="{0C288C93-5105-DD42-8DC8-7DBB87A37CEC}"/>
              </a:ext>
            </a:extLst>
          </p:cNvPr>
          <p:cNvSpPr/>
          <p:nvPr/>
        </p:nvSpPr>
        <p:spPr bwMode="auto">
          <a:xfrm rot="7137668">
            <a:off x="8488949" y="3805012"/>
            <a:ext cx="1376985" cy="802153"/>
          </a:xfrm>
          <a:prstGeom prst="arc">
            <a:avLst>
              <a:gd name="adj1" fmla="val 12936112"/>
              <a:gd name="adj2" fmla="val 21520141"/>
            </a:avLst>
          </a:prstGeom>
          <a:ln w="111125">
            <a:solidFill>
              <a:srgbClr val="84A1FC"/>
            </a:solidFill>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grpSp>
        <p:nvGrpSpPr>
          <p:cNvPr id="17" name="Group 16">
            <a:extLst>
              <a:ext uri="{FF2B5EF4-FFF2-40B4-BE49-F238E27FC236}">
                <a16:creationId xmlns:a16="http://schemas.microsoft.com/office/drawing/2014/main" id="{618AF805-49F6-DF48-8E99-F268D4ECE90C}"/>
              </a:ext>
            </a:extLst>
          </p:cNvPr>
          <p:cNvGrpSpPr/>
          <p:nvPr/>
        </p:nvGrpSpPr>
        <p:grpSpPr>
          <a:xfrm>
            <a:off x="9044327" y="2645733"/>
            <a:ext cx="1522949" cy="1353565"/>
            <a:chOff x="9044327" y="2645733"/>
            <a:chExt cx="1522949" cy="1353565"/>
          </a:xfrm>
        </p:grpSpPr>
        <p:sp>
          <p:nvSpPr>
            <p:cNvPr id="18" name="TextBox 17">
              <a:extLst>
                <a:ext uri="{FF2B5EF4-FFF2-40B4-BE49-F238E27FC236}">
                  <a16:creationId xmlns:a16="http://schemas.microsoft.com/office/drawing/2014/main" id="{F0E4E831-B891-C04B-BE2E-78892BA59273}"/>
                </a:ext>
              </a:extLst>
            </p:cNvPr>
            <p:cNvSpPr txBox="1"/>
            <p:nvPr/>
          </p:nvSpPr>
          <p:spPr bwMode="auto">
            <a:xfrm>
              <a:off x="9044327" y="2645733"/>
              <a:ext cx="1522949" cy="415349"/>
            </a:xfrm>
            <a:prstGeom prst="rect">
              <a:avLst/>
            </a:prstGeom>
            <a:noFill/>
          </p:spPr>
          <p:txBody>
            <a:bodyPr>
              <a:spAutoFit/>
            </a:bodyPr>
            <a:lstStyle/>
            <a:p>
              <a:pPr algn="ctr" defTabSz="1097212" eaLnBrk="1" fontAlgn="auto" hangingPunct="1">
                <a:spcBef>
                  <a:spcPts val="0"/>
                </a:spcBef>
                <a:spcAft>
                  <a:spcPts val="0"/>
                </a:spcAft>
                <a:defRPr/>
              </a:pPr>
              <a:r>
                <a:rPr lang="en-US" sz="20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Insights</a:t>
              </a:r>
            </a:p>
          </p:txBody>
        </p:sp>
        <p:pic>
          <p:nvPicPr>
            <p:cNvPr id="19" name="Picture 18">
              <a:extLst>
                <a:ext uri="{FF2B5EF4-FFF2-40B4-BE49-F238E27FC236}">
                  <a16:creationId xmlns:a16="http://schemas.microsoft.com/office/drawing/2014/main" id="{3217EB7B-BE93-6144-94F5-1E9DE87E38EE}"/>
                </a:ext>
              </a:extLst>
            </p:cNvPr>
            <p:cNvPicPr>
              <a:picLocks noChangeAspect="1"/>
            </p:cNvPicPr>
            <p:nvPr/>
          </p:nvPicPr>
          <p:blipFill>
            <a:blip r:embed="rId8"/>
            <a:stretch>
              <a:fillRect/>
            </a:stretch>
          </p:blipFill>
          <p:spPr>
            <a:xfrm>
              <a:off x="9219364" y="2780233"/>
              <a:ext cx="1219065" cy="1219065"/>
            </a:xfrm>
            <a:prstGeom prst="rect">
              <a:avLst/>
            </a:prstGeom>
          </p:spPr>
        </p:pic>
      </p:grpSp>
      <p:sp>
        <p:nvSpPr>
          <p:cNvPr id="20" name="arc_Telemetry">
            <a:extLst>
              <a:ext uri="{FF2B5EF4-FFF2-40B4-BE49-F238E27FC236}">
                <a16:creationId xmlns:a16="http://schemas.microsoft.com/office/drawing/2014/main" id="{3975DE9A-A1B6-E446-835B-E91147600BB3}"/>
              </a:ext>
            </a:extLst>
          </p:cNvPr>
          <p:cNvSpPr/>
          <p:nvPr/>
        </p:nvSpPr>
        <p:spPr bwMode="auto">
          <a:xfrm rot="4557407">
            <a:off x="6454446" y="3290995"/>
            <a:ext cx="1347605" cy="868088"/>
          </a:xfrm>
          <a:prstGeom prst="arc">
            <a:avLst>
              <a:gd name="adj1" fmla="val 13862002"/>
              <a:gd name="adj2" fmla="val 21218123"/>
            </a:avLst>
          </a:prstGeom>
          <a:ln w="111125">
            <a:solidFill>
              <a:schemeClr val="accent1"/>
            </a:solidFill>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grpSp>
        <p:nvGrpSpPr>
          <p:cNvPr id="21" name="Group 20">
            <a:extLst>
              <a:ext uri="{FF2B5EF4-FFF2-40B4-BE49-F238E27FC236}">
                <a16:creationId xmlns:a16="http://schemas.microsoft.com/office/drawing/2014/main" id="{66A3A780-0B5D-DD4F-8959-81D9C9148C16}"/>
              </a:ext>
            </a:extLst>
          </p:cNvPr>
          <p:cNvGrpSpPr/>
          <p:nvPr/>
        </p:nvGrpSpPr>
        <p:grpSpPr>
          <a:xfrm>
            <a:off x="6503020" y="2156288"/>
            <a:ext cx="1522949" cy="1347628"/>
            <a:chOff x="6503020" y="2156288"/>
            <a:chExt cx="1522949" cy="1347628"/>
          </a:xfrm>
        </p:grpSpPr>
        <p:sp>
          <p:nvSpPr>
            <p:cNvPr id="22" name="TextBox 21">
              <a:extLst>
                <a:ext uri="{FF2B5EF4-FFF2-40B4-BE49-F238E27FC236}">
                  <a16:creationId xmlns:a16="http://schemas.microsoft.com/office/drawing/2014/main" id="{42E26448-19DF-FA40-AC46-4B3FC96E1D15}"/>
                </a:ext>
              </a:extLst>
            </p:cNvPr>
            <p:cNvSpPr txBox="1"/>
            <p:nvPr/>
          </p:nvSpPr>
          <p:spPr bwMode="auto">
            <a:xfrm>
              <a:off x="6503020" y="2156288"/>
              <a:ext cx="1522949" cy="415351"/>
            </a:xfrm>
            <a:prstGeom prst="rect">
              <a:avLst/>
            </a:prstGeom>
            <a:noFill/>
          </p:spPr>
          <p:txBody>
            <a:bodyPr>
              <a:spAutoFit/>
            </a:bodyPr>
            <a:lstStyle/>
            <a:p>
              <a:pPr algn="ctr" defTabSz="1097212" eaLnBrk="1" fontAlgn="auto" hangingPunct="1">
                <a:spcBef>
                  <a:spcPts val="0"/>
                </a:spcBef>
                <a:spcAft>
                  <a:spcPts val="0"/>
                </a:spcAft>
                <a:defRPr/>
              </a:pPr>
              <a:r>
                <a:rPr lang="en-US" sz="20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Telemetry</a:t>
              </a:r>
            </a:p>
          </p:txBody>
        </p:sp>
        <p:pic>
          <p:nvPicPr>
            <p:cNvPr id="23" name="Picture 22">
              <a:extLst>
                <a:ext uri="{FF2B5EF4-FFF2-40B4-BE49-F238E27FC236}">
                  <a16:creationId xmlns:a16="http://schemas.microsoft.com/office/drawing/2014/main" id="{73D26699-A331-2947-8098-A19DF2029249}"/>
                </a:ext>
              </a:extLst>
            </p:cNvPr>
            <p:cNvPicPr>
              <a:picLocks noChangeAspect="1"/>
            </p:cNvPicPr>
            <p:nvPr/>
          </p:nvPicPr>
          <p:blipFill>
            <a:blip r:embed="rId9"/>
            <a:stretch>
              <a:fillRect/>
            </a:stretch>
          </p:blipFill>
          <p:spPr>
            <a:xfrm>
              <a:off x="6562352" y="2281262"/>
              <a:ext cx="1216571" cy="1222654"/>
            </a:xfrm>
            <a:prstGeom prst="rect">
              <a:avLst/>
            </a:prstGeom>
          </p:spPr>
        </p:pic>
      </p:grpSp>
      <p:sp>
        <p:nvSpPr>
          <p:cNvPr id="24" name="arc_Sys_Knowledge">
            <a:extLst>
              <a:ext uri="{FF2B5EF4-FFF2-40B4-BE49-F238E27FC236}">
                <a16:creationId xmlns:a16="http://schemas.microsoft.com/office/drawing/2014/main" id="{BE4CED05-9F87-A54A-BB7B-6EB662D6740E}"/>
              </a:ext>
            </a:extLst>
          </p:cNvPr>
          <p:cNvSpPr/>
          <p:nvPr/>
        </p:nvSpPr>
        <p:spPr bwMode="auto">
          <a:xfrm rot="14172875" flipH="1">
            <a:off x="4870022" y="4062476"/>
            <a:ext cx="1133165" cy="570599"/>
          </a:xfrm>
          <a:prstGeom prst="arc">
            <a:avLst>
              <a:gd name="adj1" fmla="val 12988125"/>
              <a:gd name="adj2" fmla="val 21520141"/>
            </a:avLst>
          </a:prstGeom>
          <a:ln w="111125">
            <a:solidFill>
              <a:srgbClr val="84A1FC"/>
            </a:solidFill>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grpSp>
        <p:nvGrpSpPr>
          <p:cNvPr id="25" name="Group 24">
            <a:extLst>
              <a:ext uri="{FF2B5EF4-FFF2-40B4-BE49-F238E27FC236}">
                <a16:creationId xmlns:a16="http://schemas.microsoft.com/office/drawing/2014/main" id="{947F2612-F8B5-384A-90B8-6A792BF424FF}"/>
              </a:ext>
            </a:extLst>
          </p:cNvPr>
          <p:cNvGrpSpPr/>
          <p:nvPr/>
        </p:nvGrpSpPr>
        <p:grpSpPr>
          <a:xfrm>
            <a:off x="3338938" y="2647404"/>
            <a:ext cx="2785004" cy="1604415"/>
            <a:chOff x="3338938" y="2647404"/>
            <a:chExt cx="2785004" cy="1604415"/>
          </a:xfrm>
        </p:grpSpPr>
        <p:sp>
          <p:nvSpPr>
            <p:cNvPr id="26" name="TextBox 27"/>
            <p:cNvSpPr txBox="1">
              <a:spLocks noChangeArrowheads="1"/>
            </p:cNvSpPr>
            <p:nvPr/>
          </p:nvSpPr>
          <p:spPr bwMode="auto">
            <a:xfrm>
              <a:off x="3338938" y="2647404"/>
              <a:ext cx="2785004" cy="415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mazon Ember" panose="02000000000000000000" pitchFamily="34" charset="0"/>
                </a:defRPr>
              </a:lvl1pPr>
              <a:lvl2pPr marL="742950" indent="-285750">
                <a:defRPr sz="2100">
                  <a:solidFill>
                    <a:schemeClr val="tx1"/>
                  </a:solidFill>
                  <a:latin typeface="Amazon Ember" panose="02000000000000000000" pitchFamily="34" charset="0"/>
                </a:defRPr>
              </a:lvl2pPr>
              <a:lvl3pPr marL="1143000" indent="-228600">
                <a:defRPr sz="2100">
                  <a:solidFill>
                    <a:schemeClr val="tx1"/>
                  </a:solidFill>
                  <a:latin typeface="Amazon Ember" panose="02000000000000000000" pitchFamily="34" charset="0"/>
                </a:defRPr>
              </a:lvl3pPr>
              <a:lvl4pPr marL="1600200" indent="-228600">
                <a:defRPr sz="2100">
                  <a:solidFill>
                    <a:schemeClr val="tx1"/>
                  </a:solidFill>
                  <a:latin typeface="Amazon Ember" panose="02000000000000000000" pitchFamily="34" charset="0"/>
                </a:defRPr>
              </a:lvl4pPr>
              <a:lvl5pPr marL="2057400" indent="-228600">
                <a:defRPr sz="2100">
                  <a:solidFill>
                    <a:schemeClr val="tx1"/>
                  </a:solidFill>
                  <a:latin typeface="Amazon Ember" panose="02000000000000000000" pitchFamily="34" charset="0"/>
                </a:defRPr>
              </a:lvl5pPr>
              <a:lvl6pPr marL="2514600" indent="-228600" defTabSz="1096963" fontAlgn="base">
                <a:spcBef>
                  <a:spcPct val="0"/>
                </a:spcBef>
                <a:spcAft>
                  <a:spcPct val="0"/>
                </a:spcAft>
                <a:defRPr sz="2100">
                  <a:solidFill>
                    <a:schemeClr val="tx1"/>
                  </a:solidFill>
                  <a:latin typeface="Amazon Ember" panose="02000000000000000000" pitchFamily="34" charset="0"/>
                </a:defRPr>
              </a:lvl6pPr>
              <a:lvl7pPr marL="2971800" indent="-228600" defTabSz="1096963" fontAlgn="base">
                <a:spcBef>
                  <a:spcPct val="0"/>
                </a:spcBef>
                <a:spcAft>
                  <a:spcPct val="0"/>
                </a:spcAft>
                <a:defRPr sz="2100">
                  <a:solidFill>
                    <a:schemeClr val="tx1"/>
                  </a:solidFill>
                  <a:latin typeface="Amazon Ember" panose="02000000000000000000" pitchFamily="34" charset="0"/>
                </a:defRPr>
              </a:lvl7pPr>
              <a:lvl8pPr marL="3429000" indent="-228600" defTabSz="1096963" fontAlgn="base">
                <a:spcBef>
                  <a:spcPct val="0"/>
                </a:spcBef>
                <a:spcAft>
                  <a:spcPct val="0"/>
                </a:spcAft>
                <a:defRPr sz="2100">
                  <a:solidFill>
                    <a:schemeClr val="tx1"/>
                  </a:solidFill>
                  <a:latin typeface="Amazon Ember" panose="02000000000000000000" pitchFamily="34" charset="0"/>
                </a:defRPr>
              </a:lvl8pPr>
              <a:lvl9pPr marL="3886200" indent="-228600" defTabSz="1096963" fontAlgn="base">
                <a:spcBef>
                  <a:spcPct val="0"/>
                </a:spcBef>
                <a:spcAft>
                  <a:spcPct val="0"/>
                </a:spcAft>
                <a:defRPr sz="2100">
                  <a:solidFill>
                    <a:schemeClr val="tx1"/>
                  </a:solidFill>
                  <a:latin typeface="Amazon Ember" panose="02000000000000000000" pitchFamily="34" charset="0"/>
                </a:defRPr>
              </a:lvl9pPr>
            </a:lstStyle>
            <a:p>
              <a:pPr algn="ctr" eaLnBrk="1" hangingPunct="1"/>
              <a:r>
                <a:rPr lang="en-US" altLang="en-US" sz="20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System architecture</a:t>
              </a:r>
            </a:p>
          </p:txBody>
        </p:sp>
        <p:pic>
          <p:nvPicPr>
            <p:cNvPr id="27" name="Picture 26">
              <a:extLst>
                <a:ext uri="{FF2B5EF4-FFF2-40B4-BE49-F238E27FC236}">
                  <a16:creationId xmlns:a16="http://schemas.microsoft.com/office/drawing/2014/main" id="{3CFB186E-65A8-F147-9836-10DFB9967064}"/>
                </a:ext>
              </a:extLst>
            </p:cNvPr>
            <p:cNvPicPr>
              <a:picLocks noChangeAspect="1"/>
            </p:cNvPicPr>
            <p:nvPr/>
          </p:nvPicPr>
          <p:blipFill>
            <a:blip r:embed="rId10"/>
            <a:stretch>
              <a:fillRect/>
            </a:stretch>
          </p:blipFill>
          <p:spPr>
            <a:xfrm>
              <a:off x="3987363" y="2818514"/>
              <a:ext cx="1426173" cy="1433305"/>
            </a:xfrm>
            <a:prstGeom prst="rect">
              <a:avLst/>
            </a:prstGeom>
          </p:spPr>
        </p:pic>
      </p:grpSp>
      <p:sp>
        <p:nvSpPr>
          <p:cNvPr id="28" name="arc_People">
            <a:extLst>
              <a:ext uri="{FF2B5EF4-FFF2-40B4-BE49-F238E27FC236}">
                <a16:creationId xmlns:a16="http://schemas.microsoft.com/office/drawing/2014/main" id="{88335E44-CC2E-F64A-BD8D-FA0FF189DEB6}"/>
              </a:ext>
            </a:extLst>
          </p:cNvPr>
          <p:cNvSpPr/>
          <p:nvPr/>
        </p:nvSpPr>
        <p:spPr bwMode="auto">
          <a:xfrm rot="12606290" flipH="1">
            <a:off x="2467717" y="4577966"/>
            <a:ext cx="3746707" cy="824990"/>
          </a:xfrm>
          <a:prstGeom prst="arc">
            <a:avLst>
              <a:gd name="adj1" fmla="val 17625745"/>
              <a:gd name="adj2" fmla="val 21520141"/>
            </a:avLst>
          </a:prstGeom>
          <a:ln w="111125">
            <a:solidFill>
              <a:schemeClr val="accent1"/>
            </a:solidFill>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grpSp>
        <p:nvGrpSpPr>
          <p:cNvPr id="29" name="Group 28">
            <a:extLst>
              <a:ext uri="{FF2B5EF4-FFF2-40B4-BE49-F238E27FC236}">
                <a16:creationId xmlns:a16="http://schemas.microsoft.com/office/drawing/2014/main" id="{0CBFD555-970C-524E-BB34-58DADC128498}"/>
              </a:ext>
            </a:extLst>
          </p:cNvPr>
          <p:cNvGrpSpPr/>
          <p:nvPr/>
        </p:nvGrpSpPr>
        <p:grpSpPr>
          <a:xfrm>
            <a:off x="2354639" y="4206089"/>
            <a:ext cx="1894705" cy="1889617"/>
            <a:chOff x="2354639" y="4206089"/>
            <a:chExt cx="1894705" cy="1889617"/>
          </a:xfrm>
        </p:grpSpPr>
        <p:sp>
          <p:nvSpPr>
            <p:cNvPr id="30" name="TextBox 29">
              <a:extLst>
                <a:ext uri="{FF2B5EF4-FFF2-40B4-BE49-F238E27FC236}">
                  <a16:creationId xmlns:a16="http://schemas.microsoft.com/office/drawing/2014/main" id="{7A0AF676-3330-3E42-BD2B-DFFC9435B8F0}"/>
                </a:ext>
              </a:extLst>
            </p:cNvPr>
            <p:cNvSpPr txBox="1"/>
            <p:nvPr/>
          </p:nvSpPr>
          <p:spPr bwMode="auto">
            <a:xfrm>
              <a:off x="2580352" y="4206089"/>
              <a:ext cx="1522949" cy="415349"/>
            </a:xfrm>
            <a:prstGeom prst="rect">
              <a:avLst/>
            </a:prstGeom>
            <a:noFill/>
          </p:spPr>
          <p:txBody>
            <a:bodyPr>
              <a:spAutoFit/>
            </a:bodyPr>
            <a:lstStyle/>
            <a:p>
              <a:pPr algn="ctr" defTabSz="1097212" eaLnBrk="1" fontAlgn="auto" hangingPunct="1">
                <a:spcBef>
                  <a:spcPts val="0"/>
                </a:spcBef>
                <a:spcAft>
                  <a:spcPts val="0"/>
                </a:spcAft>
                <a:defRPr/>
              </a:pPr>
              <a:r>
                <a:rPr lang="en-US" sz="20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People</a:t>
              </a:r>
            </a:p>
          </p:txBody>
        </p:sp>
        <p:pic>
          <p:nvPicPr>
            <p:cNvPr id="31" name="Picture 30">
              <a:extLst>
                <a:ext uri="{FF2B5EF4-FFF2-40B4-BE49-F238E27FC236}">
                  <a16:creationId xmlns:a16="http://schemas.microsoft.com/office/drawing/2014/main" id="{5CB08CE2-3E4E-1746-9A54-79B8F3CB0988}"/>
                </a:ext>
              </a:extLst>
            </p:cNvPr>
            <p:cNvPicPr>
              <a:picLocks noChangeAspect="1"/>
            </p:cNvPicPr>
            <p:nvPr/>
          </p:nvPicPr>
          <p:blipFill>
            <a:blip r:embed="rId11"/>
            <a:stretch>
              <a:fillRect/>
            </a:stretch>
          </p:blipFill>
          <p:spPr>
            <a:xfrm>
              <a:off x="3265044" y="4769670"/>
              <a:ext cx="984300" cy="989220"/>
            </a:xfrm>
            <a:prstGeom prst="rect">
              <a:avLst/>
            </a:prstGeom>
          </p:spPr>
        </p:pic>
        <p:pic>
          <p:nvPicPr>
            <p:cNvPr id="32" name="Picture 31">
              <a:extLst>
                <a:ext uri="{FF2B5EF4-FFF2-40B4-BE49-F238E27FC236}">
                  <a16:creationId xmlns:a16="http://schemas.microsoft.com/office/drawing/2014/main" id="{D519AE26-1A2F-DB45-BCFC-29B3D3E68C08}"/>
                </a:ext>
              </a:extLst>
            </p:cNvPr>
            <p:cNvPicPr>
              <a:picLocks noChangeAspect="1"/>
            </p:cNvPicPr>
            <p:nvPr/>
          </p:nvPicPr>
          <p:blipFill>
            <a:blip r:embed="rId12"/>
            <a:stretch>
              <a:fillRect/>
            </a:stretch>
          </p:blipFill>
          <p:spPr>
            <a:xfrm>
              <a:off x="2805602" y="5106486"/>
              <a:ext cx="984300" cy="989220"/>
            </a:xfrm>
            <a:prstGeom prst="rect">
              <a:avLst/>
            </a:prstGeom>
          </p:spPr>
        </p:pic>
        <p:pic>
          <p:nvPicPr>
            <p:cNvPr id="33" name="Picture 32">
              <a:extLst>
                <a:ext uri="{FF2B5EF4-FFF2-40B4-BE49-F238E27FC236}">
                  <a16:creationId xmlns:a16="http://schemas.microsoft.com/office/drawing/2014/main" id="{1D26E2AF-07DF-9B43-A389-F73234931B56}"/>
                </a:ext>
              </a:extLst>
            </p:cNvPr>
            <p:cNvPicPr>
              <a:picLocks noChangeAspect="1"/>
            </p:cNvPicPr>
            <p:nvPr/>
          </p:nvPicPr>
          <p:blipFill>
            <a:blip r:embed="rId13"/>
            <a:stretch>
              <a:fillRect/>
            </a:stretch>
          </p:blipFill>
          <p:spPr>
            <a:xfrm>
              <a:off x="2805602" y="4443072"/>
              <a:ext cx="984300" cy="989220"/>
            </a:xfrm>
            <a:prstGeom prst="rect">
              <a:avLst/>
            </a:prstGeom>
          </p:spPr>
        </p:pic>
        <p:pic>
          <p:nvPicPr>
            <p:cNvPr id="34" name="Picture 33">
              <a:extLst>
                <a:ext uri="{FF2B5EF4-FFF2-40B4-BE49-F238E27FC236}">
                  <a16:creationId xmlns:a16="http://schemas.microsoft.com/office/drawing/2014/main" id="{75AAAC2C-17EB-AA47-A08E-B9554DA53E92}"/>
                </a:ext>
              </a:extLst>
            </p:cNvPr>
            <p:cNvPicPr>
              <a:picLocks noChangeAspect="1"/>
            </p:cNvPicPr>
            <p:nvPr/>
          </p:nvPicPr>
          <p:blipFill>
            <a:blip r:embed="rId14"/>
            <a:stretch>
              <a:fillRect/>
            </a:stretch>
          </p:blipFill>
          <p:spPr>
            <a:xfrm>
              <a:off x="2354639" y="4829995"/>
              <a:ext cx="984300" cy="989220"/>
            </a:xfrm>
            <a:prstGeom prst="rect">
              <a:avLst/>
            </a:prstGeom>
          </p:spPr>
        </p:pic>
      </p:grpSp>
      <p:sp>
        <p:nvSpPr>
          <p:cNvPr id="35" name="arc_info_lifecycle">
            <a:extLst>
              <a:ext uri="{FF2B5EF4-FFF2-40B4-BE49-F238E27FC236}">
                <a16:creationId xmlns:a16="http://schemas.microsoft.com/office/drawing/2014/main" id="{24D40731-8C83-DD44-974E-C40E413224DF}"/>
              </a:ext>
            </a:extLst>
          </p:cNvPr>
          <p:cNvSpPr/>
          <p:nvPr/>
        </p:nvSpPr>
        <p:spPr bwMode="auto">
          <a:xfrm rot="10800000" flipH="1" flipV="1">
            <a:off x="1635757" y="1827568"/>
            <a:ext cx="11605092" cy="5312915"/>
          </a:xfrm>
          <a:prstGeom prst="arc">
            <a:avLst>
              <a:gd name="adj1" fmla="val 7883274"/>
              <a:gd name="adj2" fmla="val 2777910"/>
            </a:avLst>
          </a:prstGeom>
          <a:ln w="57150">
            <a:solidFill>
              <a:schemeClr val="accent1"/>
            </a:solidFill>
            <a:prstDash val="dash"/>
            <a:tailEnd type="triangle"/>
          </a:ln>
        </p:spPr>
        <p:style>
          <a:lnRef idx="2">
            <a:schemeClr val="accent1"/>
          </a:lnRef>
          <a:fillRef idx="0">
            <a:schemeClr val="accent1"/>
          </a:fillRef>
          <a:effectRef idx="1">
            <a:schemeClr val="accent1"/>
          </a:effectRef>
          <a:fontRef idx="minor">
            <a:schemeClr val="tx1"/>
          </a:fontRef>
        </p:style>
        <p:txBody>
          <a:bodyPr lIns="121920" tIns="60960" rIns="121920" bIns="60960" anchor="ctr"/>
          <a:lstStyle/>
          <a:p>
            <a:pPr algn="ctr" defTabSz="1097212" eaLnBrk="1" fontAlgn="auto" hangingPunct="1">
              <a:spcBef>
                <a:spcPts val="0"/>
              </a:spcBef>
              <a:spcAft>
                <a:spcPts val="0"/>
              </a:spcAft>
              <a:defRPr/>
            </a:pPr>
            <a:endParaRPr lang="en-US" sz="2400" dirty="0"/>
          </a:p>
        </p:txBody>
      </p:sp>
      <p:sp>
        <p:nvSpPr>
          <p:cNvPr id="36" name="txt_Action">
            <a:extLst>
              <a:ext uri="{FF2B5EF4-FFF2-40B4-BE49-F238E27FC236}">
                <a16:creationId xmlns:a16="http://schemas.microsoft.com/office/drawing/2014/main" id="{BB5DABF6-AC60-A343-90FF-0389C40DC365}"/>
              </a:ext>
            </a:extLst>
          </p:cNvPr>
          <p:cNvSpPr txBox="1"/>
          <p:nvPr/>
        </p:nvSpPr>
        <p:spPr>
          <a:xfrm>
            <a:off x="12011669" y="6048497"/>
            <a:ext cx="1245508" cy="572464"/>
          </a:xfrm>
          <a:prstGeom prst="rect">
            <a:avLst/>
          </a:prstGeom>
          <a:noFill/>
        </p:spPr>
        <p:txBody>
          <a:bodyPr wrap="square" lIns="182880" tIns="146304" rIns="182880" bIns="146304" rtlCol="0">
            <a:spAutoFit/>
          </a:bodyPr>
          <a:lstStyle/>
          <a:p>
            <a:pPr>
              <a:lnSpc>
                <a:spcPct val="90000"/>
              </a:lnSpc>
              <a:spcAft>
                <a:spcPts val="1800"/>
              </a:spcAft>
            </a:pPr>
            <a:r>
              <a:rPr lang="en-US" sz="2000" dirty="0">
                <a:solidFill>
                  <a:srgbClr val="FFFFFF"/>
                </a:solidFill>
              </a:rPr>
              <a:t>Action</a:t>
            </a:r>
            <a:endParaRPr lang="en-US" sz="2000" dirty="0">
              <a:solidFill>
                <a:srgbClr val="FFFFFF"/>
              </a:solidFill>
              <a:latin typeface="Amazon Ember" panose="02000000000000000000" pitchFamily="2" charset="0"/>
            </a:endParaRPr>
          </a:p>
        </p:txBody>
      </p:sp>
      <p:sp>
        <p:nvSpPr>
          <p:cNvPr id="37" name="txt_Insight">
            <a:extLst>
              <a:ext uri="{FF2B5EF4-FFF2-40B4-BE49-F238E27FC236}">
                <a16:creationId xmlns:a16="http://schemas.microsoft.com/office/drawing/2014/main" id="{6F59066B-AB2A-7B45-AE3C-9C6AA8AE0DEC}"/>
              </a:ext>
            </a:extLst>
          </p:cNvPr>
          <p:cNvSpPr txBox="1"/>
          <p:nvPr/>
        </p:nvSpPr>
        <p:spPr>
          <a:xfrm>
            <a:off x="12011669" y="2086427"/>
            <a:ext cx="1245508" cy="572464"/>
          </a:xfrm>
          <a:prstGeom prst="rect">
            <a:avLst/>
          </a:prstGeom>
          <a:noFill/>
        </p:spPr>
        <p:txBody>
          <a:bodyPr wrap="square" lIns="182880" tIns="146304" rIns="182880" bIns="146304" rtlCol="0">
            <a:spAutoFit/>
          </a:bodyPr>
          <a:lstStyle/>
          <a:p>
            <a:pPr>
              <a:lnSpc>
                <a:spcPct val="90000"/>
              </a:lnSpc>
              <a:spcAft>
                <a:spcPts val="1800"/>
              </a:spcAft>
            </a:pPr>
            <a:r>
              <a:rPr lang="en-US" sz="2000" dirty="0">
                <a:solidFill>
                  <a:schemeClr val="bg1"/>
                </a:solidFill>
              </a:rPr>
              <a:t>Insight</a:t>
            </a:r>
          </a:p>
        </p:txBody>
      </p:sp>
      <p:sp>
        <p:nvSpPr>
          <p:cNvPr id="38" name="txt_Knowledge">
            <a:extLst>
              <a:ext uri="{FF2B5EF4-FFF2-40B4-BE49-F238E27FC236}">
                <a16:creationId xmlns:a16="http://schemas.microsoft.com/office/drawing/2014/main" id="{67E5F0EF-20FB-7A4A-8119-016E48C541B7}"/>
              </a:ext>
            </a:extLst>
          </p:cNvPr>
          <p:cNvSpPr txBox="1"/>
          <p:nvPr/>
        </p:nvSpPr>
        <p:spPr>
          <a:xfrm>
            <a:off x="6381982" y="1089116"/>
            <a:ext cx="1934482" cy="572464"/>
          </a:xfrm>
          <a:prstGeom prst="rect">
            <a:avLst/>
          </a:prstGeom>
          <a:noFill/>
        </p:spPr>
        <p:txBody>
          <a:bodyPr wrap="square" lIns="182880" tIns="146304" rIns="182880" bIns="146304" rtlCol="0">
            <a:spAutoFit/>
          </a:bodyPr>
          <a:lstStyle/>
          <a:p>
            <a:pPr>
              <a:lnSpc>
                <a:spcPct val="90000"/>
              </a:lnSpc>
              <a:spcAft>
                <a:spcPts val="1800"/>
              </a:spcAft>
            </a:pPr>
            <a:r>
              <a:rPr lang="en-US" sz="2000" dirty="0">
                <a:solidFill>
                  <a:schemeClr val="bg1"/>
                </a:solidFill>
              </a:rPr>
              <a:t>Knowledge</a:t>
            </a:r>
          </a:p>
        </p:txBody>
      </p:sp>
      <p:sp>
        <p:nvSpPr>
          <p:cNvPr id="39" name="txt_Information">
            <a:extLst>
              <a:ext uri="{FF2B5EF4-FFF2-40B4-BE49-F238E27FC236}">
                <a16:creationId xmlns:a16="http://schemas.microsoft.com/office/drawing/2014/main" id="{9A372CD2-275B-D242-83A0-F1DF43B013E2}"/>
              </a:ext>
            </a:extLst>
          </p:cNvPr>
          <p:cNvSpPr txBox="1"/>
          <p:nvPr/>
        </p:nvSpPr>
        <p:spPr>
          <a:xfrm>
            <a:off x="1431925" y="2086427"/>
            <a:ext cx="2003051" cy="572464"/>
          </a:xfrm>
          <a:prstGeom prst="rect">
            <a:avLst/>
          </a:prstGeom>
          <a:noFill/>
        </p:spPr>
        <p:txBody>
          <a:bodyPr wrap="square" lIns="182880" tIns="146304" rIns="182880" bIns="146304" rtlCol="0">
            <a:spAutoFit/>
          </a:bodyPr>
          <a:lstStyle/>
          <a:p>
            <a:pPr>
              <a:lnSpc>
                <a:spcPct val="90000"/>
              </a:lnSpc>
              <a:spcAft>
                <a:spcPts val="1800"/>
              </a:spcAft>
            </a:pPr>
            <a:r>
              <a:rPr lang="en-US" sz="2000" dirty="0">
                <a:solidFill>
                  <a:schemeClr val="bg1"/>
                </a:solidFill>
              </a:rPr>
              <a:t>Information</a:t>
            </a:r>
          </a:p>
        </p:txBody>
      </p:sp>
      <p:sp>
        <p:nvSpPr>
          <p:cNvPr id="40" name="txt_Data">
            <a:extLst>
              <a:ext uri="{FF2B5EF4-FFF2-40B4-BE49-F238E27FC236}">
                <a16:creationId xmlns:a16="http://schemas.microsoft.com/office/drawing/2014/main" id="{46C4DACF-BE23-E945-A6E4-2818A7ABD575}"/>
              </a:ext>
            </a:extLst>
          </p:cNvPr>
          <p:cNvSpPr txBox="1"/>
          <p:nvPr/>
        </p:nvSpPr>
        <p:spPr>
          <a:xfrm>
            <a:off x="1943702" y="6048497"/>
            <a:ext cx="979498" cy="572464"/>
          </a:xfrm>
          <a:prstGeom prst="rect">
            <a:avLst/>
          </a:prstGeom>
          <a:noFill/>
        </p:spPr>
        <p:txBody>
          <a:bodyPr wrap="square" lIns="182880" tIns="146304" rIns="182880" bIns="146304" rtlCol="0">
            <a:spAutoFit/>
          </a:bodyPr>
          <a:lstStyle/>
          <a:p>
            <a:pPr>
              <a:lnSpc>
                <a:spcPct val="90000"/>
              </a:lnSpc>
              <a:spcAft>
                <a:spcPts val="1800"/>
              </a:spcAft>
            </a:pPr>
            <a:r>
              <a:rPr lang="en-US" sz="2000" dirty="0">
                <a:solidFill>
                  <a:schemeClr val="bg1"/>
                </a:solidFill>
              </a:rPr>
              <a:t>Data</a:t>
            </a:r>
          </a:p>
        </p:txBody>
      </p:sp>
      <p:sp>
        <p:nvSpPr>
          <p:cNvPr id="41" name="Title">
            <a:extLst>
              <a:ext uri="{FF2B5EF4-FFF2-40B4-BE49-F238E27FC236}">
                <a16:creationId xmlns:a16="http://schemas.microsoft.com/office/drawing/2014/main" id="{376570EF-C46D-4045-8373-BAB0D8B0F807}"/>
              </a:ext>
            </a:extLst>
          </p:cNvPr>
          <p:cNvSpPr>
            <a:spLocks noGrp="1"/>
          </p:cNvSpPr>
          <p:nvPr>
            <p:ph type="title"/>
          </p:nvPr>
        </p:nvSpPr>
        <p:spPr>
          <a:xfrm>
            <a:off x="548640" y="183898"/>
            <a:ext cx="13510260" cy="873186"/>
          </a:xfrm>
        </p:spPr>
        <p:txBody>
          <a:bodyPr/>
          <a:lstStyle/>
          <a:p>
            <a:r>
              <a:rPr lang="en-US" dirty="0"/>
              <a:t>What goes into a monitoring strategy?</a:t>
            </a:r>
          </a:p>
        </p:txBody>
      </p:sp>
    </p:spTree>
    <p:extLst>
      <p:ext uri="{BB962C8B-B14F-4D97-AF65-F5344CB8AC3E}">
        <p14:creationId xmlns:p14="http://schemas.microsoft.com/office/powerpoint/2010/main" val="81293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4)">
                                      <p:cBhvr>
                                        <p:cTn id="7" dur="2000"/>
                                        <p:tgtEl>
                                          <p:spTgt spid="3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childTnLst>
                                </p:cTn>
                              </p:par>
                              <p:par>
                                <p:cTn id="10" presetID="1" presetClass="entr" presetSubtype="0" fill="hold" grpId="0" nodeType="withEffect">
                                  <p:stCondLst>
                                    <p:cond delay="500"/>
                                  </p:stCondLst>
                                  <p:childTnLst>
                                    <p:set>
                                      <p:cBhvr>
                                        <p:cTn id="11" dur="1" fill="hold">
                                          <p:stCondLst>
                                            <p:cond delay="0"/>
                                          </p:stCondLst>
                                        </p:cTn>
                                        <p:tgtEl>
                                          <p:spTgt spid="39"/>
                                        </p:tgtEl>
                                        <p:attrNameLst>
                                          <p:attrName>style.visibility</p:attrName>
                                        </p:attrNameLst>
                                      </p:cBhvr>
                                      <p:to>
                                        <p:strVal val="visible"/>
                                      </p:to>
                                    </p:set>
                                  </p:childTnLst>
                                </p:cTn>
                              </p:par>
                              <p:par>
                                <p:cTn id="12" presetID="1" presetClass="entr" presetSubtype="0" fill="hold" grpId="0" nodeType="withEffect">
                                  <p:stCondLst>
                                    <p:cond delay="1000"/>
                                  </p:stCondLst>
                                  <p:childTnLst>
                                    <p:set>
                                      <p:cBhvr>
                                        <p:cTn id="13" dur="1" fill="hold">
                                          <p:stCondLst>
                                            <p:cond delay="0"/>
                                          </p:stCondLst>
                                        </p:cTn>
                                        <p:tgtEl>
                                          <p:spTgt spid="38"/>
                                        </p:tgtEl>
                                        <p:attrNameLst>
                                          <p:attrName>style.visibility</p:attrName>
                                        </p:attrNameLst>
                                      </p:cBhvr>
                                      <p:to>
                                        <p:strVal val="visible"/>
                                      </p:to>
                                    </p:set>
                                  </p:childTnLst>
                                </p:cTn>
                              </p:par>
                              <p:par>
                                <p:cTn id="14" presetID="1" presetClass="entr" presetSubtype="0" fill="hold" grpId="0" nodeType="withEffect">
                                  <p:stCondLst>
                                    <p:cond delay="1500"/>
                                  </p:stCondLst>
                                  <p:childTnLst>
                                    <p:set>
                                      <p:cBhvr>
                                        <p:cTn id="15" dur="1" fill="hold">
                                          <p:stCondLst>
                                            <p:cond delay="0"/>
                                          </p:stCondLst>
                                        </p:cTn>
                                        <p:tgtEl>
                                          <p:spTgt spid="37"/>
                                        </p:tgtEl>
                                        <p:attrNameLst>
                                          <p:attrName>style.visibility</p:attrName>
                                        </p:attrNameLst>
                                      </p:cBhvr>
                                      <p:to>
                                        <p:strVal val="visible"/>
                                      </p:to>
                                    </p:set>
                                  </p:childTnLst>
                                </p:cTn>
                              </p:par>
                              <p:par>
                                <p:cTn id="16" presetID="1" presetClass="entr" presetSubtype="0" fill="hold" grpId="0" nodeType="withEffect">
                                  <p:stCondLst>
                                    <p:cond delay="2000"/>
                                  </p:stCondLst>
                                  <p:childTnLst>
                                    <p:set>
                                      <p:cBhvr>
                                        <p:cTn id="17" dur="1" fill="hold">
                                          <p:stCondLst>
                                            <p:cond delay="0"/>
                                          </p:stCondLst>
                                        </p:cTn>
                                        <p:tgtEl>
                                          <p:spTgt spid="3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grpId="0"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1000"/>
                                        <p:tgtEl>
                                          <p:spTgt spid="28"/>
                                        </p:tgtEl>
                                      </p:cBhvr>
                                    </p:animEffec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up)">
                                      <p:cBhvr>
                                        <p:cTn id="35" dur="1000"/>
                                        <p:tgtEl>
                                          <p:spTgt spid="24"/>
                                        </p:tgtEl>
                                      </p:cBhvr>
                                    </p:animEffect>
                                  </p:childTnLst>
                                </p:cTn>
                              </p:par>
                            </p:childTnLst>
                          </p:cTn>
                        </p:par>
                        <p:par>
                          <p:cTn id="36" fill="hold">
                            <p:stCondLst>
                              <p:cond delay="2000"/>
                            </p:stCondLst>
                            <p:childTnLst>
                              <p:par>
                                <p:cTn id="37" presetID="1" presetClass="entr" presetSubtype="0"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par>
                          <p:cTn id="39" fill="hold">
                            <p:stCondLst>
                              <p:cond delay="2000"/>
                            </p:stCondLst>
                            <p:childTnLst>
                              <p:par>
                                <p:cTn id="40" presetID="22" presetClass="entr" presetSubtype="1"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1000"/>
                                        <p:tgtEl>
                                          <p:spTgt spid="20"/>
                                        </p:tgtEl>
                                      </p:cBhvr>
                                    </p:animEffect>
                                  </p:childTnLst>
                                </p:cTn>
                              </p:par>
                            </p:childTnLst>
                          </p:cTn>
                        </p:par>
                        <p:par>
                          <p:cTn id="43" fill="hold">
                            <p:stCondLst>
                              <p:cond delay="3000"/>
                            </p:stCondLst>
                            <p:childTnLst>
                              <p:par>
                                <p:cTn id="44" presetID="1" presetClass="entr" presetSubtype="0"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up)">
                                      <p:cBhvr>
                                        <p:cTn id="49" dur="1000"/>
                                        <p:tgtEl>
                                          <p:spTgt spid="16"/>
                                        </p:tgtEl>
                                      </p:cBhvr>
                                    </p:animEffect>
                                  </p:childTnLst>
                                </p:cTn>
                              </p:par>
                            </p:childTnLst>
                          </p:cTn>
                        </p:par>
                        <p:par>
                          <p:cTn id="50" fill="hold">
                            <p:stCondLst>
                              <p:cond delay="4000"/>
                            </p:stCondLst>
                            <p:childTnLst>
                              <p:par>
                                <p:cTn id="51" presetID="1" presetClass="entr" presetSubtype="0"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par>
                          <p:cTn id="53" fill="hold">
                            <p:stCondLst>
                              <p:cond delay="4000"/>
                            </p:stCondLst>
                            <p:childTnLst>
                              <p:par>
                                <p:cTn id="54" presetID="22" presetClass="entr" presetSubtype="2"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right)">
                                      <p:cBhvr>
                                        <p:cTn id="5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P spid="35" grpId="0" animBg="1"/>
      <p:bldP spid="36" grpId="0"/>
      <p:bldP spid="37" grpId="0"/>
      <p:bldP spid="38" grpId="0"/>
      <p:bldP spid="39"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1">
            <a:extLst>
              <a:ext uri="{FF2B5EF4-FFF2-40B4-BE49-F238E27FC236}">
                <a16:creationId xmlns:a16="http://schemas.microsoft.com/office/drawing/2014/main" id="{4FDFB841-A773-5D45-AE0F-1AA8688B6825}"/>
              </a:ext>
            </a:extLst>
          </p:cNvPr>
          <p:cNvSpPr>
            <a:spLocks noGrp="1"/>
          </p:cNvSpPr>
          <p:nvPr>
            <p:ph type="title"/>
          </p:nvPr>
        </p:nvSpPr>
        <p:spPr>
          <a:xfrm>
            <a:off x="548640" y="183898"/>
            <a:ext cx="13510260" cy="873186"/>
          </a:xfrm>
        </p:spPr>
        <p:txBody>
          <a:bodyPr/>
          <a:lstStyle/>
          <a:p>
            <a:r>
              <a:rPr lang="en-US" dirty="0"/>
              <a:t>Categories of insight</a:t>
            </a:r>
          </a:p>
        </p:txBody>
      </p:sp>
      <p:sp>
        <p:nvSpPr>
          <p:cNvPr id="3" name="Content Placeholder 2">
            <a:extLst>
              <a:ext uri="{FF2B5EF4-FFF2-40B4-BE49-F238E27FC236}">
                <a16:creationId xmlns:a16="http://schemas.microsoft.com/office/drawing/2014/main" id="{DE0BE1B5-9EC5-0245-BC47-55A6EE3087A8}"/>
              </a:ext>
            </a:extLst>
          </p:cNvPr>
          <p:cNvSpPr txBox="1">
            <a:spLocks/>
          </p:cNvSpPr>
          <p:nvPr/>
        </p:nvSpPr>
        <p:spPr bwMode="auto">
          <a:xfrm>
            <a:off x="5955711" y="2120057"/>
            <a:ext cx="3296978" cy="5230812"/>
          </a:xfrm>
          <a:prstGeom prst="rect">
            <a:avLst/>
          </a:prstGeom>
        </p:spPr>
        <p:txBody>
          <a:bodyPr/>
          <a:lstStyle>
            <a:lvl1pPr marL="0" indent="0" algn="l" defTabSz="457200" rtl="0" eaLnBrk="1" latinLnBrk="0" hangingPunct="1">
              <a:spcBef>
                <a:spcPct val="20000"/>
              </a:spcBef>
              <a:buFontTx/>
              <a:buNone/>
              <a:defRPr sz="24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1pPr>
            <a:lvl2pPr marL="742950" indent="-285750" algn="l" defTabSz="457200" rtl="0" eaLnBrk="1" latinLnBrk="0" hangingPunct="1">
              <a:spcBef>
                <a:spcPct val="20000"/>
              </a:spcBef>
              <a:buFont typeface="Arial"/>
              <a:buChar char="•"/>
              <a:defRPr sz="20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2pPr>
            <a:lvl3pPr marL="1143000" indent="-228600" algn="l" defTabSz="457200" rtl="0" eaLnBrk="1" latinLnBrk="0" hangingPunct="1">
              <a:spcBef>
                <a:spcPct val="20000"/>
              </a:spcBef>
              <a:buFont typeface="Arial"/>
              <a:buChar char="•"/>
              <a:defRPr sz="18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3pPr>
            <a:lvl4pPr marL="1600200" indent="-228600" algn="l" defTabSz="457200" rtl="0" eaLnBrk="1" latinLnBrk="0" hangingPunct="1">
              <a:spcBef>
                <a:spcPct val="20000"/>
              </a:spcBef>
              <a:buFont typeface="Arial"/>
              <a:buChar char="–"/>
              <a:defRPr sz="16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4pPr>
            <a:lvl5pPr marL="2057400" indent="-228600" algn="l" defTabSz="457200" rtl="0" eaLnBrk="1" latinLnBrk="0" hangingPunct="1">
              <a:spcBef>
                <a:spcPct val="20000"/>
              </a:spcBef>
              <a:buFont typeface="Arial"/>
              <a:buChar char="»"/>
              <a:defRPr sz="16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sz="3600" b="1" dirty="0">
                <a:solidFill>
                  <a:srgbClr val="E87767"/>
                </a:solidFill>
              </a:rPr>
              <a:t>Faults</a:t>
            </a:r>
          </a:p>
          <a:p>
            <a:pPr>
              <a:defRPr/>
            </a:pPr>
            <a:endParaRPr lang="en-GB" sz="1400" dirty="0"/>
          </a:p>
          <a:p>
            <a:pPr>
              <a:defRPr/>
            </a:pPr>
            <a:r>
              <a:rPr lang="en-GB" sz="3600" b="1" dirty="0">
                <a:solidFill>
                  <a:srgbClr val="30D1EC"/>
                </a:solidFill>
              </a:rPr>
              <a:t>Configuration</a:t>
            </a:r>
          </a:p>
          <a:p>
            <a:pPr>
              <a:defRPr/>
            </a:pPr>
            <a:endParaRPr lang="en-GB" sz="1400" dirty="0"/>
          </a:p>
          <a:p>
            <a:pPr>
              <a:defRPr/>
            </a:pPr>
            <a:r>
              <a:rPr lang="en-GB" sz="3600" b="1" dirty="0">
                <a:solidFill>
                  <a:schemeClr val="accent4">
                    <a:lumMod val="40000"/>
                    <a:lumOff val="60000"/>
                  </a:schemeClr>
                </a:solidFill>
              </a:rPr>
              <a:t>Accounting</a:t>
            </a:r>
          </a:p>
          <a:p>
            <a:pPr>
              <a:defRPr/>
            </a:pPr>
            <a:endParaRPr lang="en-GB" sz="1400" dirty="0"/>
          </a:p>
          <a:p>
            <a:pPr>
              <a:defRPr/>
            </a:pPr>
            <a:r>
              <a:rPr lang="en-GB" sz="3600" b="1" dirty="0">
                <a:solidFill>
                  <a:srgbClr val="FAAF00"/>
                </a:solidFill>
              </a:rPr>
              <a:t>Performance</a:t>
            </a:r>
          </a:p>
          <a:p>
            <a:pPr>
              <a:defRPr/>
            </a:pPr>
            <a:endParaRPr lang="en-GB" sz="1400" dirty="0"/>
          </a:p>
          <a:p>
            <a:pPr>
              <a:defRPr/>
            </a:pPr>
            <a:r>
              <a:rPr lang="en-GB" sz="3600" b="1" dirty="0">
                <a:solidFill>
                  <a:schemeClr val="tx2"/>
                </a:solidFill>
              </a:rPr>
              <a:t>Security</a:t>
            </a:r>
            <a:endParaRPr lang="en-US" sz="3600" b="1" dirty="0">
              <a:solidFill>
                <a:schemeClr val="tx2"/>
              </a:solidFill>
            </a:endParaRPr>
          </a:p>
        </p:txBody>
      </p:sp>
      <p:pic>
        <p:nvPicPr>
          <p:cNvPr id="4" name="Picture 4">
            <a:extLst>
              <a:ext uri="{FF2B5EF4-FFF2-40B4-BE49-F238E27FC236}">
                <a16:creationId xmlns:a16="http://schemas.microsoft.com/office/drawing/2014/main" id="{2C94752A-0E46-C84C-B5F4-CF6C34CB1201}"/>
              </a:ext>
            </a:extLst>
          </p:cNvPr>
          <p:cNvPicPr>
            <a:picLocks noChangeAspect="1" noChangeArrowheads="1"/>
          </p:cNvPicPr>
          <p:nvPr/>
        </p:nvPicPr>
        <p:blipFill>
          <a:blip r:embed="rId2"/>
          <a:stretch>
            <a:fillRect/>
          </a:stretch>
        </p:blipFill>
        <p:spPr bwMode="auto">
          <a:xfrm>
            <a:off x="4955707" y="2054969"/>
            <a:ext cx="876040" cy="87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C8888E6C-4B40-A34C-8102-44A15BFC7463}"/>
              </a:ext>
            </a:extLst>
          </p:cNvPr>
          <p:cNvPicPr>
            <a:picLocks noChangeAspect="1"/>
          </p:cNvPicPr>
          <p:nvPr/>
        </p:nvPicPr>
        <p:blipFill>
          <a:blip r:embed="rId3"/>
          <a:stretch>
            <a:fillRect/>
          </a:stretch>
        </p:blipFill>
        <p:spPr bwMode="auto">
          <a:xfrm>
            <a:off x="4660311" y="3564251"/>
            <a:ext cx="1226426" cy="1232559"/>
          </a:xfrm>
          <a:prstGeom prst="rect">
            <a:avLst/>
          </a:prstGeom>
        </p:spPr>
      </p:pic>
      <p:pic>
        <p:nvPicPr>
          <p:cNvPr id="6" name="Picture 5">
            <a:extLst>
              <a:ext uri="{FF2B5EF4-FFF2-40B4-BE49-F238E27FC236}">
                <a16:creationId xmlns:a16="http://schemas.microsoft.com/office/drawing/2014/main" id="{B5658125-3515-1943-8EC8-299C10C1D21F}"/>
              </a:ext>
            </a:extLst>
          </p:cNvPr>
          <p:cNvPicPr>
            <a:picLocks noChangeAspect="1"/>
          </p:cNvPicPr>
          <p:nvPr/>
        </p:nvPicPr>
        <p:blipFill>
          <a:blip r:embed="rId4"/>
          <a:stretch>
            <a:fillRect/>
          </a:stretch>
        </p:blipFill>
        <p:spPr bwMode="auto">
          <a:xfrm>
            <a:off x="4884967" y="5459221"/>
            <a:ext cx="1070601" cy="1070601"/>
          </a:xfrm>
          <a:prstGeom prst="rect">
            <a:avLst/>
          </a:prstGeom>
        </p:spPr>
      </p:pic>
      <p:pic>
        <p:nvPicPr>
          <p:cNvPr id="7" name="Picture 7">
            <a:extLst>
              <a:ext uri="{FF2B5EF4-FFF2-40B4-BE49-F238E27FC236}">
                <a16:creationId xmlns:a16="http://schemas.microsoft.com/office/drawing/2014/main" id="{D9ADC99B-FD7E-CE4A-9D85-EA746330449C}"/>
              </a:ext>
            </a:extLst>
          </p:cNvPr>
          <p:cNvPicPr>
            <a:picLocks noChangeAspect="1" noChangeArrowheads="1"/>
          </p:cNvPicPr>
          <p:nvPr/>
        </p:nvPicPr>
        <p:blipFill>
          <a:blip r:embed="rId5"/>
          <a:stretch>
            <a:fillRect/>
          </a:stretch>
        </p:blipFill>
        <p:spPr bwMode="auto">
          <a:xfrm>
            <a:off x="8899353" y="4609981"/>
            <a:ext cx="1242115" cy="124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6EF5BCA8-822A-3148-8A8F-0CFC15A70D2D}"/>
              </a:ext>
            </a:extLst>
          </p:cNvPr>
          <p:cNvPicPr>
            <a:picLocks noChangeAspect="1" noChangeArrowheads="1"/>
          </p:cNvPicPr>
          <p:nvPr/>
        </p:nvPicPr>
        <p:blipFill>
          <a:blip r:embed="rId6"/>
          <a:stretch>
            <a:fillRect/>
          </a:stretch>
        </p:blipFill>
        <p:spPr bwMode="auto">
          <a:xfrm>
            <a:off x="9252689" y="2905587"/>
            <a:ext cx="888781" cy="88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EF2885B0-638B-E945-A128-67BC6179FA3F}"/>
              </a:ext>
            </a:extLst>
          </p:cNvPr>
          <p:cNvSpPr txBox="1">
            <a:spLocks/>
          </p:cNvSpPr>
          <p:nvPr/>
        </p:nvSpPr>
        <p:spPr bwMode="auto">
          <a:xfrm>
            <a:off x="9302421" y="2084388"/>
            <a:ext cx="4523404" cy="5230812"/>
          </a:xfrm>
          <a:prstGeom prst="rect">
            <a:avLst/>
          </a:prstGeom>
        </p:spPr>
        <p:txBody>
          <a:bodyPr/>
          <a:lstStyle>
            <a:lvl1pPr marL="0" indent="0" algn="l" defTabSz="457200" rtl="0" eaLnBrk="1" latinLnBrk="0" hangingPunct="1">
              <a:spcBef>
                <a:spcPct val="20000"/>
              </a:spcBef>
              <a:buFontTx/>
              <a:buNone/>
              <a:defRPr sz="24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1pPr>
            <a:lvl2pPr marL="742950" indent="-285750" algn="l" defTabSz="457200" rtl="0" eaLnBrk="1" latinLnBrk="0" hangingPunct="1">
              <a:spcBef>
                <a:spcPct val="20000"/>
              </a:spcBef>
              <a:buFont typeface="Arial"/>
              <a:buChar char="•"/>
              <a:defRPr sz="20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2pPr>
            <a:lvl3pPr marL="1143000" indent="-228600" algn="l" defTabSz="457200" rtl="0" eaLnBrk="1" latinLnBrk="0" hangingPunct="1">
              <a:spcBef>
                <a:spcPct val="20000"/>
              </a:spcBef>
              <a:buFont typeface="Arial"/>
              <a:buChar char="•"/>
              <a:defRPr sz="18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3pPr>
            <a:lvl4pPr marL="1600200" indent="-228600" algn="l" defTabSz="457200" rtl="0" eaLnBrk="1" latinLnBrk="0" hangingPunct="1">
              <a:spcBef>
                <a:spcPct val="20000"/>
              </a:spcBef>
              <a:buFont typeface="Arial"/>
              <a:buChar char="–"/>
              <a:defRPr sz="16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4pPr>
            <a:lvl5pPr marL="2057400" indent="-228600" algn="l" defTabSz="457200" rtl="0" eaLnBrk="1" latinLnBrk="0" hangingPunct="1">
              <a:spcBef>
                <a:spcPct val="20000"/>
              </a:spcBef>
              <a:buFont typeface="Arial"/>
              <a:buChar char="»"/>
              <a:defRPr sz="1600" b="0" i="0" kern="1200">
                <a:solidFill>
                  <a:srgbClr val="192850"/>
                </a:solidFill>
                <a:latin typeface="Amazon Ember" panose="02000000000000000000" pitchFamily="2" charset="0"/>
                <a:ea typeface="Amazon Ember" panose="02000000000000000000" pitchFamily="2" charset="0"/>
                <a:cs typeface="Amazon Ember" panose="02000000000000000000"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sz="3600" b="1" dirty="0">
                <a:solidFill>
                  <a:srgbClr val="50FF1F"/>
                </a:solidFill>
              </a:rPr>
              <a:t>Outcomes</a:t>
            </a:r>
          </a:p>
          <a:p>
            <a:pPr>
              <a:defRPr/>
            </a:pPr>
            <a:endParaRPr lang="en-GB" sz="1400" dirty="0"/>
          </a:p>
          <a:p>
            <a:pPr>
              <a:defRPr/>
            </a:pPr>
            <a:endParaRPr lang="en-GB" sz="3600" b="1" dirty="0">
              <a:solidFill>
                <a:srgbClr val="30D1EC"/>
              </a:solidFill>
            </a:endParaRPr>
          </a:p>
          <a:p>
            <a:pPr>
              <a:defRPr/>
            </a:pPr>
            <a:endParaRPr lang="en-GB" sz="1400" dirty="0"/>
          </a:p>
          <a:p>
            <a:pPr>
              <a:defRPr/>
            </a:pPr>
            <a:r>
              <a:rPr lang="en-GB" sz="3600" b="1" dirty="0">
                <a:solidFill>
                  <a:srgbClr val="B851FF"/>
                </a:solidFill>
              </a:rPr>
              <a:t>User behavior</a:t>
            </a:r>
          </a:p>
          <a:p>
            <a:pPr>
              <a:defRPr/>
            </a:pPr>
            <a:endParaRPr lang="en-GB" sz="1400" dirty="0"/>
          </a:p>
          <a:p>
            <a:pPr>
              <a:defRPr/>
            </a:pPr>
            <a:endParaRPr lang="en-GB" sz="3600" b="1" dirty="0">
              <a:solidFill>
                <a:srgbClr val="FAAF00"/>
              </a:solidFill>
            </a:endParaRPr>
          </a:p>
          <a:p>
            <a:pPr>
              <a:defRPr/>
            </a:pPr>
            <a:endParaRPr lang="en-GB" sz="1400" dirty="0"/>
          </a:p>
          <a:p>
            <a:pPr>
              <a:defRPr/>
            </a:pPr>
            <a:r>
              <a:rPr lang="en-GB" sz="3600" b="1" dirty="0">
                <a:solidFill>
                  <a:schemeClr val="accent3">
                    <a:lumMod val="60000"/>
                    <a:lumOff val="40000"/>
                  </a:schemeClr>
                </a:solidFill>
              </a:rPr>
              <a:t>Workload behavior</a:t>
            </a:r>
            <a:endParaRPr lang="en-US" sz="3600" b="1" dirty="0">
              <a:solidFill>
                <a:schemeClr val="accent3">
                  <a:lumMod val="60000"/>
                  <a:lumOff val="40000"/>
                </a:schemeClr>
              </a:solidFill>
            </a:endParaRPr>
          </a:p>
        </p:txBody>
      </p:sp>
      <p:pic>
        <p:nvPicPr>
          <p:cNvPr id="10" name="Picture 4">
            <a:extLst>
              <a:ext uri="{FF2B5EF4-FFF2-40B4-BE49-F238E27FC236}">
                <a16:creationId xmlns:a16="http://schemas.microsoft.com/office/drawing/2014/main" id="{89C84DFE-A4DE-E448-876C-69FE5865DE49}"/>
              </a:ext>
            </a:extLst>
          </p:cNvPr>
          <p:cNvPicPr>
            <a:picLocks noChangeAspect="1" noChangeArrowheads="1"/>
          </p:cNvPicPr>
          <p:nvPr/>
        </p:nvPicPr>
        <p:blipFill>
          <a:blip r:embed="rId7"/>
          <a:stretch>
            <a:fillRect/>
          </a:stretch>
        </p:blipFill>
        <p:spPr bwMode="auto">
          <a:xfrm>
            <a:off x="8281547" y="1893920"/>
            <a:ext cx="971142" cy="975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68C155D5-C23D-DC4D-9EF9-F656F90EEA90}"/>
              </a:ext>
            </a:extLst>
          </p:cNvPr>
          <p:cNvPicPr>
            <a:picLocks noChangeAspect="1"/>
          </p:cNvPicPr>
          <p:nvPr/>
        </p:nvPicPr>
        <p:blipFill>
          <a:blip r:embed="rId8"/>
          <a:stretch>
            <a:fillRect/>
          </a:stretch>
        </p:blipFill>
        <p:spPr bwMode="auto">
          <a:xfrm>
            <a:off x="12599399" y="3528583"/>
            <a:ext cx="1226426" cy="1232558"/>
          </a:xfrm>
          <a:prstGeom prst="rect">
            <a:avLst/>
          </a:prstGeom>
        </p:spPr>
      </p:pic>
      <p:pic>
        <p:nvPicPr>
          <p:cNvPr id="12" name="Picture 11">
            <a:extLst>
              <a:ext uri="{FF2B5EF4-FFF2-40B4-BE49-F238E27FC236}">
                <a16:creationId xmlns:a16="http://schemas.microsoft.com/office/drawing/2014/main" id="{CC576036-9B69-204F-9DB6-3C09C182DAD2}"/>
              </a:ext>
            </a:extLst>
          </p:cNvPr>
          <p:cNvPicPr>
            <a:picLocks noChangeAspect="1"/>
          </p:cNvPicPr>
          <p:nvPr/>
        </p:nvPicPr>
        <p:blipFill>
          <a:blip r:embed="rId9"/>
          <a:stretch>
            <a:fillRect/>
          </a:stretch>
        </p:blipFill>
        <p:spPr bwMode="auto">
          <a:xfrm>
            <a:off x="8231818" y="5423552"/>
            <a:ext cx="1070601" cy="1070601"/>
          </a:xfrm>
          <a:prstGeom prst="rect">
            <a:avLst/>
          </a:prstGeom>
        </p:spPr>
      </p:pic>
    </p:spTree>
    <p:extLst>
      <p:ext uri="{BB962C8B-B14F-4D97-AF65-F5344CB8AC3E}">
        <p14:creationId xmlns:p14="http://schemas.microsoft.com/office/powerpoint/2010/main" val="193925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 0 L -0.18826 0 " pathEditMode="relative" ptsTypes="AA">
                                      <p:cBhvr>
                                        <p:cTn id="36" dur="2000" fill="hold"/>
                                        <p:tgtEl>
                                          <p:spTgt spid="3">
                                            <p:txEl>
                                              <p:pRg st="0" end="0"/>
                                            </p:txEl>
                                          </p:spTgt>
                                        </p:tgtEl>
                                        <p:attrNameLst>
                                          <p:attrName>ppt_x</p:attrName>
                                          <p:attrName>ppt_y</p:attrName>
                                        </p:attrNameLst>
                                      </p:cBhvr>
                                    </p:animMotion>
                                  </p:childTnLst>
                                </p:cTn>
                              </p:par>
                              <p:par>
                                <p:cTn id="37" presetID="0" presetClass="path" presetSubtype="0" accel="50000" decel="50000" fill="hold" grpId="1" nodeType="withEffect">
                                  <p:stCondLst>
                                    <p:cond delay="0"/>
                                  </p:stCondLst>
                                  <p:childTnLst>
                                    <p:animMotion origin="layout" path="M 0 0 L -0.18826 0 " pathEditMode="relative" ptsTypes="AA">
                                      <p:cBhvr>
                                        <p:cTn id="38" dur="2000" fill="hold"/>
                                        <p:tgtEl>
                                          <p:spTgt spid="3">
                                            <p:txEl>
                                              <p:pRg st="2" end="2"/>
                                            </p:txEl>
                                          </p:spTgt>
                                        </p:tgtEl>
                                        <p:attrNameLst>
                                          <p:attrName>ppt_x</p:attrName>
                                          <p:attrName>ppt_y</p:attrName>
                                        </p:attrNameLst>
                                      </p:cBhvr>
                                    </p:animMotion>
                                  </p:childTnLst>
                                </p:cTn>
                              </p:par>
                              <p:par>
                                <p:cTn id="39" presetID="0" presetClass="path" presetSubtype="0" accel="50000" decel="50000" fill="hold" grpId="1" nodeType="withEffect">
                                  <p:stCondLst>
                                    <p:cond delay="0"/>
                                  </p:stCondLst>
                                  <p:childTnLst>
                                    <p:animMotion origin="layout" path="M 0 0 L -0.18826 0 " pathEditMode="relative" ptsTypes="AA">
                                      <p:cBhvr>
                                        <p:cTn id="40" dur="2000" fill="hold"/>
                                        <p:tgtEl>
                                          <p:spTgt spid="3">
                                            <p:txEl>
                                              <p:pRg st="4" end="4"/>
                                            </p:txEl>
                                          </p:spTgt>
                                        </p:tgtEl>
                                        <p:attrNameLst>
                                          <p:attrName>ppt_x</p:attrName>
                                          <p:attrName>ppt_y</p:attrName>
                                        </p:attrNameLst>
                                      </p:cBhvr>
                                    </p:animMotion>
                                  </p:childTnLst>
                                </p:cTn>
                              </p:par>
                              <p:par>
                                <p:cTn id="41" presetID="0" presetClass="path" presetSubtype="0" accel="50000" decel="50000" fill="hold" grpId="1" nodeType="withEffect">
                                  <p:stCondLst>
                                    <p:cond delay="0"/>
                                  </p:stCondLst>
                                  <p:childTnLst>
                                    <p:animMotion origin="layout" path="M 0 0 L -0.18826 0 " pathEditMode="relative" ptsTypes="AA">
                                      <p:cBhvr>
                                        <p:cTn id="42" dur="2000" fill="hold"/>
                                        <p:tgtEl>
                                          <p:spTgt spid="3">
                                            <p:txEl>
                                              <p:pRg st="6" end="6"/>
                                            </p:txEl>
                                          </p:spTgt>
                                        </p:tgtEl>
                                        <p:attrNameLst>
                                          <p:attrName>ppt_x</p:attrName>
                                          <p:attrName>ppt_y</p:attrName>
                                        </p:attrNameLst>
                                      </p:cBhvr>
                                    </p:animMotion>
                                  </p:childTnLst>
                                </p:cTn>
                              </p:par>
                              <p:par>
                                <p:cTn id="43" presetID="0" presetClass="path" presetSubtype="0" accel="50000" decel="50000" fill="hold" grpId="1" nodeType="withEffect">
                                  <p:stCondLst>
                                    <p:cond delay="0"/>
                                  </p:stCondLst>
                                  <p:childTnLst>
                                    <p:animMotion origin="layout" path="M 0 0 L -0.18826 0 " pathEditMode="relative" ptsTypes="AA">
                                      <p:cBhvr>
                                        <p:cTn id="44" dur="2000" fill="hold"/>
                                        <p:tgtEl>
                                          <p:spTgt spid="3">
                                            <p:txEl>
                                              <p:pRg st="8" end="8"/>
                                            </p:txEl>
                                          </p:spTgt>
                                        </p:tgtEl>
                                        <p:attrNameLst>
                                          <p:attrName>ppt_x</p:attrName>
                                          <p:attrName>ppt_y</p:attrName>
                                        </p:attrNameLst>
                                      </p:cBhvr>
                                    </p:animMotion>
                                  </p:childTnLst>
                                </p:cTn>
                              </p:par>
                              <p:par>
                                <p:cTn id="45" presetID="0" presetClass="path" presetSubtype="0" accel="50000" decel="50000" fill="hold" nodeType="withEffect">
                                  <p:stCondLst>
                                    <p:cond delay="0"/>
                                  </p:stCondLst>
                                  <p:childTnLst>
                                    <p:animMotion origin="layout" path="M 0 0 L -0.18826 0 " pathEditMode="relative" ptsTypes="AA">
                                      <p:cBhvr>
                                        <p:cTn id="46" dur="2000" fill="hold"/>
                                        <p:tgtEl>
                                          <p:spTgt spid="4"/>
                                        </p:tgtEl>
                                        <p:attrNameLst>
                                          <p:attrName>ppt_x</p:attrName>
                                          <p:attrName>ppt_y</p:attrName>
                                        </p:attrNameLst>
                                      </p:cBhvr>
                                    </p:animMotion>
                                  </p:childTnLst>
                                </p:cTn>
                              </p:par>
                              <p:par>
                                <p:cTn id="47" presetID="0" presetClass="path" presetSubtype="0" accel="50000" decel="50000" fill="hold" nodeType="withEffect">
                                  <p:stCondLst>
                                    <p:cond delay="0"/>
                                  </p:stCondLst>
                                  <p:childTnLst>
                                    <p:animMotion origin="layout" path="M 0 0 L -0.18826 0 " pathEditMode="relative" ptsTypes="AA">
                                      <p:cBhvr>
                                        <p:cTn id="48" dur="2000" fill="hold"/>
                                        <p:tgtEl>
                                          <p:spTgt spid="5"/>
                                        </p:tgtEl>
                                        <p:attrNameLst>
                                          <p:attrName>ppt_x</p:attrName>
                                          <p:attrName>ppt_y</p:attrName>
                                        </p:attrNameLst>
                                      </p:cBhvr>
                                    </p:animMotion>
                                  </p:childTnLst>
                                </p:cTn>
                              </p:par>
                              <p:par>
                                <p:cTn id="49" presetID="0" presetClass="path" presetSubtype="0" accel="50000" decel="50000" fill="hold" nodeType="withEffect">
                                  <p:stCondLst>
                                    <p:cond delay="0"/>
                                  </p:stCondLst>
                                  <p:childTnLst>
                                    <p:animMotion origin="layout" path="M 0 0 L -0.18826 0 " pathEditMode="relative" ptsTypes="AA">
                                      <p:cBhvr>
                                        <p:cTn id="50" dur="2000" fill="hold"/>
                                        <p:tgtEl>
                                          <p:spTgt spid="6"/>
                                        </p:tgtEl>
                                        <p:attrNameLst>
                                          <p:attrName>ppt_x</p:attrName>
                                          <p:attrName>ppt_y</p:attrName>
                                        </p:attrNameLst>
                                      </p:cBhvr>
                                    </p:animMotion>
                                  </p:childTnLst>
                                </p:cTn>
                              </p:par>
                              <p:par>
                                <p:cTn id="51" presetID="0" presetClass="path" presetSubtype="0" accel="50000" decel="50000" fill="hold" nodeType="withEffect">
                                  <p:stCondLst>
                                    <p:cond delay="0"/>
                                  </p:stCondLst>
                                  <p:childTnLst>
                                    <p:animMotion origin="layout" path="M 0 0 L -0.18826 0 " pathEditMode="relative" ptsTypes="AA">
                                      <p:cBhvr>
                                        <p:cTn id="52" dur="2000" fill="hold"/>
                                        <p:tgtEl>
                                          <p:spTgt spid="7"/>
                                        </p:tgtEl>
                                        <p:attrNameLst>
                                          <p:attrName>ppt_x</p:attrName>
                                          <p:attrName>ppt_y</p:attrName>
                                        </p:attrNameLst>
                                      </p:cBhvr>
                                    </p:animMotion>
                                  </p:childTnLst>
                                </p:cTn>
                              </p:par>
                              <p:par>
                                <p:cTn id="53" presetID="0" presetClass="path" presetSubtype="0" accel="50000" decel="50000" fill="hold" nodeType="withEffect">
                                  <p:stCondLst>
                                    <p:cond delay="0"/>
                                  </p:stCondLst>
                                  <p:childTnLst>
                                    <p:animMotion origin="layout" path="M 0 0 L -0.18826 0 " pathEditMode="relative" ptsTypes="AA">
                                      <p:cBhvr>
                                        <p:cTn id="54" dur="2000" fill="hold"/>
                                        <p:tgtEl>
                                          <p:spTgt spid="8"/>
                                        </p:tgtEl>
                                        <p:attrNameLst>
                                          <p:attrName>ppt_x</p:attrName>
                                          <p:attrName>ppt_y</p:attrName>
                                        </p:attrNameLst>
                                      </p:cBhvr>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0" end="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4" end="4"/>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8" end="8"/>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3" grpId="1" build="allAtOnce"/>
      <p:bldP spid="9"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p_Respond">
            <a:extLst>
              <a:ext uri="{FF2B5EF4-FFF2-40B4-BE49-F238E27FC236}">
                <a16:creationId xmlns:a16="http://schemas.microsoft.com/office/drawing/2014/main" id="{54E57F6D-2869-6344-B342-64FCC9EBCF77}"/>
              </a:ext>
            </a:extLst>
          </p:cNvPr>
          <p:cNvGrpSpPr/>
          <p:nvPr/>
        </p:nvGrpSpPr>
        <p:grpSpPr>
          <a:xfrm>
            <a:off x="10764500" y="2634650"/>
            <a:ext cx="1765270" cy="1918792"/>
            <a:chOff x="10764500" y="2634650"/>
            <a:chExt cx="1765270" cy="1918792"/>
          </a:xfrm>
        </p:grpSpPr>
        <p:pic>
          <p:nvPicPr>
            <p:cNvPr id="5" name="Picture 4">
              <a:extLst>
                <a:ext uri="{FF2B5EF4-FFF2-40B4-BE49-F238E27FC236}">
                  <a16:creationId xmlns:a16="http://schemas.microsoft.com/office/drawing/2014/main" id="{3013ED46-2365-3648-BD36-3AE492DFCDE9}"/>
                </a:ext>
              </a:extLst>
            </p:cNvPr>
            <p:cNvPicPr>
              <a:picLocks noChangeAspect="1"/>
            </p:cNvPicPr>
            <p:nvPr/>
          </p:nvPicPr>
          <p:blipFill>
            <a:blip r:embed="rId3"/>
            <a:stretch>
              <a:fillRect/>
            </a:stretch>
          </p:blipFill>
          <p:spPr>
            <a:xfrm>
              <a:off x="10764500" y="2634650"/>
              <a:ext cx="1675723" cy="1675723"/>
            </a:xfrm>
            <a:prstGeom prst="rect">
              <a:avLst/>
            </a:prstGeom>
          </p:spPr>
        </p:pic>
        <p:sp>
          <p:nvSpPr>
            <p:cNvPr id="6" name="TextBox 5">
              <a:extLst>
                <a:ext uri="{FF2B5EF4-FFF2-40B4-BE49-F238E27FC236}">
                  <a16:creationId xmlns:a16="http://schemas.microsoft.com/office/drawing/2014/main" id="{A93407BD-E787-F146-AC90-BB25799E2285}"/>
                </a:ext>
              </a:extLst>
            </p:cNvPr>
            <p:cNvSpPr txBox="1"/>
            <p:nvPr/>
          </p:nvSpPr>
          <p:spPr>
            <a:xfrm>
              <a:off x="10863606" y="4153332"/>
              <a:ext cx="1666164" cy="400110"/>
            </a:xfrm>
            <a:prstGeom prst="rect">
              <a:avLst/>
            </a:prstGeom>
            <a:noFill/>
          </p:spPr>
          <p:txBody>
            <a:bodyPr wrap="square">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rgbClr val="FFFFFF"/>
                  </a:solidFill>
                  <a:effectLst/>
                  <a:uLnTx/>
                  <a:uFillTx/>
                  <a:latin typeface="Amazon Ember"/>
                  <a:ea typeface="+mn-ea"/>
                  <a:cs typeface="+mn-cs"/>
                </a:rPr>
                <a:t>Respond</a:t>
              </a:r>
            </a:p>
          </p:txBody>
        </p:sp>
      </p:grpSp>
      <p:grpSp>
        <p:nvGrpSpPr>
          <p:cNvPr id="7" name="grp_Monitor">
            <a:extLst>
              <a:ext uri="{FF2B5EF4-FFF2-40B4-BE49-F238E27FC236}">
                <a16:creationId xmlns:a16="http://schemas.microsoft.com/office/drawing/2014/main" id="{0E020E29-36B4-5C48-80EE-68988D7914B2}"/>
              </a:ext>
            </a:extLst>
          </p:cNvPr>
          <p:cNvGrpSpPr/>
          <p:nvPr/>
        </p:nvGrpSpPr>
        <p:grpSpPr>
          <a:xfrm>
            <a:off x="8722418" y="2566367"/>
            <a:ext cx="1898318" cy="2021738"/>
            <a:chOff x="8722418" y="2566367"/>
            <a:chExt cx="1898318" cy="2021738"/>
          </a:xfrm>
        </p:grpSpPr>
        <p:pic>
          <p:nvPicPr>
            <p:cNvPr id="8" name="Picture 7">
              <a:extLst>
                <a:ext uri="{FF2B5EF4-FFF2-40B4-BE49-F238E27FC236}">
                  <a16:creationId xmlns:a16="http://schemas.microsoft.com/office/drawing/2014/main" id="{A301BCED-64A4-E04E-9C3C-DA846358AF0D}"/>
                </a:ext>
              </a:extLst>
            </p:cNvPr>
            <p:cNvPicPr>
              <a:picLocks noChangeAspect="1"/>
            </p:cNvPicPr>
            <p:nvPr/>
          </p:nvPicPr>
          <p:blipFill>
            <a:blip r:embed="rId4"/>
            <a:stretch>
              <a:fillRect/>
            </a:stretch>
          </p:blipFill>
          <p:spPr>
            <a:xfrm>
              <a:off x="8722418" y="2566367"/>
              <a:ext cx="1898318" cy="1898318"/>
            </a:xfrm>
            <a:prstGeom prst="rect">
              <a:avLst/>
            </a:prstGeom>
          </p:spPr>
        </p:pic>
        <p:sp>
          <p:nvSpPr>
            <p:cNvPr id="9" name="TextBox 8">
              <a:extLst>
                <a:ext uri="{FF2B5EF4-FFF2-40B4-BE49-F238E27FC236}">
                  <a16:creationId xmlns:a16="http://schemas.microsoft.com/office/drawing/2014/main" id="{A09B8599-253E-5F4F-A4F5-1DC7CA84794A}"/>
                </a:ext>
              </a:extLst>
            </p:cNvPr>
            <p:cNvSpPr txBox="1"/>
            <p:nvPr/>
          </p:nvSpPr>
          <p:spPr>
            <a:xfrm>
              <a:off x="8838495" y="4187995"/>
              <a:ext cx="1666164" cy="400110"/>
            </a:xfrm>
            <a:prstGeom prst="rect">
              <a:avLst/>
            </a:prstGeom>
            <a:noFill/>
          </p:spPr>
          <p:txBody>
            <a:bodyPr wrap="square">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rgbClr val="FFFFFF"/>
                  </a:solidFill>
                  <a:effectLst/>
                  <a:uLnTx/>
                  <a:uFillTx/>
                  <a:latin typeface="Amazon Ember"/>
                  <a:ea typeface="+mn-ea"/>
                  <a:cs typeface="+mn-cs"/>
                </a:rPr>
                <a:t>Monitor</a:t>
              </a:r>
            </a:p>
          </p:txBody>
        </p:sp>
      </p:grpSp>
      <p:grpSp>
        <p:nvGrpSpPr>
          <p:cNvPr id="10" name="grp_Metrics">
            <a:extLst>
              <a:ext uri="{FF2B5EF4-FFF2-40B4-BE49-F238E27FC236}">
                <a16:creationId xmlns:a16="http://schemas.microsoft.com/office/drawing/2014/main" id="{C45B06AB-3C65-5C4F-AE60-E0E1FF43E77A}"/>
              </a:ext>
            </a:extLst>
          </p:cNvPr>
          <p:cNvGrpSpPr/>
          <p:nvPr/>
        </p:nvGrpSpPr>
        <p:grpSpPr>
          <a:xfrm>
            <a:off x="6830896" y="2646414"/>
            <a:ext cx="1683411" cy="1939982"/>
            <a:chOff x="6830896" y="2646414"/>
            <a:chExt cx="1683411" cy="1939982"/>
          </a:xfrm>
        </p:grpSpPr>
        <p:pic>
          <p:nvPicPr>
            <p:cNvPr id="11" name="Picture 10">
              <a:extLst>
                <a:ext uri="{FF2B5EF4-FFF2-40B4-BE49-F238E27FC236}">
                  <a16:creationId xmlns:a16="http://schemas.microsoft.com/office/drawing/2014/main" id="{80F80126-8AE8-244B-A5B5-695ADBF30473}"/>
                </a:ext>
              </a:extLst>
            </p:cNvPr>
            <p:cNvPicPr>
              <a:picLocks noChangeAspect="1"/>
            </p:cNvPicPr>
            <p:nvPr/>
          </p:nvPicPr>
          <p:blipFill>
            <a:blip r:embed="rId5"/>
            <a:stretch>
              <a:fillRect/>
            </a:stretch>
          </p:blipFill>
          <p:spPr>
            <a:xfrm>
              <a:off x="6830896" y="2646414"/>
              <a:ext cx="1675723" cy="1684101"/>
            </a:xfrm>
            <a:prstGeom prst="rect">
              <a:avLst/>
            </a:prstGeom>
          </p:spPr>
        </p:pic>
        <p:sp>
          <p:nvSpPr>
            <p:cNvPr id="12" name="TextBox 11">
              <a:extLst>
                <a:ext uri="{FF2B5EF4-FFF2-40B4-BE49-F238E27FC236}">
                  <a16:creationId xmlns:a16="http://schemas.microsoft.com/office/drawing/2014/main" id="{14FB8D9C-ED79-A543-8FD2-7A030D8B8168}"/>
                </a:ext>
              </a:extLst>
            </p:cNvPr>
            <p:cNvSpPr txBox="1"/>
            <p:nvPr/>
          </p:nvSpPr>
          <p:spPr>
            <a:xfrm>
              <a:off x="6848143" y="4186286"/>
              <a:ext cx="1666164" cy="400110"/>
            </a:xfrm>
            <a:prstGeom prst="rect">
              <a:avLst/>
            </a:prstGeom>
            <a:noFill/>
          </p:spPr>
          <p:txBody>
            <a:bodyPr wrap="square">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rgbClr val="FFFFFF"/>
                  </a:solidFill>
                  <a:effectLst/>
                  <a:uLnTx/>
                  <a:uFillTx/>
                  <a:latin typeface="Amazon Ember"/>
                  <a:ea typeface="+mn-ea"/>
                  <a:cs typeface="+mn-cs"/>
                </a:rPr>
                <a:t>Metrics</a:t>
              </a:r>
            </a:p>
          </p:txBody>
        </p:sp>
      </p:grpSp>
      <p:grpSp>
        <p:nvGrpSpPr>
          <p:cNvPr id="13" name="grp_KPIs">
            <a:extLst>
              <a:ext uri="{FF2B5EF4-FFF2-40B4-BE49-F238E27FC236}">
                <a16:creationId xmlns:a16="http://schemas.microsoft.com/office/drawing/2014/main" id="{F8B7AD65-A7A8-A845-94FE-73A9AC0D273C}"/>
              </a:ext>
            </a:extLst>
          </p:cNvPr>
          <p:cNvGrpSpPr/>
          <p:nvPr/>
        </p:nvGrpSpPr>
        <p:grpSpPr>
          <a:xfrm>
            <a:off x="4938539" y="2677664"/>
            <a:ext cx="1676387" cy="1930557"/>
            <a:chOff x="4938539" y="2677664"/>
            <a:chExt cx="1676387" cy="1930557"/>
          </a:xfrm>
        </p:grpSpPr>
        <p:pic>
          <p:nvPicPr>
            <p:cNvPr id="14" name="Picture 13">
              <a:extLst>
                <a:ext uri="{FF2B5EF4-FFF2-40B4-BE49-F238E27FC236}">
                  <a16:creationId xmlns:a16="http://schemas.microsoft.com/office/drawing/2014/main" id="{484A67E9-0642-1D44-A885-9AB575F77F92}"/>
                </a:ext>
              </a:extLst>
            </p:cNvPr>
            <p:cNvPicPr>
              <a:picLocks noChangeAspect="1"/>
            </p:cNvPicPr>
            <p:nvPr/>
          </p:nvPicPr>
          <p:blipFill>
            <a:blip r:embed="rId6"/>
            <a:stretch>
              <a:fillRect/>
            </a:stretch>
          </p:blipFill>
          <p:spPr>
            <a:xfrm>
              <a:off x="4939203" y="2677664"/>
              <a:ext cx="1675723" cy="1675723"/>
            </a:xfrm>
            <a:prstGeom prst="rect">
              <a:avLst/>
            </a:prstGeom>
          </p:spPr>
        </p:pic>
        <p:sp>
          <p:nvSpPr>
            <p:cNvPr id="15" name="TextBox 14">
              <a:extLst>
                <a:ext uri="{FF2B5EF4-FFF2-40B4-BE49-F238E27FC236}">
                  <a16:creationId xmlns:a16="http://schemas.microsoft.com/office/drawing/2014/main" id="{2CDE202A-F89C-4B4D-A14E-8BE4FF8F9329}"/>
                </a:ext>
              </a:extLst>
            </p:cNvPr>
            <p:cNvSpPr txBox="1"/>
            <p:nvPr/>
          </p:nvSpPr>
          <p:spPr>
            <a:xfrm>
              <a:off x="4938539" y="4208111"/>
              <a:ext cx="1666164" cy="400110"/>
            </a:xfrm>
            <a:prstGeom prst="rect">
              <a:avLst/>
            </a:prstGeom>
            <a:noFill/>
          </p:spPr>
          <p:txBody>
            <a:bodyPr wrap="square">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rgbClr val="FFFFFF"/>
                  </a:solidFill>
                  <a:effectLst/>
                  <a:uLnTx/>
                  <a:uFillTx/>
                  <a:latin typeface="Amazon Ember"/>
                  <a:ea typeface="+mn-ea"/>
                  <a:cs typeface="+mn-cs"/>
                </a:rPr>
                <a:t>KPIs</a:t>
              </a:r>
            </a:p>
          </p:txBody>
        </p:sp>
      </p:grpSp>
      <p:grpSp>
        <p:nvGrpSpPr>
          <p:cNvPr id="16" name="grp_Business">
            <a:extLst>
              <a:ext uri="{FF2B5EF4-FFF2-40B4-BE49-F238E27FC236}">
                <a16:creationId xmlns:a16="http://schemas.microsoft.com/office/drawing/2014/main" id="{8C8959BD-7BE0-A643-AF2B-7BB995FF4E4C}"/>
              </a:ext>
            </a:extLst>
          </p:cNvPr>
          <p:cNvGrpSpPr/>
          <p:nvPr/>
        </p:nvGrpSpPr>
        <p:grpSpPr>
          <a:xfrm>
            <a:off x="3016240" y="2677664"/>
            <a:ext cx="1672219" cy="1907104"/>
            <a:chOff x="3016240" y="2677664"/>
            <a:chExt cx="1672219" cy="1907104"/>
          </a:xfrm>
        </p:grpSpPr>
        <p:sp>
          <p:nvSpPr>
            <p:cNvPr id="17" name="TextBox 16">
              <a:extLst>
                <a:ext uri="{FF2B5EF4-FFF2-40B4-BE49-F238E27FC236}">
                  <a16:creationId xmlns:a16="http://schemas.microsoft.com/office/drawing/2014/main" id="{33FC48E8-11BE-6141-A046-253771310D9A}"/>
                </a:ext>
              </a:extLst>
            </p:cNvPr>
            <p:cNvSpPr txBox="1"/>
            <p:nvPr/>
          </p:nvSpPr>
          <p:spPr>
            <a:xfrm>
              <a:off x="3022295" y="4184658"/>
              <a:ext cx="1666164" cy="400110"/>
            </a:xfrm>
            <a:prstGeom prst="rect">
              <a:avLst/>
            </a:prstGeom>
            <a:noFill/>
          </p:spPr>
          <p:txBody>
            <a:bodyPr wrap="square">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rgbClr val="FFFFFF"/>
                  </a:solidFill>
                  <a:effectLst/>
                  <a:uLnTx/>
                  <a:uFillTx/>
                  <a:latin typeface="Amazon Ember"/>
                  <a:ea typeface="+mn-ea"/>
                  <a:cs typeface="+mn-cs"/>
                </a:rPr>
                <a:t>Business</a:t>
              </a:r>
            </a:p>
          </p:txBody>
        </p:sp>
        <p:pic>
          <p:nvPicPr>
            <p:cNvPr id="18" name="Picture 17">
              <a:extLst>
                <a:ext uri="{FF2B5EF4-FFF2-40B4-BE49-F238E27FC236}">
                  <a16:creationId xmlns:a16="http://schemas.microsoft.com/office/drawing/2014/main" id="{7D7F4D08-86B0-8D40-8CD8-9517047162AD}"/>
                </a:ext>
              </a:extLst>
            </p:cNvPr>
            <p:cNvPicPr>
              <a:picLocks noChangeAspect="1"/>
            </p:cNvPicPr>
            <p:nvPr/>
          </p:nvPicPr>
          <p:blipFill>
            <a:blip r:embed="rId7"/>
            <a:stretch>
              <a:fillRect/>
            </a:stretch>
          </p:blipFill>
          <p:spPr>
            <a:xfrm>
              <a:off x="3016240" y="2677664"/>
              <a:ext cx="1667386" cy="1675723"/>
            </a:xfrm>
            <a:prstGeom prst="rect">
              <a:avLst/>
            </a:prstGeom>
          </p:spPr>
        </p:pic>
      </p:grpSp>
      <p:grpSp>
        <p:nvGrpSpPr>
          <p:cNvPr id="19" name="grp_OE_Prepare">
            <a:extLst>
              <a:ext uri="{FF2B5EF4-FFF2-40B4-BE49-F238E27FC236}">
                <a16:creationId xmlns:a16="http://schemas.microsoft.com/office/drawing/2014/main" id="{1EAEE548-C453-1A46-8C67-B3BD6B448719}"/>
              </a:ext>
            </a:extLst>
          </p:cNvPr>
          <p:cNvGrpSpPr/>
          <p:nvPr/>
        </p:nvGrpSpPr>
        <p:grpSpPr>
          <a:xfrm>
            <a:off x="2107895" y="5239860"/>
            <a:ext cx="1828800" cy="1432322"/>
            <a:chOff x="3203152" y="6090697"/>
            <a:chExt cx="1828800" cy="1432322"/>
          </a:xfrm>
        </p:grpSpPr>
        <p:sp>
          <p:nvSpPr>
            <p:cNvPr id="20" name="Rectangle 19">
              <a:extLst>
                <a:ext uri="{FF2B5EF4-FFF2-40B4-BE49-F238E27FC236}">
                  <a16:creationId xmlns:a16="http://schemas.microsoft.com/office/drawing/2014/main" id="{CD40DAAC-8013-1C4A-92D6-6873EDA31BE2}"/>
                </a:ext>
              </a:extLst>
            </p:cNvPr>
            <p:cNvSpPr/>
            <p:nvPr/>
          </p:nvSpPr>
          <p:spPr bwMode="auto">
            <a:xfrm>
              <a:off x="3203152" y="6090697"/>
              <a:ext cx="1828800" cy="1432322"/>
            </a:xfrm>
            <a:prstGeom prst="rect">
              <a:avLst/>
            </a:prstGeom>
            <a:solidFill>
              <a:schemeClr val="tx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Prepare</a:t>
              </a:r>
            </a:p>
          </p:txBody>
        </p:sp>
        <p:pic>
          <p:nvPicPr>
            <p:cNvPr id="21" name="Picture 20">
              <a:extLst>
                <a:ext uri="{FF2B5EF4-FFF2-40B4-BE49-F238E27FC236}">
                  <a16:creationId xmlns:a16="http://schemas.microsoft.com/office/drawing/2014/main" id="{26EDF2AB-5F44-334A-8F48-7BA596BF8137}"/>
                </a:ext>
              </a:extLst>
            </p:cNvPr>
            <p:cNvPicPr>
              <a:picLocks noChangeAspect="1"/>
            </p:cNvPicPr>
            <p:nvPr/>
          </p:nvPicPr>
          <p:blipFill>
            <a:blip r:embed="rId8"/>
            <a:stretch>
              <a:fillRect/>
            </a:stretch>
          </p:blipFill>
          <p:spPr>
            <a:xfrm>
              <a:off x="3627964" y="6225420"/>
              <a:ext cx="938555" cy="875723"/>
            </a:xfrm>
            <a:prstGeom prst="rect">
              <a:avLst/>
            </a:prstGeom>
          </p:spPr>
        </p:pic>
        <p:sp>
          <p:nvSpPr>
            <p:cNvPr id="22" name="Rectangle 21">
              <a:extLst>
                <a:ext uri="{FF2B5EF4-FFF2-40B4-BE49-F238E27FC236}">
                  <a16:creationId xmlns:a16="http://schemas.microsoft.com/office/drawing/2014/main" id="{880885E8-BE65-F44D-BE78-6C7F1F364862}"/>
                </a:ext>
              </a:extLst>
            </p:cNvPr>
            <p:cNvSpPr/>
            <p:nvPr/>
          </p:nvSpPr>
          <p:spPr bwMode="auto">
            <a:xfrm>
              <a:off x="3203152" y="6090697"/>
              <a:ext cx="1828800" cy="8825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3" name="grp_OE_Operate">
            <a:extLst>
              <a:ext uri="{FF2B5EF4-FFF2-40B4-BE49-F238E27FC236}">
                <a16:creationId xmlns:a16="http://schemas.microsoft.com/office/drawing/2014/main" id="{A7D92114-82AC-5545-AB89-EB43743325A7}"/>
              </a:ext>
            </a:extLst>
          </p:cNvPr>
          <p:cNvGrpSpPr/>
          <p:nvPr/>
        </p:nvGrpSpPr>
        <p:grpSpPr>
          <a:xfrm>
            <a:off x="6557014" y="5226003"/>
            <a:ext cx="1828800" cy="1432322"/>
            <a:chOff x="3203152" y="6090697"/>
            <a:chExt cx="1828800" cy="1432322"/>
          </a:xfrm>
        </p:grpSpPr>
        <p:sp>
          <p:nvSpPr>
            <p:cNvPr id="24" name="Rectangle 23">
              <a:extLst>
                <a:ext uri="{FF2B5EF4-FFF2-40B4-BE49-F238E27FC236}">
                  <a16:creationId xmlns:a16="http://schemas.microsoft.com/office/drawing/2014/main" id="{75583E83-FDF1-8142-A9A2-41E177160989}"/>
                </a:ext>
              </a:extLst>
            </p:cNvPr>
            <p:cNvSpPr/>
            <p:nvPr/>
          </p:nvSpPr>
          <p:spPr bwMode="auto">
            <a:xfrm>
              <a:off x="3203152" y="6090697"/>
              <a:ext cx="1828800" cy="1432322"/>
            </a:xfrm>
            <a:prstGeom prst="rect">
              <a:avLst/>
            </a:prstGeom>
            <a:solidFill>
              <a:schemeClr val="tx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Operate</a:t>
              </a:r>
            </a:p>
          </p:txBody>
        </p:sp>
        <p:pic>
          <p:nvPicPr>
            <p:cNvPr id="25" name="Picture 24">
              <a:extLst>
                <a:ext uri="{FF2B5EF4-FFF2-40B4-BE49-F238E27FC236}">
                  <a16:creationId xmlns:a16="http://schemas.microsoft.com/office/drawing/2014/main" id="{AA4821B9-AAC9-5048-B96A-485AB00DC84A}"/>
                </a:ext>
              </a:extLst>
            </p:cNvPr>
            <p:cNvPicPr>
              <a:picLocks noChangeAspect="1"/>
            </p:cNvPicPr>
            <p:nvPr/>
          </p:nvPicPr>
          <p:blipFill>
            <a:blip r:embed="rId8"/>
            <a:stretch>
              <a:fillRect/>
            </a:stretch>
          </p:blipFill>
          <p:spPr>
            <a:xfrm>
              <a:off x="3627964" y="6225420"/>
              <a:ext cx="938555" cy="875723"/>
            </a:xfrm>
            <a:prstGeom prst="rect">
              <a:avLst/>
            </a:prstGeom>
          </p:spPr>
        </p:pic>
        <p:sp>
          <p:nvSpPr>
            <p:cNvPr id="26" name="Rectangle 25">
              <a:extLst>
                <a:ext uri="{FF2B5EF4-FFF2-40B4-BE49-F238E27FC236}">
                  <a16:creationId xmlns:a16="http://schemas.microsoft.com/office/drawing/2014/main" id="{3B72F4EC-D0CB-2846-AFA9-87CF7EE95CD2}"/>
                </a:ext>
              </a:extLst>
            </p:cNvPr>
            <p:cNvSpPr/>
            <p:nvPr/>
          </p:nvSpPr>
          <p:spPr bwMode="auto">
            <a:xfrm>
              <a:off x="3203152" y="6090697"/>
              <a:ext cx="1828800" cy="8825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7" name="grp_OE_Evolve">
            <a:extLst>
              <a:ext uri="{FF2B5EF4-FFF2-40B4-BE49-F238E27FC236}">
                <a16:creationId xmlns:a16="http://schemas.microsoft.com/office/drawing/2014/main" id="{22BADCA4-D156-1043-947C-0B9F5B1E6F48}"/>
              </a:ext>
            </a:extLst>
          </p:cNvPr>
          <p:cNvGrpSpPr/>
          <p:nvPr/>
        </p:nvGrpSpPr>
        <p:grpSpPr>
          <a:xfrm>
            <a:off x="11006132" y="5226003"/>
            <a:ext cx="1828800" cy="1432322"/>
            <a:chOff x="3203152" y="6090697"/>
            <a:chExt cx="1828800" cy="1432322"/>
          </a:xfrm>
        </p:grpSpPr>
        <p:sp>
          <p:nvSpPr>
            <p:cNvPr id="28" name="Rectangle 27">
              <a:extLst>
                <a:ext uri="{FF2B5EF4-FFF2-40B4-BE49-F238E27FC236}">
                  <a16:creationId xmlns:a16="http://schemas.microsoft.com/office/drawing/2014/main" id="{0606D652-522D-4244-900C-0F5A66A61083}"/>
                </a:ext>
              </a:extLst>
            </p:cNvPr>
            <p:cNvSpPr/>
            <p:nvPr/>
          </p:nvSpPr>
          <p:spPr bwMode="auto">
            <a:xfrm>
              <a:off x="3203152" y="6090697"/>
              <a:ext cx="1828800" cy="1432322"/>
            </a:xfrm>
            <a:prstGeom prst="rect">
              <a:avLst/>
            </a:prstGeom>
            <a:solidFill>
              <a:schemeClr val="tx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Evolve</a:t>
              </a:r>
            </a:p>
          </p:txBody>
        </p:sp>
        <p:pic>
          <p:nvPicPr>
            <p:cNvPr id="29" name="Picture 28">
              <a:extLst>
                <a:ext uri="{FF2B5EF4-FFF2-40B4-BE49-F238E27FC236}">
                  <a16:creationId xmlns:a16="http://schemas.microsoft.com/office/drawing/2014/main" id="{0A188E4F-CF98-9F4C-B868-CE27BC2F4AEF}"/>
                </a:ext>
              </a:extLst>
            </p:cNvPr>
            <p:cNvPicPr>
              <a:picLocks noChangeAspect="1"/>
            </p:cNvPicPr>
            <p:nvPr/>
          </p:nvPicPr>
          <p:blipFill>
            <a:blip r:embed="rId8"/>
            <a:stretch>
              <a:fillRect/>
            </a:stretch>
          </p:blipFill>
          <p:spPr>
            <a:xfrm>
              <a:off x="3627964" y="6225420"/>
              <a:ext cx="938555" cy="875723"/>
            </a:xfrm>
            <a:prstGeom prst="rect">
              <a:avLst/>
            </a:prstGeom>
          </p:spPr>
        </p:pic>
        <p:sp>
          <p:nvSpPr>
            <p:cNvPr id="30" name="Rectangle 29">
              <a:extLst>
                <a:ext uri="{FF2B5EF4-FFF2-40B4-BE49-F238E27FC236}">
                  <a16:creationId xmlns:a16="http://schemas.microsoft.com/office/drawing/2014/main" id="{D5E1A8B0-4200-4C4F-8733-C2FF9FEE9174}"/>
                </a:ext>
              </a:extLst>
            </p:cNvPr>
            <p:cNvSpPr/>
            <p:nvPr/>
          </p:nvSpPr>
          <p:spPr bwMode="auto">
            <a:xfrm>
              <a:off x="3203152" y="6090697"/>
              <a:ext cx="1828800" cy="8825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31" name="grp_AWS-WA-OE"/>
          <p:cNvGrpSpPr/>
          <p:nvPr/>
        </p:nvGrpSpPr>
        <p:grpSpPr>
          <a:xfrm>
            <a:off x="945097" y="1681889"/>
            <a:ext cx="12082921" cy="3422073"/>
            <a:chOff x="1607249" y="2265213"/>
            <a:chExt cx="12082921" cy="3422073"/>
          </a:xfrm>
        </p:grpSpPr>
        <p:sp>
          <p:nvSpPr>
            <p:cNvPr id="32" name="Rectangle 31">
              <a:extLst>
                <a:ext uri="{FF2B5EF4-FFF2-40B4-BE49-F238E27FC236}">
                  <a16:creationId xmlns:a16="http://schemas.microsoft.com/office/drawing/2014/main" id="{0EA856F3-191B-F54E-8301-E1EC35F30DB0}"/>
                </a:ext>
              </a:extLst>
            </p:cNvPr>
            <p:cNvSpPr/>
            <p:nvPr/>
          </p:nvSpPr>
          <p:spPr bwMode="auto">
            <a:xfrm>
              <a:off x="2521528" y="2265213"/>
              <a:ext cx="11168642" cy="3422073"/>
            </a:xfrm>
            <a:prstGeom prst="rect">
              <a:avLst/>
            </a:prstGeom>
            <a:no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33" name="Group 32">
              <a:extLst>
                <a:ext uri="{FF2B5EF4-FFF2-40B4-BE49-F238E27FC236}">
                  <a16:creationId xmlns:a16="http://schemas.microsoft.com/office/drawing/2014/main" id="{39174359-6221-164F-B748-64E07B5D388A}"/>
                </a:ext>
              </a:extLst>
            </p:cNvPr>
            <p:cNvGrpSpPr/>
            <p:nvPr/>
          </p:nvGrpSpPr>
          <p:grpSpPr>
            <a:xfrm>
              <a:off x="1607249" y="2604936"/>
              <a:ext cx="1828800" cy="2586609"/>
              <a:chOff x="1579419" y="3079900"/>
              <a:chExt cx="1828800" cy="2586609"/>
            </a:xfrm>
          </p:grpSpPr>
          <p:sp>
            <p:nvSpPr>
              <p:cNvPr id="34" name="Rectangle 33">
                <a:extLst>
                  <a:ext uri="{FF2B5EF4-FFF2-40B4-BE49-F238E27FC236}">
                    <a16:creationId xmlns:a16="http://schemas.microsoft.com/office/drawing/2014/main" id="{2D706D77-7C79-5649-A232-922C6C0B9DF4}"/>
                  </a:ext>
                </a:extLst>
              </p:cNvPr>
              <p:cNvSpPr/>
              <p:nvPr/>
            </p:nvSpPr>
            <p:spPr bwMode="auto">
              <a:xfrm>
                <a:off x="1579419" y="3079900"/>
                <a:ext cx="1828800" cy="2586609"/>
              </a:xfrm>
              <a:prstGeom prst="rect">
                <a:avLst/>
              </a:prstGeom>
              <a:solidFill>
                <a:schemeClr val="tx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Well-Architected</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r>
                <a:b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Operational Excellence</a:t>
                </a:r>
              </a:p>
            </p:txBody>
          </p:sp>
          <p:pic>
            <p:nvPicPr>
              <p:cNvPr id="35" name="Picture 34">
                <a:extLst>
                  <a:ext uri="{FF2B5EF4-FFF2-40B4-BE49-F238E27FC236}">
                    <a16:creationId xmlns:a16="http://schemas.microsoft.com/office/drawing/2014/main" id="{B2B0D513-5A3C-E74A-A856-7AA9B1DFE19B}"/>
                  </a:ext>
                </a:extLst>
              </p:cNvPr>
              <p:cNvPicPr>
                <a:picLocks noChangeAspect="1"/>
              </p:cNvPicPr>
              <p:nvPr/>
            </p:nvPicPr>
            <p:blipFill>
              <a:blip r:embed="rId8"/>
              <a:stretch>
                <a:fillRect/>
              </a:stretch>
            </p:blipFill>
            <p:spPr>
              <a:xfrm>
                <a:off x="2004231" y="3214624"/>
                <a:ext cx="938555" cy="875723"/>
              </a:xfrm>
              <a:prstGeom prst="rect">
                <a:avLst/>
              </a:prstGeom>
            </p:spPr>
          </p:pic>
          <p:sp>
            <p:nvSpPr>
              <p:cNvPr id="36" name="Rectangle 35">
                <a:extLst>
                  <a:ext uri="{FF2B5EF4-FFF2-40B4-BE49-F238E27FC236}">
                    <a16:creationId xmlns:a16="http://schemas.microsoft.com/office/drawing/2014/main" id="{8867BFB0-3FCA-BF44-B56E-BFAB13602737}"/>
                  </a:ext>
                </a:extLst>
              </p:cNvPr>
              <p:cNvSpPr/>
              <p:nvPr/>
            </p:nvSpPr>
            <p:spPr bwMode="auto">
              <a:xfrm>
                <a:off x="1579419" y="3079901"/>
                <a:ext cx="1828800" cy="8825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sp>
        <p:nvSpPr>
          <p:cNvPr id="37" name="Arc_Respond">
            <a:extLst>
              <a:ext uri="{FF2B5EF4-FFF2-40B4-BE49-F238E27FC236}">
                <a16:creationId xmlns:a16="http://schemas.microsoft.com/office/drawing/2014/main" id="{16F3EBA7-C96E-A448-BC6B-F4CA1E274D94}"/>
              </a:ext>
            </a:extLst>
          </p:cNvPr>
          <p:cNvSpPr>
            <a:spLocks noChangeAspect="1"/>
          </p:cNvSpPr>
          <p:nvPr/>
        </p:nvSpPr>
        <p:spPr>
          <a:xfrm>
            <a:off x="10704974" y="2358026"/>
            <a:ext cx="1828800" cy="1761827"/>
          </a:xfrm>
          <a:prstGeom prst="arc">
            <a:avLst>
              <a:gd name="adj1" fmla="val 10768698"/>
              <a:gd name="adj2" fmla="val 357624"/>
            </a:avLst>
          </a:prstGeom>
          <a:ln w="38100">
            <a:solidFill>
              <a:schemeClr val="accent1"/>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8" name="Arc_Monitor">
            <a:extLst>
              <a:ext uri="{FF2B5EF4-FFF2-40B4-BE49-F238E27FC236}">
                <a16:creationId xmlns:a16="http://schemas.microsoft.com/office/drawing/2014/main" id="{1679A89F-A4D7-FA4A-8CFD-9EC51AF13C3D}"/>
              </a:ext>
            </a:extLst>
          </p:cNvPr>
          <p:cNvSpPr>
            <a:spLocks/>
          </p:cNvSpPr>
          <p:nvPr/>
        </p:nvSpPr>
        <p:spPr>
          <a:xfrm flipV="1">
            <a:off x="8757177" y="2955524"/>
            <a:ext cx="1828800" cy="1828800"/>
          </a:xfrm>
          <a:prstGeom prst="arc">
            <a:avLst>
              <a:gd name="adj1" fmla="val 10768698"/>
              <a:gd name="adj2" fmla="val 357624"/>
            </a:avLst>
          </a:prstGeom>
          <a:ln w="38100">
            <a:solidFill>
              <a:schemeClr val="accent1"/>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9" name="Arc_Metrics">
            <a:extLst>
              <a:ext uri="{FF2B5EF4-FFF2-40B4-BE49-F238E27FC236}">
                <a16:creationId xmlns:a16="http://schemas.microsoft.com/office/drawing/2014/main" id="{E7D94635-88B3-244D-B0EB-9C32414263EC}"/>
              </a:ext>
            </a:extLst>
          </p:cNvPr>
          <p:cNvSpPr>
            <a:spLocks noChangeAspect="1"/>
          </p:cNvSpPr>
          <p:nvPr/>
        </p:nvSpPr>
        <p:spPr>
          <a:xfrm>
            <a:off x="6789132" y="2358026"/>
            <a:ext cx="1828800" cy="1761827"/>
          </a:xfrm>
          <a:prstGeom prst="arc">
            <a:avLst>
              <a:gd name="adj1" fmla="val 10768698"/>
              <a:gd name="adj2" fmla="val 357624"/>
            </a:avLst>
          </a:prstGeom>
          <a:ln w="38100">
            <a:solidFill>
              <a:schemeClr val="accent1"/>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0" name="Arc_KPIs">
            <a:extLst>
              <a:ext uri="{FF2B5EF4-FFF2-40B4-BE49-F238E27FC236}">
                <a16:creationId xmlns:a16="http://schemas.microsoft.com/office/drawing/2014/main" id="{CA4DC435-9187-BB46-B4C7-A13CF63E0EF9}"/>
              </a:ext>
            </a:extLst>
          </p:cNvPr>
          <p:cNvSpPr>
            <a:spLocks/>
          </p:cNvSpPr>
          <p:nvPr/>
        </p:nvSpPr>
        <p:spPr>
          <a:xfrm flipV="1">
            <a:off x="4862665" y="2899875"/>
            <a:ext cx="1828800" cy="1828800"/>
          </a:xfrm>
          <a:prstGeom prst="arc">
            <a:avLst>
              <a:gd name="adj1" fmla="val 10768698"/>
              <a:gd name="adj2" fmla="val 357624"/>
            </a:avLst>
          </a:prstGeom>
          <a:ln w="38100">
            <a:solidFill>
              <a:schemeClr val="accent1"/>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1" name="Arc_Business">
            <a:extLst>
              <a:ext uri="{FF2B5EF4-FFF2-40B4-BE49-F238E27FC236}">
                <a16:creationId xmlns:a16="http://schemas.microsoft.com/office/drawing/2014/main" id="{3886F00C-06CC-914C-BBE7-24185FE80EEF}"/>
              </a:ext>
            </a:extLst>
          </p:cNvPr>
          <p:cNvSpPr>
            <a:spLocks noChangeAspect="1"/>
          </p:cNvSpPr>
          <p:nvPr/>
        </p:nvSpPr>
        <p:spPr>
          <a:xfrm>
            <a:off x="2915054" y="2358026"/>
            <a:ext cx="1828800" cy="1761827"/>
          </a:xfrm>
          <a:prstGeom prst="arc">
            <a:avLst>
              <a:gd name="adj1" fmla="val 10768698"/>
              <a:gd name="adj2" fmla="val 357624"/>
            </a:avLst>
          </a:prstGeom>
          <a:ln w="38100">
            <a:solidFill>
              <a:schemeClr val="accent1"/>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42" name="workflow_Prepare-Operate">
            <a:extLst>
              <a:ext uri="{FF2B5EF4-FFF2-40B4-BE49-F238E27FC236}">
                <a16:creationId xmlns:a16="http://schemas.microsoft.com/office/drawing/2014/main" id="{4C461AEA-D17C-E24D-94C6-999C805F1273}"/>
              </a:ext>
            </a:extLst>
          </p:cNvPr>
          <p:cNvCxnSpPr/>
          <p:nvPr/>
        </p:nvCxnSpPr>
        <p:spPr>
          <a:xfrm>
            <a:off x="4321558" y="5956021"/>
            <a:ext cx="1850593" cy="0"/>
          </a:xfrm>
          <a:prstGeom prst="straightConnector1">
            <a:avLst/>
          </a:prstGeom>
          <a:ln w="38100">
            <a:solidFill>
              <a:schemeClr val="accent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3" name="workflow_Operate-Evolve">
            <a:extLst>
              <a:ext uri="{FF2B5EF4-FFF2-40B4-BE49-F238E27FC236}">
                <a16:creationId xmlns:a16="http://schemas.microsoft.com/office/drawing/2014/main" id="{B47EFD78-1E22-4045-B1E2-8C62D390AB37}"/>
              </a:ext>
            </a:extLst>
          </p:cNvPr>
          <p:cNvCxnSpPr/>
          <p:nvPr/>
        </p:nvCxnSpPr>
        <p:spPr>
          <a:xfrm>
            <a:off x="8770677" y="5956021"/>
            <a:ext cx="1850593" cy="0"/>
          </a:xfrm>
          <a:prstGeom prst="straightConnector1">
            <a:avLst/>
          </a:prstGeom>
          <a:ln w="38100">
            <a:solidFill>
              <a:schemeClr val="accent1"/>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44" name="Title 1"/>
          <p:cNvSpPr>
            <a:spLocks noGrp="1"/>
          </p:cNvSpPr>
          <p:nvPr>
            <p:ph type="title"/>
          </p:nvPr>
        </p:nvSpPr>
        <p:spPr>
          <a:xfrm>
            <a:off x="548640" y="183898"/>
            <a:ext cx="13511460" cy="873186"/>
          </a:xfrm>
        </p:spPr>
        <p:txBody>
          <a:bodyPr/>
          <a:lstStyle/>
          <a:p>
            <a:r>
              <a:rPr lang="en-US" dirty="0"/>
              <a:t>What is the workflow to build a strategy?</a:t>
            </a:r>
          </a:p>
        </p:txBody>
      </p:sp>
    </p:spTree>
    <p:extLst>
      <p:ext uri="{BB962C8B-B14F-4D97-AF65-F5344CB8AC3E}">
        <p14:creationId xmlns:p14="http://schemas.microsoft.com/office/powerpoint/2010/main" val="417983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gtEl>
                                        <p:attrNameLst>
                                          <p:attrName>style.visibility</p:attrName>
                                        </p:attrNameLst>
                                      </p:cBhvr>
                                      <p:to>
                                        <p:strVal val="visible"/>
                                      </p:to>
                                    </p:set>
                                  </p:childTnLst>
                                </p:cTn>
                              </p:par>
                            </p:childTnLst>
                          </p:cTn>
                        </p:par>
                        <p:par>
                          <p:cTn id="10" fill="hold">
                            <p:stCondLst>
                              <p:cond delay="0"/>
                            </p:stCondLst>
                            <p:childTnLst>
                              <p:par>
                                <p:cTn id="11" presetID="22" presetClass="entr" presetSubtype="8" fill="hold"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wipe(left)">
                                      <p:cBhvr>
                                        <p:cTn id="20" dur="500"/>
                                        <p:tgtEl>
                                          <p:spTgt spid="43"/>
                                        </p:tgtEl>
                                      </p:cBhvr>
                                    </p:animEffec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par>
                          <p:cTn id="28" fill="hold">
                            <p:stCondLst>
                              <p:cond delay="0"/>
                            </p:stCondLst>
                            <p:childTnLst>
                              <p:par>
                                <p:cTn id="29" presetID="22" presetClass="entr" presetSubtype="8"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1000"/>
                                        <p:tgtEl>
                                          <p:spTgt spid="41"/>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left)">
                                      <p:cBhvr>
                                        <p:cTn id="38" dur="1000"/>
                                        <p:tgtEl>
                                          <p:spTgt spid="40"/>
                                        </p:tgtEl>
                                      </p:cBhvr>
                                    </p:animEffect>
                                  </p:childTnLst>
                                </p:cTn>
                              </p:par>
                            </p:childTnLst>
                          </p:cTn>
                        </p:par>
                        <p:par>
                          <p:cTn id="39" fill="hold">
                            <p:stCondLst>
                              <p:cond delay="2000"/>
                            </p:stCondLst>
                            <p:childTnLst>
                              <p:par>
                                <p:cTn id="40" presetID="1" presetClass="entr" presetSubtype="0"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left)">
                                      <p:cBhvr>
                                        <p:cTn id="45" dur="1000"/>
                                        <p:tgtEl>
                                          <p:spTgt spid="39"/>
                                        </p:tgtEl>
                                      </p:cBhvr>
                                    </p:animEffect>
                                  </p:childTnLst>
                                </p:cTn>
                              </p:par>
                            </p:childTnLst>
                          </p:cTn>
                        </p:par>
                        <p:par>
                          <p:cTn id="46" fill="hold">
                            <p:stCondLst>
                              <p:cond delay="3000"/>
                            </p:stCondLst>
                            <p:childTnLst>
                              <p:par>
                                <p:cTn id="47" presetID="1" presetClass="entr" presetSubtype="0"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par>
                          <p:cTn id="49" fill="hold">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1000"/>
                                        <p:tgtEl>
                                          <p:spTgt spid="38"/>
                                        </p:tgtEl>
                                      </p:cBhvr>
                                    </p:animEffect>
                                  </p:childTnLst>
                                </p:cTn>
                              </p:par>
                            </p:childTnLst>
                          </p:cTn>
                        </p:par>
                        <p:par>
                          <p:cTn id="53" fill="hold">
                            <p:stCondLst>
                              <p:cond delay="4000"/>
                            </p:stCondLst>
                            <p:childTnLst>
                              <p:par>
                                <p:cTn id="54" presetID="1" presetClass="entr" presetSubtype="0"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ipe(left)">
                                      <p:cBhvr>
                                        <p:cTn id="59"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496" y="3281940"/>
            <a:ext cx="8693624" cy="1344651"/>
          </a:xfrm>
        </p:spPr>
        <p:txBody>
          <a:bodyPr/>
          <a:lstStyle/>
          <a:p>
            <a:r>
              <a:rPr lang="en-US" sz="6600" b="1" dirty="0" smtClean="0"/>
              <a:t>Time for a quick poll</a:t>
            </a:r>
            <a:endParaRPr lang="en-US" sz="6600" b="1" dirty="0"/>
          </a:p>
        </p:txBody>
      </p:sp>
    </p:spTree>
    <p:extLst>
      <p:ext uri="{BB962C8B-B14F-4D97-AF65-F5344CB8AC3E}">
        <p14:creationId xmlns:p14="http://schemas.microsoft.com/office/powerpoint/2010/main" val="1328460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025CAD-1E31-7847-8BBB-19724F4B31EA}"/>
              </a:ext>
            </a:extLst>
          </p:cNvPr>
          <p:cNvSpPr txBox="1"/>
          <p:nvPr/>
        </p:nvSpPr>
        <p:spPr>
          <a:xfrm>
            <a:off x="9027087" y="5117215"/>
            <a:ext cx="4749726" cy="584775"/>
          </a:xfrm>
          <a:prstGeom prst="rect">
            <a:avLst/>
          </a:prstGeom>
          <a:noFill/>
        </p:spPr>
        <p:txBody>
          <a:bodyPr wrap="square">
            <a:spAutoFit/>
          </a:bodyPr>
          <a:lstStyle/>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mazon Ember"/>
                <a:ea typeface="+mn-ea"/>
                <a:cs typeface="+mn-cs"/>
              </a:rPr>
              <a:t>Amazon CloudWatch</a:t>
            </a:r>
            <a:endParaRPr kumimoji="0" lang="en-US" sz="3200" b="0" i="0" u="none" strike="noStrike" kern="1200" cap="none" spc="0" normalizeH="0" baseline="0" noProof="0" dirty="0">
              <a:ln>
                <a:noFill/>
              </a:ln>
              <a:solidFill>
                <a:srgbClr val="FFFFFF"/>
              </a:solidFill>
              <a:effectLst/>
              <a:uLnTx/>
              <a:uFillTx/>
              <a:latin typeface="Amazon Ember"/>
              <a:ea typeface="+mn-ea"/>
              <a:cs typeface="+mn-cs"/>
            </a:endParaRPr>
          </a:p>
        </p:txBody>
      </p:sp>
      <p:cxnSp>
        <p:nvCxnSpPr>
          <p:cNvPr id="3" name="Straight Arrow Connector 2">
            <a:extLst>
              <a:ext uri="{FF2B5EF4-FFF2-40B4-BE49-F238E27FC236}">
                <a16:creationId xmlns:a16="http://schemas.microsoft.com/office/drawing/2014/main" id="{697DA23C-C9F6-6447-8AB9-93EE3A40E16E}"/>
              </a:ext>
            </a:extLst>
          </p:cNvPr>
          <p:cNvCxnSpPr>
            <a:cxnSpLocks/>
            <a:stCxn id="6" idx="1"/>
          </p:cNvCxnSpPr>
          <p:nvPr/>
        </p:nvCxnSpPr>
        <p:spPr>
          <a:xfrm flipH="1">
            <a:off x="3806531" y="2678397"/>
            <a:ext cx="2997547" cy="1108383"/>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pic>
        <p:nvPicPr>
          <p:cNvPr id="4" name="Graphic 22">
            <a:extLst>
              <a:ext uri="{FF2B5EF4-FFF2-40B4-BE49-F238E27FC236}">
                <a16:creationId xmlns:a16="http://schemas.microsoft.com/office/drawing/2014/main" id="{1C6F890B-07F4-274E-881F-8EA6B1C6083F}"/>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851628" y="4848950"/>
            <a:ext cx="762000" cy="1092200"/>
          </a:xfrm>
          <a:prstGeom prst="rect">
            <a:avLst/>
          </a:prstGeom>
        </p:spPr>
      </p:pic>
      <p:cxnSp>
        <p:nvCxnSpPr>
          <p:cNvPr id="5" name="Straight Arrow Connector 4">
            <a:extLst>
              <a:ext uri="{FF2B5EF4-FFF2-40B4-BE49-F238E27FC236}">
                <a16:creationId xmlns:a16="http://schemas.microsoft.com/office/drawing/2014/main" id="{611C7E49-A916-424D-92C7-DA8A7A8F8BE1}"/>
              </a:ext>
            </a:extLst>
          </p:cNvPr>
          <p:cNvCxnSpPr>
            <a:cxnSpLocks/>
            <a:stCxn id="4" idx="1"/>
          </p:cNvCxnSpPr>
          <p:nvPr/>
        </p:nvCxnSpPr>
        <p:spPr>
          <a:xfrm flipH="1" flipV="1">
            <a:off x="3806531" y="4663129"/>
            <a:ext cx="3045097" cy="731921"/>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pic>
        <p:nvPicPr>
          <p:cNvPr id="6" name="Graphic 38">
            <a:extLst>
              <a:ext uri="{FF2B5EF4-FFF2-40B4-BE49-F238E27FC236}">
                <a16:creationId xmlns:a16="http://schemas.microsoft.com/office/drawing/2014/main" id="{56F062AF-436D-6246-9F65-5781B504ED1A}"/>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6804078" y="2202147"/>
            <a:ext cx="762000" cy="952500"/>
          </a:xfrm>
          <a:prstGeom prst="rect">
            <a:avLst/>
          </a:prstGeom>
        </p:spPr>
      </p:pic>
      <p:sp>
        <p:nvSpPr>
          <p:cNvPr id="7" name="TextBox 6">
            <a:extLst>
              <a:ext uri="{FF2B5EF4-FFF2-40B4-BE49-F238E27FC236}">
                <a16:creationId xmlns:a16="http://schemas.microsoft.com/office/drawing/2014/main" id="{F3A15164-DF32-5A4C-993F-B2CA18B824EF}"/>
              </a:ext>
            </a:extLst>
          </p:cNvPr>
          <p:cNvSpPr txBox="1"/>
          <p:nvPr/>
        </p:nvSpPr>
        <p:spPr>
          <a:xfrm>
            <a:off x="8968232" y="2285465"/>
            <a:ext cx="2360856" cy="584775"/>
          </a:xfrm>
          <a:prstGeom prst="rect">
            <a:avLst/>
          </a:prstGeom>
          <a:noFill/>
        </p:spPr>
        <p:txBody>
          <a:bodyPr wrap="square">
            <a:spAutoFit/>
          </a:bodyPr>
          <a:lstStyle/>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mazon Ember"/>
                <a:ea typeface="+mn-ea"/>
                <a:cs typeface="+mn-cs"/>
              </a:rPr>
              <a:t>AWS X-Ray</a:t>
            </a:r>
            <a:endParaRPr kumimoji="0" lang="en-US" sz="32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8" name="Title 31">
            <a:extLst>
              <a:ext uri="{FF2B5EF4-FFF2-40B4-BE49-F238E27FC236}">
                <a16:creationId xmlns:a16="http://schemas.microsoft.com/office/drawing/2014/main" id="{17C1F162-767C-7D4D-975B-4324D0382DEA}"/>
              </a:ext>
            </a:extLst>
          </p:cNvPr>
          <p:cNvSpPr>
            <a:spLocks noGrp="1"/>
          </p:cNvSpPr>
          <p:nvPr>
            <p:ph type="title"/>
          </p:nvPr>
        </p:nvSpPr>
        <p:spPr>
          <a:xfrm>
            <a:off x="548640" y="183898"/>
            <a:ext cx="13510260" cy="873186"/>
          </a:xfrm>
        </p:spPr>
        <p:txBody>
          <a:bodyPr/>
          <a:lstStyle/>
          <a:p>
            <a:r>
              <a:rPr lang="en-US" dirty="0"/>
              <a:t>AWS </a:t>
            </a:r>
            <a:r>
              <a:rPr lang="en-US" dirty="0">
                <a:solidFill>
                  <a:srgbClr val="FFFFFF"/>
                </a:solidFill>
              </a:rPr>
              <a:t>services</a:t>
            </a:r>
            <a:r>
              <a:rPr lang="en-US" dirty="0"/>
              <a:t> that support observability</a:t>
            </a:r>
          </a:p>
        </p:txBody>
      </p:sp>
      <p:grpSp>
        <p:nvGrpSpPr>
          <p:cNvPr id="9" name="Group 8">
            <a:extLst>
              <a:ext uri="{FF2B5EF4-FFF2-40B4-BE49-F238E27FC236}">
                <a16:creationId xmlns:a16="http://schemas.microsoft.com/office/drawing/2014/main" id="{76F74BBB-9042-9344-8562-B9B1968D29DF}"/>
              </a:ext>
            </a:extLst>
          </p:cNvPr>
          <p:cNvGrpSpPr/>
          <p:nvPr/>
        </p:nvGrpSpPr>
        <p:grpSpPr>
          <a:xfrm>
            <a:off x="431832" y="1973758"/>
            <a:ext cx="4627563" cy="4211638"/>
            <a:chOff x="-404813" y="2184400"/>
            <a:chExt cx="4627563" cy="4211638"/>
          </a:xfrm>
        </p:grpSpPr>
        <p:pic>
          <p:nvPicPr>
            <p:cNvPr id="1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813" y="2184400"/>
              <a:ext cx="4627563"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0CC01606-2061-4A46-8EF7-76D7B838E08C}"/>
                </a:ext>
              </a:extLst>
            </p:cNvPr>
            <p:cNvPicPr>
              <a:picLocks noChangeAspect="1"/>
            </p:cNvPicPr>
            <p:nvPr/>
          </p:nvPicPr>
          <p:blipFill>
            <a:blip r:embed="rId8"/>
            <a:stretch>
              <a:fillRect/>
            </a:stretch>
          </p:blipFill>
          <p:spPr>
            <a:xfrm>
              <a:off x="1011502" y="3912243"/>
              <a:ext cx="1824680" cy="1824680"/>
            </a:xfrm>
            <a:prstGeom prst="rect">
              <a:avLst/>
            </a:prstGeom>
          </p:spPr>
        </p:pic>
      </p:grpSp>
      <p:grpSp>
        <p:nvGrpSpPr>
          <p:cNvPr id="12" name="Group 11"/>
          <p:cNvGrpSpPr/>
          <p:nvPr/>
        </p:nvGrpSpPr>
        <p:grpSpPr>
          <a:xfrm>
            <a:off x="7701627" y="4318154"/>
            <a:ext cx="932623" cy="1053325"/>
            <a:chOff x="9455829" y="1263159"/>
            <a:chExt cx="932623" cy="1053325"/>
          </a:xfrm>
        </p:grpSpPr>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98217" y="1263159"/>
              <a:ext cx="647848" cy="635145"/>
            </a:xfrm>
            <a:prstGeom prst="rect">
              <a:avLst/>
            </a:prstGeom>
          </p:spPr>
        </p:pic>
        <p:sp>
          <p:nvSpPr>
            <p:cNvPr id="14" name="TextBox 13"/>
            <p:cNvSpPr txBox="1"/>
            <p:nvPr/>
          </p:nvSpPr>
          <p:spPr>
            <a:xfrm>
              <a:off x="9455829"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CloudWatchMetrics</a:t>
              </a:r>
              <a:endPar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a:ea typeface="Amazon Ember Display" panose="020F0603020204020204" pitchFamily="34" charset="0"/>
                <a:cs typeface="Amazon Ember Display" panose="020F0603020204020204" pitchFamily="34" charset="0"/>
              </a:endParaRPr>
            </a:p>
          </p:txBody>
        </p:sp>
      </p:grpSp>
      <p:grpSp>
        <p:nvGrpSpPr>
          <p:cNvPr id="15" name="Group 14"/>
          <p:cNvGrpSpPr/>
          <p:nvPr/>
        </p:nvGrpSpPr>
        <p:grpSpPr>
          <a:xfrm>
            <a:off x="6807296" y="6065555"/>
            <a:ext cx="932623" cy="1053325"/>
            <a:chOff x="12576375" y="1263159"/>
            <a:chExt cx="932623" cy="1053325"/>
          </a:xfrm>
        </p:grpSpPr>
        <p:pic>
          <p:nvPicPr>
            <p:cNvPr id="16" name="Picture 1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718763" y="1263159"/>
              <a:ext cx="647848" cy="635145"/>
            </a:xfrm>
            <a:prstGeom prst="rect">
              <a:avLst/>
            </a:prstGeom>
          </p:spPr>
        </p:pic>
        <p:sp>
          <p:nvSpPr>
            <p:cNvPr id="17" name="TextBox 16"/>
            <p:cNvSpPr txBox="1"/>
            <p:nvPr/>
          </p:nvSpPr>
          <p:spPr>
            <a:xfrm>
              <a:off x="12576375"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CloudWatchEvents</a:t>
              </a:r>
              <a:endPar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a:ea typeface="Amazon Ember Display" panose="020F0603020204020204" pitchFamily="34" charset="0"/>
                <a:cs typeface="Amazon Ember Display" panose="020F0603020204020204" pitchFamily="34" charset="0"/>
              </a:endParaRPr>
            </a:p>
          </p:txBody>
        </p:sp>
      </p:grpSp>
      <p:grpSp>
        <p:nvGrpSpPr>
          <p:cNvPr id="18" name="Group 17"/>
          <p:cNvGrpSpPr/>
          <p:nvPr/>
        </p:nvGrpSpPr>
        <p:grpSpPr>
          <a:xfrm>
            <a:off x="5825076" y="4263030"/>
            <a:ext cx="932623" cy="1053280"/>
            <a:chOff x="4800915" y="1263204"/>
            <a:chExt cx="932623" cy="1053280"/>
          </a:xfrm>
        </p:grpSpPr>
        <p:pic>
          <p:nvPicPr>
            <p:cNvPr id="19" name="Picture 1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49700" y="1263204"/>
              <a:ext cx="635055" cy="635055"/>
            </a:xfrm>
            <a:prstGeom prst="rect">
              <a:avLst/>
            </a:prstGeom>
          </p:spPr>
        </p:pic>
        <p:sp>
          <p:nvSpPr>
            <p:cNvPr id="20" name="TextBox 19"/>
            <p:cNvSpPr txBox="1"/>
            <p:nvPr/>
          </p:nvSpPr>
          <p:spPr>
            <a:xfrm>
              <a:off x="4800915"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u="none" strike="noStrike" kern="1200" cap="none" spc="0" normalizeH="0" baseline="0" noProof="0" dirty="0">
                  <a:ln>
                    <a:noFill/>
                  </a:ln>
                  <a:gradFill>
                    <a:gsLst>
                      <a:gs pos="2917">
                        <a:srgbClr val="FFFFFF"/>
                      </a:gs>
                      <a:gs pos="30000">
                        <a:srgbClr val="FFFFFF"/>
                      </a:gs>
                    </a:gsLst>
                    <a:lin ang="5400000" scaled="0"/>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CloudWatchAgent</a:t>
              </a:r>
            </a:p>
          </p:txBody>
        </p:sp>
      </p:grpSp>
      <p:grpSp>
        <p:nvGrpSpPr>
          <p:cNvPr id="21" name="Group 20"/>
          <p:cNvGrpSpPr/>
          <p:nvPr/>
        </p:nvGrpSpPr>
        <p:grpSpPr>
          <a:xfrm>
            <a:off x="6742873" y="3755572"/>
            <a:ext cx="932623" cy="1053325"/>
            <a:chOff x="6510029" y="1263159"/>
            <a:chExt cx="932623" cy="1053325"/>
          </a:xfrm>
        </p:grpSpPr>
        <p:pic>
          <p:nvPicPr>
            <p:cNvPr id="22" name="Picture 2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52417" y="1263159"/>
              <a:ext cx="647848" cy="635145"/>
            </a:xfrm>
            <a:prstGeom prst="rect">
              <a:avLst/>
            </a:prstGeom>
          </p:spPr>
        </p:pic>
        <p:sp>
          <p:nvSpPr>
            <p:cNvPr id="23" name="TextBox 22"/>
            <p:cNvSpPr txBox="1"/>
            <p:nvPr/>
          </p:nvSpPr>
          <p:spPr>
            <a:xfrm>
              <a:off x="6510029"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CloudWatchLogs</a:t>
              </a:r>
              <a:endParaRPr kumimoji="0" lang="en-US" sz="800" b="0" i="0" strike="noStrike" kern="1200" cap="none" spc="0" normalizeH="0" baseline="0" noProof="0" dirty="0">
                <a:ln>
                  <a:noFill/>
                </a:ln>
                <a:gradFill flip="none" rotWithShape="1">
                  <a:gsLst>
                    <a:gs pos="2917">
                      <a:srgbClr val="FFFFFF"/>
                    </a:gs>
                    <a:gs pos="30000">
                      <a:srgbClr val="FFFFFF"/>
                    </a:gs>
                  </a:gsLst>
                  <a:lin ang="5400000" scaled="0"/>
                  <a:tileRect/>
                </a:gradFill>
                <a:effectLst/>
                <a:uLnTx/>
                <a:uFillTx/>
                <a:latin typeface="Amazon Ember Display"/>
                <a:ea typeface="Amazon Ember Display" panose="020F0603020204020204" pitchFamily="34" charset="0"/>
                <a:cs typeface="Amazon Ember Display" panose="020F0603020204020204" pitchFamily="34" charset="0"/>
              </a:endParaRPr>
            </a:p>
          </p:txBody>
        </p:sp>
      </p:grpSp>
      <p:grpSp>
        <p:nvGrpSpPr>
          <p:cNvPr id="24" name="Group 23"/>
          <p:cNvGrpSpPr/>
          <p:nvPr/>
        </p:nvGrpSpPr>
        <p:grpSpPr>
          <a:xfrm>
            <a:off x="7720289" y="5424084"/>
            <a:ext cx="932623" cy="1053325"/>
            <a:chOff x="10573605" y="1263159"/>
            <a:chExt cx="932623" cy="1053325"/>
          </a:xfrm>
        </p:grpSpPr>
        <p:pic>
          <p:nvPicPr>
            <p:cNvPr id="25" name="Picture 2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715993" y="1263159"/>
              <a:ext cx="647848" cy="635145"/>
            </a:xfrm>
            <a:prstGeom prst="rect">
              <a:avLst/>
            </a:prstGeom>
          </p:spPr>
        </p:pic>
        <p:sp>
          <p:nvSpPr>
            <p:cNvPr id="26" name="TextBox 25"/>
            <p:cNvSpPr txBox="1"/>
            <p:nvPr/>
          </p:nvSpPr>
          <p:spPr>
            <a:xfrm>
              <a:off x="10573605"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u="none" strike="noStrike" kern="1200" cap="none" spc="0" normalizeH="0" baseline="0" noProof="0" dirty="0">
                  <a:ln>
                    <a:noFill/>
                  </a:ln>
                  <a:gradFill>
                    <a:gsLst>
                      <a:gs pos="2917">
                        <a:srgbClr val="FFFFFF"/>
                      </a:gs>
                      <a:gs pos="30000">
                        <a:srgbClr val="FFFFFF"/>
                      </a:gs>
                    </a:gsLst>
                    <a:lin ang="5400000" scaled="0"/>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CloudWatchAlarms</a:t>
              </a:r>
            </a:p>
          </p:txBody>
        </p:sp>
      </p:grpSp>
      <p:grpSp>
        <p:nvGrpSpPr>
          <p:cNvPr id="27" name="Group 26"/>
          <p:cNvGrpSpPr/>
          <p:nvPr/>
        </p:nvGrpSpPr>
        <p:grpSpPr>
          <a:xfrm>
            <a:off x="5751719" y="5414487"/>
            <a:ext cx="932623" cy="1053325"/>
            <a:chOff x="11592033" y="1263159"/>
            <a:chExt cx="932623" cy="1053325"/>
          </a:xfrm>
        </p:grpSpPr>
        <p:pic>
          <p:nvPicPr>
            <p:cNvPr id="28" name="Picture 2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734421" y="1263159"/>
              <a:ext cx="647848" cy="635145"/>
            </a:xfrm>
            <a:prstGeom prst="rect">
              <a:avLst/>
            </a:prstGeom>
          </p:spPr>
        </p:pic>
        <p:sp>
          <p:nvSpPr>
            <p:cNvPr id="29" name="TextBox 28"/>
            <p:cNvSpPr txBox="1"/>
            <p:nvPr/>
          </p:nvSpPr>
          <p:spPr>
            <a:xfrm>
              <a:off x="11592033" y="1799419"/>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u="none" strike="noStrike" kern="1200" cap="none" spc="0" normalizeH="0" baseline="0" noProof="0" dirty="0">
                  <a:ln>
                    <a:noFill/>
                  </a:ln>
                  <a:gradFill>
                    <a:gsLst>
                      <a:gs pos="2917">
                        <a:srgbClr val="FFFFFF"/>
                      </a:gs>
                      <a:gs pos="30000">
                        <a:srgbClr val="FFFFFF"/>
                      </a:gs>
                    </a:gsLst>
                    <a:lin ang="5400000" scaled="0"/>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CloudWatchDashboards</a:t>
              </a:r>
            </a:p>
          </p:txBody>
        </p:sp>
      </p:grpSp>
      <p:grpSp>
        <p:nvGrpSpPr>
          <p:cNvPr id="30" name="Group 29"/>
          <p:cNvGrpSpPr/>
          <p:nvPr/>
        </p:nvGrpSpPr>
        <p:grpSpPr>
          <a:xfrm>
            <a:off x="7650042" y="2018883"/>
            <a:ext cx="1112379" cy="1319027"/>
            <a:chOff x="11885267" y="4078891"/>
            <a:chExt cx="1112379" cy="1319027"/>
          </a:xfrm>
        </p:grpSpPr>
        <p:pic>
          <p:nvPicPr>
            <p:cNvPr id="31" name="Picture 3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885267" y="4078891"/>
              <a:ext cx="1112379" cy="1117941"/>
            </a:xfrm>
            <a:prstGeom prst="rect">
              <a:avLst/>
            </a:prstGeom>
          </p:spPr>
        </p:pic>
        <p:sp>
          <p:nvSpPr>
            <p:cNvPr id="32" name="TextBox 31"/>
            <p:cNvSpPr txBox="1"/>
            <p:nvPr/>
          </p:nvSpPr>
          <p:spPr>
            <a:xfrm>
              <a:off x="11975144" y="4880853"/>
              <a:ext cx="932623" cy="517065"/>
            </a:xfrm>
            <a:prstGeom prst="rect">
              <a:avLst/>
            </a:prstGeom>
            <a:noFill/>
          </p:spPr>
          <p:txBody>
            <a:bodyPr wrap="square" lIns="182880" tIns="146304" rIns="182880" bIns="146304" rtlCol="0">
              <a:spAutoFit/>
            </a:bodyPr>
            <a:lstStyle/>
            <a:p>
              <a:pPr marL="0" marR="0" lvl="0" indent="0" algn="ctr" defTabSz="1096963" rtl="0" eaLnBrk="0" fontAlgn="base" latinLnBrk="0" hangingPunct="0">
                <a:lnSpc>
                  <a:spcPct val="90000"/>
                </a:lnSpc>
                <a:spcBef>
                  <a:spcPct val="0"/>
                </a:spcBef>
                <a:spcAft>
                  <a:spcPts val="1800"/>
                </a:spcAft>
                <a:buClrTx/>
                <a:buSzTx/>
                <a:buFontTx/>
                <a:buNone/>
                <a:tabLst/>
                <a:defRPr/>
              </a:pPr>
              <a:r>
                <a:rPr kumimoji="0" lang="en-US" sz="800" b="0" i="0" u="none" strike="noStrike" kern="1200" cap="none" spc="0" normalizeH="0" baseline="0" noProof="0" dirty="0">
                  <a:ln>
                    <a:noFill/>
                  </a:ln>
                  <a:gradFill>
                    <a:gsLst>
                      <a:gs pos="2917">
                        <a:srgbClr val="FFFFFF"/>
                      </a:gs>
                      <a:gs pos="30000">
                        <a:srgbClr val="FFFFFF"/>
                      </a:gs>
                    </a:gsLst>
                    <a:lin ang="5400000" scaled="0"/>
                  </a:gra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X-Ray Traces</a:t>
              </a:r>
            </a:p>
          </p:txBody>
        </p:sp>
      </p:grpSp>
    </p:spTree>
    <p:extLst>
      <p:ext uri="{BB962C8B-B14F-4D97-AF65-F5344CB8AC3E}">
        <p14:creationId xmlns:p14="http://schemas.microsoft.com/office/powerpoint/2010/main" val="115380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4000"/>
                            </p:stCondLst>
                            <p:childTnLst>
                              <p:par>
                                <p:cTn id="33" presetID="10" presetClass="entr" presetSubtype="0" fill="hold"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par>
                          <p:cTn id="36" fill="hold">
                            <p:stCondLst>
                              <p:cond delay="4500"/>
                            </p:stCondLst>
                            <p:childTnLst>
                              <p:par>
                                <p:cTn id="37" presetID="10" presetClass="entr" presetSubtype="0" fill="hold" grpId="0"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20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500"/>
                                        <p:tgtEl>
                                          <p:spTgt spid="3"/>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rgbClr val="FFFFFF"/>
                </a:solidFill>
                <a:latin typeface="Amazon Ember Regular"/>
              </a:rPr>
              <a:t>Building a Monitoring Plan</a:t>
            </a:r>
            <a:endParaRPr lang="en-US" sz="5400" dirty="0"/>
          </a:p>
        </p:txBody>
      </p:sp>
    </p:spTree>
    <p:extLst>
      <p:ext uri="{BB962C8B-B14F-4D97-AF65-F5344CB8AC3E}">
        <p14:creationId xmlns:p14="http://schemas.microsoft.com/office/powerpoint/2010/main" val="9123442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5B51EF-E858-D841-B8C2-17D2EC4BF8DD}"/>
              </a:ext>
            </a:extLst>
          </p:cNvPr>
          <p:cNvPicPr>
            <a:picLocks noChangeAspect="1"/>
          </p:cNvPicPr>
          <p:nvPr/>
        </p:nvPicPr>
        <p:blipFill>
          <a:blip r:embed="rId3"/>
          <a:stretch>
            <a:fillRect/>
          </a:stretch>
        </p:blipFill>
        <p:spPr>
          <a:xfrm>
            <a:off x="12689068" y="7642"/>
            <a:ext cx="1807113" cy="1816149"/>
          </a:xfrm>
          <a:prstGeom prst="rect">
            <a:avLst/>
          </a:prstGeom>
        </p:spPr>
      </p:pic>
      <p:sp>
        <p:nvSpPr>
          <p:cNvPr id="3" name="Title 1"/>
          <p:cNvSpPr>
            <a:spLocks noGrp="1"/>
          </p:cNvSpPr>
          <p:nvPr>
            <p:ph type="title"/>
          </p:nvPr>
        </p:nvSpPr>
        <p:spPr>
          <a:xfrm>
            <a:off x="548640" y="183898"/>
            <a:ext cx="13510260" cy="873186"/>
          </a:xfrm>
        </p:spPr>
        <p:txBody>
          <a:bodyPr/>
          <a:lstStyle/>
          <a:p>
            <a:r>
              <a:rPr lang="en-US" dirty="0"/>
              <a:t>Personas and requirements</a:t>
            </a:r>
          </a:p>
        </p:txBody>
      </p:sp>
      <p:graphicFrame>
        <p:nvGraphicFramePr>
          <p:cNvPr id="4" name="Table 3">
            <a:extLst>
              <a:ext uri="{FF2B5EF4-FFF2-40B4-BE49-F238E27FC236}">
                <a16:creationId xmlns:a16="http://schemas.microsoft.com/office/drawing/2014/main" id="{B09956B4-FE75-B442-9467-5B15FE4B29C0}"/>
              </a:ext>
            </a:extLst>
          </p:cNvPr>
          <p:cNvGraphicFramePr>
            <a:graphicFrameLocks noGrp="1"/>
          </p:cNvGraphicFramePr>
          <p:nvPr>
            <p:extLst>
              <p:ext uri="{D42A27DB-BD31-4B8C-83A1-F6EECF244321}">
                <p14:modId xmlns:p14="http://schemas.microsoft.com/office/powerpoint/2010/main" val="3994887241"/>
              </p:ext>
            </p:extLst>
          </p:nvPr>
        </p:nvGraphicFramePr>
        <p:xfrm>
          <a:off x="1684260" y="2100555"/>
          <a:ext cx="12622636" cy="4043730"/>
        </p:xfrm>
        <a:graphic>
          <a:graphicData uri="http://schemas.openxmlformats.org/drawingml/2006/table">
            <a:tbl>
              <a:tblPr/>
              <a:tblGrid>
                <a:gridCol w="1634405">
                  <a:extLst>
                    <a:ext uri="{9D8B030D-6E8A-4147-A177-3AD203B41FA5}">
                      <a16:colId xmlns:a16="http://schemas.microsoft.com/office/drawing/2014/main" val="3826053062"/>
                    </a:ext>
                  </a:extLst>
                </a:gridCol>
                <a:gridCol w="2447417">
                  <a:extLst>
                    <a:ext uri="{9D8B030D-6E8A-4147-A177-3AD203B41FA5}">
                      <a16:colId xmlns:a16="http://schemas.microsoft.com/office/drawing/2014/main" val="4285197970"/>
                    </a:ext>
                  </a:extLst>
                </a:gridCol>
                <a:gridCol w="3855519">
                  <a:extLst>
                    <a:ext uri="{9D8B030D-6E8A-4147-A177-3AD203B41FA5}">
                      <a16:colId xmlns:a16="http://schemas.microsoft.com/office/drawing/2014/main" val="2039898075"/>
                    </a:ext>
                  </a:extLst>
                </a:gridCol>
                <a:gridCol w="4685295">
                  <a:extLst>
                    <a:ext uri="{9D8B030D-6E8A-4147-A177-3AD203B41FA5}">
                      <a16:colId xmlns:a16="http://schemas.microsoft.com/office/drawing/2014/main" val="976983448"/>
                    </a:ext>
                  </a:extLst>
                </a:gridCol>
              </a:tblGrid>
              <a:tr h="290690">
                <a:tc gridSpan="4">
                  <a:txBody>
                    <a:bodyPr/>
                    <a:lstStyle/>
                    <a:p>
                      <a:pPr algn="l" fontAlgn="b"/>
                      <a:r>
                        <a:rPr lang="en-US" sz="1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Personas and Needs</a:t>
                      </a:r>
                    </a:p>
                  </a:txBody>
                  <a:tcPr marL="156371" marR="156371" marT="78185" marB="78185"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79463832"/>
                  </a:ext>
                </a:extLst>
              </a:tr>
              <a:tr h="290690">
                <a:tc>
                  <a:txBody>
                    <a:bodyPr/>
                    <a:lstStyle/>
                    <a:p>
                      <a:pPr algn="l" fontAlgn="b"/>
                      <a:r>
                        <a:rPr lang="en-US" sz="1700" b="1" i="0" u="none" strike="noStrike" dirty="0">
                          <a:solidFill>
                            <a:srgbClr val="FFFFFF"/>
                          </a:solidFill>
                          <a:effectLst/>
                          <a:latin typeface="+mn-lt"/>
                        </a:rPr>
                        <a:t>Role</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l" fontAlgn="b"/>
                      <a:r>
                        <a:rPr lang="en-US" sz="1700" b="1" i="0" u="none" strike="noStrike" dirty="0">
                          <a:solidFill>
                            <a:srgbClr val="FFFFFF"/>
                          </a:solidFill>
                          <a:effectLst/>
                          <a:latin typeface="+mn-lt"/>
                        </a:rPr>
                        <a:t>Contact</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l" fontAlgn="b"/>
                      <a:r>
                        <a:rPr lang="en-US" sz="1700" b="1" i="0" u="none" strike="noStrike" dirty="0">
                          <a:solidFill>
                            <a:srgbClr val="FFFFFF"/>
                          </a:solidFill>
                          <a:effectLst/>
                          <a:latin typeface="+mn-lt"/>
                        </a:rPr>
                        <a:t>Responsibility</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l" fontAlgn="b"/>
                      <a:r>
                        <a:rPr lang="en-US" sz="1700" b="1" i="0" u="none" strike="noStrike" dirty="0">
                          <a:solidFill>
                            <a:srgbClr val="FFFFFF"/>
                          </a:solidFill>
                          <a:effectLst/>
                          <a:latin typeface="+mn-lt"/>
                        </a:rPr>
                        <a:t>Requirements</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391469348"/>
                  </a:ext>
                </a:extLst>
              </a:tr>
              <a:tr h="290690">
                <a:tc>
                  <a:txBody>
                    <a:bodyPr/>
                    <a:lstStyle/>
                    <a:p>
                      <a:pPr algn="l" fontAlgn="b"/>
                      <a:r>
                        <a:rPr lang="en-US" sz="1700" b="0" i="0" u="none" strike="noStrike" dirty="0">
                          <a:solidFill>
                            <a:srgbClr val="000000"/>
                          </a:solidFill>
                          <a:effectLst/>
                          <a:latin typeface="+mn-lt"/>
                        </a:rPr>
                        <a:t>CEO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Jane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Funding</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Business level view of operations</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96057441"/>
                  </a:ext>
                </a:extLst>
              </a:tr>
              <a:tr h="290690">
                <a:tc>
                  <a:txBody>
                    <a:bodyPr/>
                    <a:lstStyle/>
                    <a:p>
                      <a:pPr algn="l" fontAlgn="b"/>
                      <a:r>
                        <a:rPr lang="en-US" sz="1700" b="0" i="0" u="none" strike="noStrike" dirty="0">
                          <a:solidFill>
                            <a:srgbClr val="000000"/>
                          </a:solidFill>
                          <a:effectLst/>
                          <a:latin typeface="+mn-lt"/>
                        </a:rPr>
                        <a:t>CIO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John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Service Delivery</a:t>
                      </a:r>
                      <a:endParaRPr lang="en-US" sz="1700" b="0" i="0" u="none" strike="noStrike" dirty="0">
                        <a:solidFill>
                          <a:srgbClr val="000000"/>
                        </a:solidFill>
                        <a:effectLst/>
                        <a:latin typeface="Amazon Ember" panose="02000000000000000000" pitchFamily="2" charset="0"/>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Application delivery and service availability</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43179959"/>
                  </a:ext>
                </a:extLst>
              </a:tr>
              <a:tr h="290690">
                <a:tc>
                  <a:txBody>
                    <a:bodyPr/>
                    <a:lstStyle/>
                    <a:p>
                      <a:pPr algn="l" fontAlgn="b"/>
                      <a:r>
                        <a:rPr lang="en-US" sz="1700" b="0" i="0" u="none" strike="noStrike" dirty="0">
                          <a:solidFill>
                            <a:srgbClr val="000000"/>
                          </a:solidFill>
                          <a:effectLst/>
                          <a:latin typeface="+mn-lt"/>
                        </a:rPr>
                        <a:t>Infrastructure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Betsy</a:t>
                      </a:r>
                      <a:r>
                        <a:rPr lang="en-US" sz="1700" b="0" i="0" u="none" strike="noStrike" baseline="0" dirty="0" smtClean="0">
                          <a:solidFill>
                            <a:srgbClr val="000000"/>
                          </a:solidFill>
                          <a:effectLst/>
                          <a:latin typeface="+mn-lt"/>
                        </a:rPr>
                        <a:t>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Security and Reliability</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Compliance</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561467"/>
                  </a:ext>
                </a:extLst>
              </a:tr>
              <a:tr h="290690">
                <a:tc>
                  <a:txBody>
                    <a:bodyPr/>
                    <a:lstStyle/>
                    <a:p>
                      <a:pPr algn="l" fontAlgn="b"/>
                      <a:r>
                        <a:rPr lang="en-US" sz="1700" b="0" i="0" u="none" strike="noStrike" dirty="0">
                          <a:solidFill>
                            <a:srgbClr val="000000"/>
                          </a:solidFill>
                          <a:effectLst/>
                          <a:latin typeface="+mn-lt"/>
                        </a:rPr>
                        <a:t>Application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Brian</a:t>
                      </a:r>
                      <a:r>
                        <a:rPr lang="en-US" sz="1700" b="0" i="0" u="none" strike="noStrike" baseline="0" dirty="0" smtClean="0">
                          <a:solidFill>
                            <a:srgbClr val="000000"/>
                          </a:solidFill>
                          <a:effectLst/>
                          <a:latin typeface="+mn-lt"/>
                        </a:rPr>
                        <a:t>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Quality of the customer experience</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Measures of application performance</a:t>
                      </a:r>
                      <a:endParaRPr lang="en-US" sz="1700" b="0" i="0" u="none" strike="noStrike" dirty="0">
                        <a:solidFill>
                          <a:srgbClr val="000000"/>
                        </a:solidFill>
                        <a:effectLst/>
                        <a:latin typeface="Amazon Ember" panose="02000000000000000000" pitchFamily="2" charset="0"/>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31722111"/>
                  </a:ext>
                </a:extLst>
              </a:tr>
              <a:tr h="290690">
                <a:tc>
                  <a:txBody>
                    <a:bodyPr/>
                    <a:lstStyle/>
                    <a:p>
                      <a:pPr algn="l" fontAlgn="b"/>
                      <a:r>
                        <a:rPr lang="en-US" sz="1700" b="0" i="0" u="none" strike="noStrike" dirty="0">
                          <a:solidFill>
                            <a:srgbClr val="000000"/>
                          </a:solidFill>
                          <a:effectLst/>
                          <a:latin typeface="+mn-lt"/>
                        </a:rPr>
                        <a:t>InfoSec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Greg</a:t>
                      </a:r>
                      <a:r>
                        <a:rPr lang="en-US" sz="1700" b="0" i="0" u="none" strike="noStrike" baseline="0" dirty="0" smtClean="0">
                          <a:solidFill>
                            <a:srgbClr val="000000"/>
                          </a:solidFill>
                          <a:effectLst/>
                          <a:latin typeface="+mn-lt"/>
                        </a:rPr>
                        <a:t>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Infosec and Security</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Compliance</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1180252"/>
                  </a:ext>
                </a:extLst>
              </a:tr>
              <a:tr h="290690">
                <a:tc>
                  <a:txBody>
                    <a:bodyPr/>
                    <a:lstStyle/>
                    <a:p>
                      <a:pPr algn="l" fontAlgn="b"/>
                      <a:r>
                        <a:rPr lang="en-US" sz="1700" b="0" i="0" u="none" strike="noStrike" dirty="0">
                          <a:solidFill>
                            <a:srgbClr val="000000"/>
                          </a:solidFill>
                          <a:effectLst/>
                          <a:latin typeface="+mn-lt"/>
                        </a:rPr>
                        <a:t>DevOps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Michael</a:t>
                      </a:r>
                      <a:r>
                        <a:rPr lang="en-US" sz="1700" b="0" i="0" u="none" strike="noStrike" baseline="0" dirty="0" smtClean="0">
                          <a:solidFill>
                            <a:srgbClr val="000000"/>
                          </a:solidFill>
                          <a:effectLst/>
                          <a:latin typeface="+mn-lt"/>
                        </a:rPr>
                        <a:t> Smith</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Application Health</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Application health</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2538452"/>
                  </a:ext>
                </a:extLst>
              </a:tr>
              <a:tr h="290690">
                <a:tc>
                  <a:txBody>
                    <a:bodyPr/>
                    <a:lstStyle/>
                    <a:p>
                      <a:pPr algn="l" fontAlgn="b"/>
                      <a:r>
                        <a:rPr lang="en-US" sz="1700" b="0" i="0" u="none" strike="noStrike" dirty="0">
                          <a:solidFill>
                            <a:srgbClr val="000000"/>
                          </a:solidFill>
                          <a:effectLst/>
                          <a:latin typeface="+mn-lt"/>
                        </a:rPr>
                        <a:t>DevOps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Mindy</a:t>
                      </a:r>
                      <a:r>
                        <a:rPr lang="en-US" sz="1700" b="0" i="0" u="none" strike="noStrike" baseline="0" dirty="0" smtClean="0">
                          <a:solidFill>
                            <a:srgbClr val="000000"/>
                          </a:solidFill>
                          <a:effectLst/>
                          <a:latin typeface="+mn-lt"/>
                        </a:rPr>
                        <a:t> Smith </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Monitoring and Incident Response</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Effective alerts and responses</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3176526"/>
                  </a:ext>
                </a:extLst>
              </a:tr>
              <a:tr h="290690">
                <a:tc>
                  <a:txBody>
                    <a:bodyPr/>
                    <a:lstStyle/>
                    <a:p>
                      <a:pPr algn="l" fontAlgn="b"/>
                      <a:r>
                        <a:rPr lang="en-US" sz="1700" b="0" i="0" u="none" strike="noStrike" dirty="0">
                          <a:solidFill>
                            <a:srgbClr val="000000"/>
                          </a:solidFill>
                          <a:effectLst/>
                          <a:latin typeface="+mn-lt"/>
                        </a:rPr>
                        <a:t>Security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Patrick</a:t>
                      </a:r>
                      <a:r>
                        <a:rPr lang="en-US" sz="1700" b="0" i="0" u="none" strike="noStrike" baseline="0" dirty="0" smtClean="0">
                          <a:solidFill>
                            <a:srgbClr val="000000"/>
                          </a:solidFill>
                          <a:effectLst/>
                          <a:latin typeface="+mn-lt"/>
                        </a:rPr>
                        <a:t> Smith</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Security</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Security situational awareness</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85639901"/>
                  </a:ext>
                </a:extLst>
              </a:tr>
              <a:tr h="290690">
                <a:tc>
                  <a:txBody>
                    <a:bodyPr/>
                    <a:lstStyle/>
                    <a:p>
                      <a:pPr algn="l" fontAlgn="b"/>
                      <a:r>
                        <a:rPr lang="en-US" sz="1700" b="0" i="0" u="none" strike="noStrike" dirty="0">
                          <a:solidFill>
                            <a:srgbClr val="000000"/>
                          </a:solidFill>
                          <a:effectLst/>
                          <a:latin typeface="+mn-lt"/>
                        </a:rPr>
                        <a:t>User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Liz Smith</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Functional Features</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Customer behavior</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91387869"/>
                  </a:ext>
                </a:extLst>
              </a:tr>
              <a:tr h="290690">
                <a:tc>
                  <a:txBody>
                    <a:bodyPr/>
                    <a:lstStyle/>
                    <a:p>
                      <a:pPr algn="l" fontAlgn="b"/>
                      <a:r>
                        <a:rPr lang="en-US" sz="1700" b="0" i="0" u="none" strike="noStrike" dirty="0">
                          <a:solidFill>
                            <a:srgbClr val="000000"/>
                          </a:solidFill>
                          <a:effectLst/>
                          <a:latin typeface="+mn-lt"/>
                        </a:rPr>
                        <a:t>Financial </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smtClean="0">
                          <a:solidFill>
                            <a:srgbClr val="000000"/>
                          </a:solidFill>
                          <a:effectLst/>
                          <a:latin typeface="+mn-lt"/>
                        </a:rPr>
                        <a:t>Craig</a:t>
                      </a:r>
                      <a:r>
                        <a:rPr lang="en-US" sz="1700" b="0" i="0" u="none" strike="noStrike" baseline="0" dirty="0" smtClean="0">
                          <a:solidFill>
                            <a:srgbClr val="000000"/>
                          </a:solidFill>
                          <a:effectLst/>
                          <a:latin typeface="+mn-lt"/>
                        </a:rPr>
                        <a:t> Smith</a:t>
                      </a:r>
                      <a:endParaRPr lang="en-US" sz="1700" b="0" i="0" u="none" strike="noStrike" dirty="0">
                        <a:solidFill>
                          <a:srgbClr val="000000"/>
                        </a:solidFill>
                        <a:effectLst/>
                        <a:latin typeface="+mn-lt"/>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Opex</a:t>
                      </a:r>
                      <a:endParaRPr lang="en-US" sz="1700" b="0" i="0" u="none" strike="noStrike" dirty="0">
                        <a:solidFill>
                          <a:srgbClr val="000000"/>
                        </a:solidFill>
                        <a:effectLst/>
                        <a:latin typeface="Amazon Ember" panose="02000000000000000000" pitchFamily="2" charset="0"/>
                      </a:endParaRP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700" b="0" i="0" u="none" strike="noStrike" dirty="0">
                          <a:solidFill>
                            <a:srgbClr val="000000"/>
                          </a:solidFill>
                          <a:effectLst/>
                          <a:latin typeface="+mn-lt"/>
                        </a:rPr>
                        <a:t>Spend</a:t>
                      </a:r>
                    </a:p>
                  </a:txBody>
                  <a:tcPr marL="8385" marR="8385" marT="8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6766636"/>
                  </a:ext>
                </a:extLst>
              </a:tr>
              <a:tr h="290690">
                <a:tc gridSpan="4">
                  <a:txBody>
                    <a:bodyPr/>
                    <a:lstStyle/>
                    <a:p>
                      <a:pPr algn="l" fontAlgn="b"/>
                      <a:r>
                        <a:rPr lang="en-US" sz="1700" b="0" i="1" u="none" strike="noStrike" dirty="0">
                          <a:solidFill>
                            <a:srgbClr val="000000"/>
                          </a:solidFill>
                          <a:effectLst/>
                          <a:latin typeface="+mn-lt"/>
                        </a:rPr>
                        <a:t>And many more…</a:t>
                      </a:r>
                    </a:p>
                  </a:txBody>
                  <a:tcPr marL="156371" marR="156371" marT="78185" marB="7818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31084"/>
                  </a:ext>
                </a:extLst>
              </a:tr>
            </a:tbl>
          </a:graphicData>
        </a:graphic>
      </p:graphicFrame>
    </p:spTree>
    <p:extLst>
      <p:ext uri="{BB962C8B-B14F-4D97-AF65-F5344CB8AC3E}">
        <p14:creationId xmlns:p14="http://schemas.microsoft.com/office/powerpoint/2010/main" val="402757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3309 0 L 6.94444E-8 0 " pathEditMode="relative" rAng="0" ptsTypes="AA">
                                      <p:cBhvr>
                                        <p:cTn id="8" dur="500" fill="hold"/>
                                        <p:tgtEl>
                                          <p:spTgt spid="4"/>
                                        </p:tgtEl>
                                        <p:attrNameLst>
                                          <p:attrName>ppt_x</p:attrName>
                                          <p:attrName>ppt_y</p:attrName>
                                        </p:attrNameLst>
                                      </p:cBhvr>
                                      <p:rCtr x="16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p_Sys_Knowledge">
            <a:extLst>
              <a:ext uri="{FF2B5EF4-FFF2-40B4-BE49-F238E27FC236}">
                <a16:creationId xmlns:a16="http://schemas.microsoft.com/office/drawing/2014/main" id="{3DC72C55-630B-A84C-870F-405EA4975160}"/>
              </a:ext>
            </a:extLst>
          </p:cNvPr>
          <p:cNvGrpSpPr/>
          <p:nvPr/>
        </p:nvGrpSpPr>
        <p:grpSpPr>
          <a:xfrm>
            <a:off x="12043848" y="0"/>
            <a:ext cx="3097552" cy="1784471"/>
            <a:chOff x="10628861" y="4189888"/>
            <a:chExt cx="3097552" cy="1784471"/>
          </a:xfrm>
        </p:grpSpPr>
        <p:pic>
          <p:nvPicPr>
            <p:cNvPr id="3" name="Picture 2">
              <a:extLst>
                <a:ext uri="{FF2B5EF4-FFF2-40B4-BE49-F238E27FC236}">
                  <a16:creationId xmlns:a16="http://schemas.microsoft.com/office/drawing/2014/main" id="{3CFB186E-65A8-F147-9836-10DFB9967064}"/>
                </a:ext>
              </a:extLst>
            </p:cNvPr>
            <p:cNvPicPr>
              <a:picLocks noChangeAspect="1"/>
            </p:cNvPicPr>
            <p:nvPr/>
          </p:nvPicPr>
          <p:blipFill>
            <a:blip r:embed="rId3"/>
            <a:stretch>
              <a:fillRect/>
            </a:stretch>
          </p:blipFill>
          <p:spPr>
            <a:xfrm>
              <a:off x="11350056" y="4380201"/>
              <a:ext cx="1586226" cy="1594158"/>
            </a:xfrm>
            <a:prstGeom prst="rect">
              <a:avLst/>
            </a:prstGeom>
          </p:spPr>
        </p:pic>
        <p:sp>
          <p:nvSpPr>
            <p:cNvPr id="4" name="TextBox 27"/>
            <p:cNvSpPr txBox="1">
              <a:spLocks noChangeArrowheads="1"/>
            </p:cNvSpPr>
            <p:nvPr/>
          </p:nvSpPr>
          <p:spPr bwMode="auto">
            <a:xfrm>
              <a:off x="10628861" y="4189888"/>
              <a:ext cx="3097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mazon Ember" panose="02000000000000000000" pitchFamily="34" charset="0"/>
                </a:defRPr>
              </a:lvl1pPr>
              <a:lvl2pPr marL="742950" indent="-285750">
                <a:defRPr sz="2100">
                  <a:solidFill>
                    <a:schemeClr val="tx1"/>
                  </a:solidFill>
                  <a:latin typeface="Amazon Ember" panose="02000000000000000000" pitchFamily="34" charset="0"/>
                </a:defRPr>
              </a:lvl2pPr>
              <a:lvl3pPr marL="1143000" indent="-228600">
                <a:defRPr sz="2100">
                  <a:solidFill>
                    <a:schemeClr val="tx1"/>
                  </a:solidFill>
                  <a:latin typeface="Amazon Ember" panose="02000000000000000000" pitchFamily="34" charset="0"/>
                </a:defRPr>
              </a:lvl3pPr>
              <a:lvl4pPr marL="1600200" indent="-228600">
                <a:defRPr sz="2100">
                  <a:solidFill>
                    <a:schemeClr val="tx1"/>
                  </a:solidFill>
                  <a:latin typeface="Amazon Ember" panose="02000000000000000000" pitchFamily="34" charset="0"/>
                </a:defRPr>
              </a:lvl4pPr>
              <a:lvl5pPr marL="2057400" indent="-228600">
                <a:defRPr sz="2100">
                  <a:solidFill>
                    <a:schemeClr val="tx1"/>
                  </a:solidFill>
                  <a:latin typeface="Amazon Ember" panose="02000000000000000000" pitchFamily="34" charset="0"/>
                </a:defRPr>
              </a:lvl5pPr>
              <a:lvl6pPr marL="2514600" indent="-228600" defTabSz="1096963" fontAlgn="base">
                <a:spcBef>
                  <a:spcPct val="0"/>
                </a:spcBef>
                <a:spcAft>
                  <a:spcPct val="0"/>
                </a:spcAft>
                <a:defRPr sz="2100">
                  <a:solidFill>
                    <a:schemeClr val="tx1"/>
                  </a:solidFill>
                  <a:latin typeface="Amazon Ember" panose="02000000000000000000" pitchFamily="34" charset="0"/>
                </a:defRPr>
              </a:lvl6pPr>
              <a:lvl7pPr marL="2971800" indent="-228600" defTabSz="1096963" fontAlgn="base">
                <a:spcBef>
                  <a:spcPct val="0"/>
                </a:spcBef>
                <a:spcAft>
                  <a:spcPct val="0"/>
                </a:spcAft>
                <a:defRPr sz="2100">
                  <a:solidFill>
                    <a:schemeClr val="tx1"/>
                  </a:solidFill>
                  <a:latin typeface="Amazon Ember" panose="02000000000000000000" pitchFamily="34" charset="0"/>
                </a:defRPr>
              </a:lvl7pPr>
              <a:lvl8pPr marL="3429000" indent="-228600" defTabSz="1096963" fontAlgn="base">
                <a:spcBef>
                  <a:spcPct val="0"/>
                </a:spcBef>
                <a:spcAft>
                  <a:spcPct val="0"/>
                </a:spcAft>
                <a:defRPr sz="2100">
                  <a:solidFill>
                    <a:schemeClr val="tx1"/>
                  </a:solidFill>
                  <a:latin typeface="Amazon Ember" panose="02000000000000000000" pitchFamily="34" charset="0"/>
                </a:defRPr>
              </a:lvl8pPr>
              <a:lvl9pPr marL="3886200" indent="-228600" defTabSz="1096963" fontAlgn="base">
                <a:spcBef>
                  <a:spcPct val="0"/>
                </a:spcBef>
                <a:spcAft>
                  <a:spcPct val="0"/>
                </a:spcAft>
                <a:defRPr sz="2100">
                  <a:solidFill>
                    <a:schemeClr val="tx1"/>
                  </a:solidFill>
                  <a:latin typeface="Amazon Ember" panose="02000000000000000000" pitchFamily="34" charset="0"/>
                </a:defRPr>
              </a:lvl9pPr>
            </a:lstStyle>
            <a:p>
              <a:pPr marL="0" marR="0" lvl="0" indent="0" algn="ctr" defTabSz="1096963"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 name="Title 1"/>
          <p:cNvSpPr>
            <a:spLocks noGrp="1"/>
          </p:cNvSpPr>
          <p:nvPr>
            <p:ph type="title"/>
          </p:nvPr>
        </p:nvSpPr>
        <p:spPr>
          <a:xfrm>
            <a:off x="548640" y="183898"/>
            <a:ext cx="13510260" cy="873186"/>
          </a:xfrm>
        </p:spPr>
        <p:txBody>
          <a:bodyPr/>
          <a:lstStyle/>
          <a:p>
            <a:r>
              <a:rPr lang="en-US" dirty="0" smtClean="0"/>
              <a:t>Key Performance Indicators</a:t>
            </a:r>
            <a:endParaRPr lang="en-US" dirty="0"/>
          </a:p>
        </p:txBody>
      </p:sp>
      <p:graphicFrame>
        <p:nvGraphicFramePr>
          <p:cNvPr id="6" name="Table 5">
            <a:extLst>
              <a:ext uri="{FF2B5EF4-FFF2-40B4-BE49-F238E27FC236}">
                <a16:creationId xmlns:a16="http://schemas.microsoft.com/office/drawing/2014/main" id="{8F13CDE2-6F59-5846-9459-FDD77F6AE49B}"/>
              </a:ext>
            </a:extLst>
          </p:cNvPr>
          <p:cNvGraphicFramePr>
            <a:graphicFrameLocks noGrp="1"/>
          </p:cNvGraphicFramePr>
          <p:nvPr>
            <p:extLst>
              <p:ext uri="{D42A27DB-BD31-4B8C-83A1-F6EECF244321}">
                <p14:modId xmlns:p14="http://schemas.microsoft.com/office/powerpoint/2010/main" val="3477141756"/>
              </p:ext>
            </p:extLst>
          </p:nvPr>
        </p:nvGraphicFramePr>
        <p:xfrm>
          <a:off x="1676976" y="1974784"/>
          <a:ext cx="12381924" cy="5187612"/>
        </p:xfrm>
        <a:graphic>
          <a:graphicData uri="http://schemas.openxmlformats.org/drawingml/2006/table">
            <a:tbl>
              <a:tblPr/>
              <a:tblGrid>
                <a:gridCol w="1786899">
                  <a:extLst>
                    <a:ext uri="{9D8B030D-6E8A-4147-A177-3AD203B41FA5}">
                      <a16:colId xmlns:a16="http://schemas.microsoft.com/office/drawing/2014/main" val="765262751"/>
                    </a:ext>
                  </a:extLst>
                </a:gridCol>
                <a:gridCol w="1923393">
                  <a:extLst>
                    <a:ext uri="{9D8B030D-6E8A-4147-A177-3AD203B41FA5}">
                      <a16:colId xmlns:a16="http://schemas.microsoft.com/office/drawing/2014/main" val="1354789158"/>
                    </a:ext>
                  </a:extLst>
                </a:gridCol>
                <a:gridCol w="1860331">
                  <a:extLst>
                    <a:ext uri="{9D8B030D-6E8A-4147-A177-3AD203B41FA5}">
                      <a16:colId xmlns:a16="http://schemas.microsoft.com/office/drawing/2014/main" val="1442944311"/>
                    </a:ext>
                  </a:extLst>
                </a:gridCol>
                <a:gridCol w="1655379">
                  <a:extLst>
                    <a:ext uri="{9D8B030D-6E8A-4147-A177-3AD203B41FA5}">
                      <a16:colId xmlns:a16="http://schemas.microsoft.com/office/drawing/2014/main" val="772008595"/>
                    </a:ext>
                  </a:extLst>
                </a:gridCol>
                <a:gridCol w="1927932">
                  <a:extLst>
                    <a:ext uri="{9D8B030D-6E8A-4147-A177-3AD203B41FA5}">
                      <a16:colId xmlns:a16="http://schemas.microsoft.com/office/drawing/2014/main" val="2773787334"/>
                    </a:ext>
                  </a:extLst>
                </a:gridCol>
                <a:gridCol w="1240937">
                  <a:extLst>
                    <a:ext uri="{9D8B030D-6E8A-4147-A177-3AD203B41FA5}">
                      <a16:colId xmlns:a16="http://schemas.microsoft.com/office/drawing/2014/main" val="1112135979"/>
                    </a:ext>
                  </a:extLst>
                </a:gridCol>
                <a:gridCol w="1987053">
                  <a:extLst>
                    <a:ext uri="{9D8B030D-6E8A-4147-A177-3AD203B41FA5}">
                      <a16:colId xmlns:a16="http://schemas.microsoft.com/office/drawing/2014/main" val="3281982674"/>
                    </a:ext>
                  </a:extLst>
                </a:gridCol>
              </a:tblGrid>
              <a:tr h="448228">
                <a:tc gridSpan="7">
                  <a:txBody>
                    <a:bodyPr/>
                    <a:lstStyle/>
                    <a:p>
                      <a:pPr algn="l" fontAlgn="b"/>
                      <a:r>
                        <a:rPr lang="en-US" sz="1800" b="1" i="0" u="none" strike="noStrike" dirty="0" smtClean="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Key Performance Indicators (KPIs)</a:t>
                      </a:r>
                      <a:endParaRPr lang="en-US" sz="1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101298" marR="101298" marT="50649" marB="5064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A1F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8275295"/>
                  </a:ext>
                </a:extLst>
              </a:tr>
              <a:tr h="517268">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500" b="1" i="0" u="none" strike="noStrike" dirty="0" smtClean="0">
                          <a:solidFill>
                            <a:srgbClr val="FFFFFF"/>
                          </a:solidFill>
                          <a:effectLst/>
                          <a:latin typeface="+mn-lt"/>
                        </a:rPr>
                        <a:t>Underpinning Business Outcome</a:t>
                      </a:r>
                      <a:endParaRPr lang="en-US" sz="1500" b="1" i="0" u="none" strike="noStrike" dirty="0">
                        <a:solidFill>
                          <a:srgbClr val="FFFFFF"/>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algn="ctr" fontAlgn="b"/>
                      <a:r>
                        <a:rPr lang="en-US" sz="1500" b="1" i="0" u="none" strike="noStrike" dirty="0" smtClean="0">
                          <a:solidFill>
                            <a:srgbClr val="FFFFFF"/>
                          </a:solidFill>
                          <a:effectLst/>
                          <a:latin typeface="+mn-lt"/>
                        </a:rPr>
                        <a:t>KPI</a:t>
                      </a:r>
                      <a:endParaRPr lang="en-US" sz="1500" b="1" i="0" u="none" strike="noStrike" dirty="0">
                        <a:solidFill>
                          <a:srgbClr val="FFFFFF"/>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algn="ctr" fontAlgn="b"/>
                      <a:r>
                        <a:rPr lang="en-US" sz="1500" b="1" i="0" u="none" strike="noStrike" dirty="0" smtClean="0">
                          <a:solidFill>
                            <a:srgbClr val="FFFFFF"/>
                          </a:solidFill>
                          <a:effectLst/>
                          <a:latin typeface="Amazon Ember" panose="02000000000000000000" pitchFamily="2" charset="0"/>
                        </a:rPr>
                        <a:t>Desired Outcome</a:t>
                      </a:r>
                      <a:endParaRPr lang="en-US" sz="1500" b="1" i="0" u="none" strike="noStrike" dirty="0">
                        <a:solidFill>
                          <a:srgbClr val="FFFFFF"/>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algn="ctr" fontAlgn="b"/>
                      <a:r>
                        <a:rPr lang="en-US" sz="1500" b="1" i="0" u="none" strike="noStrike" smtClean="0">
                          <a:solidFill>
                            <a:srgbClr val="FFFFFF"/>
                          </a:solidFill>
                          <a:effectLst/>
                          <a:latin typeface="Amazon Ember" panose="02000000000000000000" pitchFamily="2" charset="0"/>
                        </a:rPr>
                        <a:t>How it is measured</a:t>
                      </a:r>
                      <a:endParaRPr lang="en-US" sz="1500" b="1" i="0" u="none" strike="noStrike" dirty="0">
                        <a:solidFill>
                          <a:srgbClr val="FFFFFF"/>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500" b="1" i="0" u="none" strike="noStrike" smtClean="0">
                          <a:solidFill>
                            <a:srgbClr val="FFFFFF"/>
                          </a:solidFill>
                          <a:effectLst/>
                          <a:latin typeface="+mn-lt"/>
                        </a:rPr>
                        <a:t>What good look like</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algn="ctr" fontAlgn="b"/>
                      <a:r>
                        <a:rPr lang="en-US" sz="1500" b="1" i="0" u="none" strike="noStrike" smtClean="0">
                          <a:solidFill>
                            <a:srgbClr val="FFFFFF"/>
                          </a:solidFill>
                          <a:effectLst/>
                          <a:latin typeface="+mn-lt"/>
                        </a:rPr>
                        <a:t>Time to Action if KPI at risk</a:t>
                      </a:r>
                      <a:endParaRPr lang="en-US" sz="1500" b="1" i="0" u="none" strike="noStrike" dirty="0">
                        <a:solidFill>
                          <a:srgbClr val="FFFFFF"/>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tc>
                  <a:txBody>
                    <a:bodyPr/>
                    <a:lstStyle/>
                    <a:p>
                      <a:pPr algn="ctr" fontAlgn="b"/>
                      <a:r>
                        <a:rPr lang="en-US" sz="1500" b="1" i="0" u="none" strike="noStrike" dirty="0" smtClean="0">
                          <a:solidFill>
                            <a:srgbClr val="FFFFFF"/>
                          </a:solidFill>
                          <a:effectLst/>
                          <a:latin typeface="+mn-lt"/>
                        </a:rPr>
                        <a:t>Action Taken</a:t>
                      </a:r>
                      <a:endParaRPr lang="en-US" sz="1500" b="1" i="0" u="none" strike="noStrike" dirty="0">
                        <a:solidFill>
                          <a:srgbClr val="FFFFFF"/>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2679119993"/>
                  </a:ext>
                </a:extLst>
              </a:tr>
              <a:tr h="602476">
                <a:tc>
                  <a:txBody>
                    <a:bodyPr/>
                    <a:lstStyle/>
                    <a:p>
                      <a:pPr algn="l" fontAlgn="b"/>
                      <a:r>
                        <a:rPr lang="en-US" sz="1500" b="0" i="0" u="none" strike="noStrike" dirty="0" smtClean="0">
                          <a:solidFill>
                            <a:srgbClr val="000000"/>
                          </a:solidFill>
                          <a:effectLst/>
                          <a:latin typeface="+mn-lt"/>
                        </a:rPr>
                        <a:t>Quality Customer Experience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Amazon Ember" panose="02000000000000000000" pitchFamily="2" charset="0"/>
                        </a:rPr>
                        <a:t>Support</a:t>
                      </a:r>
                      <a:r>
                        <a:rPr lang="en-US" sz="1500" b="0" i="0" u="none" strike="noStrike" baseline="0" smtClean="0">
                          <a:solidFill>
                            <a:srgbClr val="000000"/>
                          </a:solidFill>
                          <a:effectLst/>
                          <a:latin typeface="Amazon Ember" panose="02000000000000000000" pitchFamily="2" charset="0"/>
                        </a:rPr>
                        <a:t> Reponse Time</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Response within 8 business hours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Time from first contact to first response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Response time less than 8 hours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4</a:t>
                      </a:r>
                      <a:r>
                        <a:rPr lang="en-US" sz="1500" b="0" i="0" u="none" strike="noStrike" baseline="0" smtClean="0">
                          <a:solidFill>
                            <a:srgbClr val="000000"/>
                          </a:solidFill>
                          <a:effectLst/>
                          <a:latin typeface="+mn-lt"/>
                        </a:rPr>
                        <a:t> hours after first contact</a:t>
                      </a:r>
                      <a:endParaRPr lang="en-US" sz="1500" b="0" i="0" u="none" strike="noStrike" smtClean="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err="1" smtClean="0">
                          <a:solidFill>
                            <a:srgbClr val="000000"/>
                          </a:solidFill>
                          <a:effectLst/>
                          <a:latin typeface="+mn-lt"/>
                        </a:rPr>
                        <a:t>Escallation</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9309935"/>
                  </a:ext>
                </a:extLst>
              </a:tr>
              <a:tr h="322582">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Quality Customer Experience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Amazon Ember" panose="02000000000000000000" pitchFamily="2" charset="0"/>
                        </a:rPr>
                        <a:t>Initial application launch time</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Page load</a:t>
                      </a:r>
                      <a:r>
                        <a:rPr lang="en-US" sz="1500" b="0" i="0" u="none" strike="noStrike" baseline="0" smtClean="0">
                          <a:solidFill>
                            <a:srgbClr val="000000"/>
                          </a:solidFill>
                          <a:effectLst/>
                          <a:latin typeface="+mn-lt"/>
                        </a:rPr>
                        <a:t> within 15 seconds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Page request to page delivery</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Average</a:t>
                      </a:r>
                      <a:r>
                        <a:rPr lang="en-US" sz="1500" b="0" i="0" u="none" strike="noStrike" baseline="0" smtClean="0">
                          <a:solidFill>
                            <a:srgbClr val="000000"/>
                          </a:solidFill>
                          <a:effectLst/>
                          <a:latin typeface="+mn-lt"/>
                        </a:rPr>
                        <a:t> </a:t>
                      </a:r>
                      <a:r>
                        <a:rPr lang="en-US" sz="1500" b="0" i="0" u="none" strike="noStrike" smtClean="0">
                          <a:solidFill>
                            <a:srgbClr val="000000"/>
                          </a:solidFill>
                          <a:effectLst/>
                          <a:latin typeface="+mn-lt"/>
                        </a:rPr>
                        <a:t>Page load within</a:t>
                      </a:r>
                      <a:r>
                        <a:rPr lang="en-US" sz="1500" b="0" i="0" u="none" strike="noStrike" baseline="0" smtClean="0">
                          <a:solidFill>
                            <a:srgbClr val="000000"/>
                          </a:solidFill>
                          <a:effectLst/>
                          <a:latin typeface="+mn-lt"/>
                        </a:rPr>
                        <a:t> 15 seconds over 5 minutes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Immediate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Raise</a:t>
                      </a:r>
                      <a:r>
                        <a:rPr lang="en-US" sz="1500" b="0" i="0" u="none" strike="noStrike" baseline="0" dirty="0" smtClean="0">
                          <a:solidFill>
                            <a:srgbClr val="000000"/>
                          </a:solidFill>
                          <a:effectLst/>
                          <a:latin typeface="+mn-lt"/>
                        </a:rPr>
                        <a:t> an event</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6716179"/>
                  </a:ext>
                </a:extLst>
              </a:tr>
              <a:tr h="322582">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Quality Customer Experience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Amazon Ember" panose="02000000000000000000" pitchFamily="2" charset="0"/>
                        </a:rPr>
                        <a:t>Application Response Time</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Image</a:t>
                      </a:r>
                      <a:r>
                        <a:rPr lang="en-US" sz="1500" b="0" i="0" u="none" strike="noStrike" baseline="0" smtClean="0">
                          <a:solidFill>
                            <a:srgbClr val="000000"/>
                          </a:solidFill>
                          <a:effectLst/>
                          <a:latin typeface="+mn-lt"/>
                        </a:rPr>
                        <a:t> analysis t</a:t>
                      </a:r>
                      <a:r>
                        <a:rPr lang="en-US" sz="1500" b="0" i="0" u="none" strike="noStrike" smtClean="0">
                          <a:solidFill>
                            <a:srgbClr val="000000"/>
                          </a:solidFill>
                          <a:effectLst/>
                          <a:latin typeface="+mn-lt"/>
                        </a:rPr>
                        <a:t>ransaction</a:t>
                      </a:r>
                      <a:r>
                        <a:rPr lang="en-US" sz="1500" b="0" i="0" u="none" strike="noStrike" baseline="0" smtClean="0">
                          <a:solidFill>
                            <a:srgbClr val="000000"/>
                          </a:solidFill>
                          <a:effectLst/>
                          <a:latin typeface="+mn-lt"/>
                        </a:rPr>
                        <a:t> r</a:t>
                      </a:r>
                      <a:r>
                        <a:rPr lang="en-US" sz="1500" b="0" i="0" u="none" strike="noStrike" smtClean="0">
                          <a:solidFill>
                            <a:srgbClr val="000000"/>
                          </a:solidFill>
                          <a:effectLst/>
                          <a:latin typeface="+mn-lt"/>
                        </a:rPr>
                        <a:t>esponse </a:t>
                      </a:r>
                      <a:r>
                        <a:rPr lang="en-US" sz="1500" b="0" i="0" u="none" strike="noStrike" baseline="0" smtClean="0">
                          <a:solidFill>
                            <a:srgbClr val="000000"/>
                          </a:solidFill>
                          <a:effectLst/>
                          <a:latin typeface="+mn-lt"/>
                        </a:rPr>
                        <a:t>within 2 seconds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Initiation (click) to result presented</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Avergage</a:t>
                      </a:r>
                      <a:r>
                        <a:rPr lang="en-US" sz="1500" b="0" i="0" u="none" strike="noStrike" baseline="0" smtClean="0">
                          <a:solidFill>
                            <a:srgbClr val="000000"/>
                          </a:solidFill>
                          <a:effectLst/>
                          <a:latin typeface="+mn-lt"/>
                        </a:rPr>
                        <a:t> </a:t>
                      </a:r>
                      <a:r>
                        <a:rPr lang="en-US" sz="1500" b="0" i="0" u="none" strike="noStrike" smtClean="0">
                          <a:solidFill>
                            <a:srgbClr val="000000"/>
                          </a:solidFill>
                          <a:effectLst/>
                          <a:latin typeface="+mn-lt"/>
                        </a:rPr>
                        <a:t>Transaction</a:t>
                      </a:r>
                      <a:r>
                        <a:rPr lang="en-US" sz="1500" b="0" i="0" u="none" strike="noStrike" baseline="0" smtClean="0">
                          <a:solidFill>
                            <a:srgbClr val="000000"/>
                          </a:solidFill>
                          <a:effectLst/>
                          <a:latin typeface="+mn-lt"/>
                        </a:rPr>
                        <a:t> r</a:t>
                      </a:r>
                      <a:r>
                        <a:rPr lang="en-US" sz="1500" b="0" i="0" u="none" strike="noStrike" smtClean="0">
                          <a:solidFill>
                            <a:srgbClr val="000000"/>
                          </a:solidFill>
                          <a:effectLst/>
                          <a:latin typeface="+mn-lt"/>
                        </a:rPr>
                        <a:t>esponse </a:t>
                      </a:r>
                      <a:r>
                        <a:rPr lang="en-US" sz="1500" b="0" i="0" u="none" strike="noStrike" baseline="0" smtClean="0">
                          <a:solidFill>
                            <a:srgbClr val="000000"/>
                          </a:solidFill>
                          <a:effectLst/>
                          <a:latin typeface="+mn-lt"/>
                        </a:rPr>
                        <a:t>within 2 seconds over 10 minutes</a:t>
                      </a:r>
                      <a:endParaRPr lang="en-US" sz="1500" b="0" i="0" u="none" strike="noStrike" smtClean="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Immediate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Raise</a:t>
                      </a:r>
                      <a:r>
                        <a:rPr lang="en-US" sz="1500" b="0" i="0" u="none" strike="noStrike" baseline="0" smtClean="0">
                          <a:solidFill>
                            <a:srgbClr val="000000"/>
                          </a:solidFill>
                          <a:effectLst/>
                          <a:latin typeface="+mn-lt"/>
                        </a:rPr>
                        <a:t> an event</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76655660"/>
                  </a:ext>
                </a:extLst>
              </a:tr>
              <a:tr h="602476">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Quality Customer Experience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Amazon Ember" panose="02000000000000000000" pitchFamily="2" charset="0"/>
                        </a:rPr>
                        <a:t>Accuracy</a:t>
                      </a:r>
                      <a:r>
                        <a:rPr lang="en-US" sz="1500" b="0" i="0" u="none" strike="noStrike" baseline="0" smtClean="0">
                          <a:solidFill>
                            <a:srgbClr val="000000"/>
                          </a:solidFill>
                          <a:effectLst/>
                          <a:latin typeface="Amazon Ember" panose="02000000000000000000" pitchFamily="2" charset="0"/>
                        </a:rPr>
                        <a:t> of Image and Text identification</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90% confidence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Confiidence</a:t>
                      </a:r>
                      <a:r>
                        <a:rPr lang="en-US" sz="1500" b="0" i="0" u="none" strike="noStrike" baseline="0" smtClean="0">
                          <a:solidFill>
                            <a:srgbClr val="000000"/>
                          </a:solidFill>
                          <a:effectLst/>
                          <a:latin typeface="+mn-lt"/>
                        </a:rPr>
                        <a:t> results from Rekognition</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Average of 90% confidence over 1000</a:t>
                      </a:r>
                      <a:r>
                        <a:rPr lang="en-US" sz="1500" b="0" i="0" u="none" strike="noStrike" baseline="0" smtClean="0">
                          <a:solidFill>
                            <a:srgbClr val="000000"/>
                          </a:solidFill>
                          <a:effectLst/>
                          <a:latin typeface="+mn-lt"/>
                        </a:rPr>
                        <a:t> unique images</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Next Development</a:t>
                      </a:r>
                      <a:r>
                        <a:rPr lang="en-US" sz="1500" b="0" i="0" u="none" strike="noStrike" baseline="0" smtClean="0">
                          <a:solidFill>
                            <a:srgbClr val="000000"/>
                          </a:solidFill>
                          <a:effectLst/>
                          <a:latin typeface="+mn-lt"/>
                        </a:rPr>
                        <a:t> Sprint</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Create issue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0544032"/>
                  </a:ext>
                </a:extLst>
              </a:tr>
              <a:tr h="602476">
                <a:tc>
                  <a:txBody>
                    <a:bodyPr/>
                    <a:lstStyle/>
                    <a:p>
                      <a:pPr marL="0" marR="0" lvl="0" indent="0" algn="l" defTabSz="731520" rtl="0" eaLnBrk="1" fontAlgn="b" latinLnBrk="0" hangingPunct="1">
                        <a:lnSpc>
                          <a:spcPct val="100000"/>
                        </a:lnSpc>
                        <a:spcBef>
                          <a:spcPts val="0"/>
                        </a:spcBef>
                        <a:spcAft>
                          <a:spcPts val="0"/>
                        </a:spcAft>
                        <a:buClrTx/>
                        <a:buSzTx/>
                        <a:buFontTx/>
                        <a:buNone/>
                        <a:tabLst/>
                        <a:defRPr/>
                      </a:pPr>
                      <a:r>
                        <a:rPr lang="en-US" sz="1500" b="0" i="0" u="none" strike="noStrike" smtClean="0">
                          <a:solidFill>
                            <a:srgbClr val="000000"/>
                          </a:solidFill>
                          <a:effectLst/>
                          <a:latin typeface="+mn-lt"/>
                        </a:rPr>
                        <a:t>Quality Customer Experience</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Amazon Ember" panose="02000000000000000000" pitchFamily="2" charset="0"/>
                        </a:rPr>
                        <a:t>Image upload time</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TBD</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Initial to completion</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Customer doesn’t get frustrated</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smtClean="0">
                          <a:solidFill>
                            <a:srgbClr val="000000"/>
                          </a:solidFill>
                          <a:effectLst/>
                          <a:latin typeface="+mn-lt"/>
                        </a:rPr>
                        <a:t>Monthly</a:t>
                      </a:r>
                      <a:endParaRPr lang="en-US" sz="1500" b="0" i="0" u="none" strike="noStrike" dirty="0">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smtClean="0">
                          <a:solidFill>
                            <a:srgbClr val="000000"/>
                          </a:solidFill>
                          <a:effectLst/>
                          <a:latin typeface="+mn-lt"/>
                        </a:rPr>
                        <a:t>Evaluate circuit capacity</a:t>
                      </a:r>
                      <a:endParaRPr lang="fr" sz="1500" b="0" i="0" u="none" strike="noStrike">
                        <a:solidFill>
                          <a:srgbClr val="000000"/>
                        </a:solidFill>
                        <a:effectLst/>
                        <a:latin typeface="+mn-lt"/>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9719358"/>
                  </a:ext>
                </a:extLst>
              </a:tr>
              <a:tr h="448228">
                <a:tc gridSpan="7">
                  <a:txBody>
                    <a:bodyPr/>
                    <a:lstStyle/>
                    <a:p>
                      <a:pPr algn="l" fontAlgn="b"/>
                      <a:r>
                        <a:rPr lang="en-US" sz="1500" b="0" i="1" u="none" strike="noStrike" dirty="0">
                          <a:solidFill>
                            <a:srgbClr val="000000"/>
                          </a:solidFill>
                          <a:effectLst/>
                          <a:latin typeface="+mn-lt"/>
                        </a:rPr>
                        <a:t>And many more…</a:t>
                      </a:r>
                    </a:p>
                  </a:txBody>
                  <a:tcPr marL="101298" marR="101298" marT="50649" marB="5064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32992763"/>
                  </a:ext>
                </a:extLst>
              </a:tr>
            </a:tbl>
          </a:graphicData>
        </a:graphic>
      </p:graphicFrame>
    </p:spTree>
    <p:extLst>
      <p:ext uri="{BB962C8B-B14F-4D97-AF65-F5344CB8AC3E}">
        <p14:creationId xmlns:p14="http://schemas.microsoft.com/office/powerpoint/2010/main" val="254825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2713 -3.7037E-6 L -1.63194E-6 -3.7037E-6 " pathEditMode="relative" rAng="0" ptsTypes="AA">
                                      <p:cBhvr>
                                        <p:cTn id="8" dur="500" fill="hold"/>
                                        <p:tgtEl>
                                          <p:spTgt spid="6"/>
                                        </p:tgtEl>
                                        <p:attrNameLst>
                                          <p:attrName>ppt_x</p:attrName>
                                          <p:attrName>ppt_y</p:attrName>
                                        </p:attrNameLst>
                                      </p:cBhvr>
                                      <p:rCtr x="133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p_Sys_Knowledge">
            <a:extLst>
              <a:ext uri="{FF2B5EF4-FFF2-40B4-BE49-F238E27FC236}">
                <a16:creationId xmlns:a16="http://schemas.microsoft.com/office/drawing/2014/main" id="{3DC72C55-630B-A84C-870F-405EA4975160}"/>
              </a:ext>
            </a:extLst>
          </p:cNvPr>
          <p:cNvGrpSpPr/>
          <p:nvPr/>
        </p:nvGrpSpPr>
        <p:grpSpPr>
          <a:xfrm>
            <a:off x="12043848" y="0"/>
            <a:ext cx="3097552" cy="1784471"/>
            <a:chOff x="10628861" y="4189888"/>
            <a:chExt cx="3097552" cy="1784471"/>
          </a:xfrm>
        </p:grpSpPr>
        <p:pic>
          <p:nvPicPr>
            <p:cNvPr id="3" name="Picture 2">
              <a:extLst>
                <a:ext uri="{FF2B5EF4-FFF2-40B4-BE49-F238E27FC236}">
                  <a16:creationId xmlns:a16="http://schemas.microsoft.com/office/drawing/2014/main" id="{3CFB186E-65A8-F147-9836-10DFB9967064}"/>
                </a:ext>
              </a:extLst>
            </p:cNvPr>
            <p:cNvPicPr>
              <a:picLocks noChangeAspect="1"/>
            </p:cNvPicPr>
            <p:nvPr/>
          </p:nvPicPr>
          <p:blipFill>
            <a:blip r:embed="rId3"/>
            <a:stretch>
              <a:fillRect/>
            </a:stretch>
          </p:blipFill>
          <p:spPr>
            <a:xfrm>
              <a:off x="11350056" y="4380201"/>
              <a:ext cx="1586226" cy="1594158"/>
            </a:xfrm>
            <a:prstGeom prst="rect">
              <a:avLst/>
            </a:prstGeom>
          </p:spPr>
        </p:pic>
        <p:sp>
          <p:nvSpPr>
            <p:cNvPr id="4" name="TextBox 27"/>
            <p:cNvSpPr txBox="1">
              <a:spLocks noChangeArrowheads="1"/>
            </p:cNvSpPr>
            <p:nvPr/>
          </p:nvSpPr>
          <p:spPr bwMode="auto">
            <a:xfrm>
              <a:off x="10628861" y="4189888"/>
              <a:ext cx="3097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mazon Ember" panose="02000000000000000000" pitchFamily="34" charset="0"/>
                </a:defRPr>
              </a:lvl1pPr>
              <a:lvl2pPr marL="742950" indent="-285750">
                <a:defRPr sz="2100">
                  <a:solidFill>
                    <a:schemeClr val="tx1"/>
                  </a:solidFill>
                  <a:latin typeface="Amazon Ember" panose="02000000000000000000" pitchFamily="34" charset="0"/>
                </a:defRPr>
              </a:lvl2pPr>
              <a:lvl3pPr marL="1143000" indent="-228600">
                <a:defRPr sz="2100">
                  <a:solidFill>
                    <a:schemeClr val="tx1"/>
                  </a:solidFill>
                  <a:latin typeface="Amazon Ember" panose="02000000000000000000" pitchFamily="34" charset="0"/>
                </a:defRPr>
              </a:lvl3pPr>
              <a:lvl4pPr marL="1600200" indent="-228600">
                <a:defRPr sz="2100">
                  <a:solidFill>
                    <a:schemeClr val="tx1"/>
                  </a:solidFill>
                  <a:latin typeface="Amazon Ember" panose="02000000000000000000" pitchFamily="34" charset="0"/>
                </a:defRPr>
              </a:lvl4pPr>
              <a:lvl5pPr marL="2057400" indent="-228600">
                <a:defRPr sz="2100">
                  <a:solidFill>
                    <a:schemeClr val="tx1"/>
                  </a:solidFill>
                  <a:latin typeface="Amazon Ember" panose="02000000000000000000" pitchFamily="34" charset="0"/>
                </a:defRPr>
              </a:lvl5pPr>
              <a:lvl6pPr marL="2514600" indent="-228600" defTabSz="1096963" fontAlgn="base">
                <a:spcBef>
                  <a:spcPct val="0"/>
                </a:spcBef>
                <a:spcAft>
                  <a:spcPct val="0"/>
                </a:spcAft>
                <a:defRPr sz="2100">
                  <a:solidFill>
                    <a:schemeClr val="tx1"/>
                  </a:solidFill>
                  <a:latin typeface="Amazon Ember" panose="02000000000000000000" pitchFamily="34" charset="0"/>
                </a:defRPr>
              </a:lvl6pPr>
              <a:lvl7pPr marL="2971800" indent="-228600" defTabSz="1096963" fontAlgn="base">
                <a:spcBef>
                  <a:spcPct val="0"/>
                </a:spcBef>
                <a:spcAft>
                  <a:spcPct val="0"/>
                </a:spcAft>
                <a:defRPr sz="2100">
                  <a:solidFill>
                    <a:schemeClr val="tx1"/>
                  </a:solidFill>
                  <a:latin typeface="Amazon Ember" panose="02000000000000000000" pitchFamily="34" charset="0"/>
                </a:defRPr>
              </a:lvl7pPr>
              <a:lvl8pPr marL="3429000" indent="-228600" defTabSz="1096963" fontAlgn="base">
                <a:spcBef>
                  <a:spcPct val="0"/>
                </a:spcBef>
                <a:spcAft>
                  <a:spcPct val="0"/>
                </a:spcAft>
                <a:defRPr sz="2100">
                  <a:solidFill>
                    <a:schemeClr val="tx1"/>
                  </a:solidFill>
                  <a:latin typeface="Amazon Ember" panose="02000000000000000000" pitchFamily="34" charset="0"/>
                </a:defRPr>
              </a:lvl8pPr>
              <a:lvl9pPr marL="3886200" indent="-228600" defTabSz="1096963" fontAlgn="base">
                <a:spcBef>
                  <a:spcPct val="0"/>
                </a:spcBef>
                <a:spcAft>
                  <a:spcPct val="0"/>
                </a:spcAft>
                <a:defRPr sz="2100">
                  <a:solidFill>
                    <a:schemeClr val="tx1"/>
                  </a:solidFill>
                  <a:latin typeface="Amazon Ember" panose="02000000000000000000" pitchFamily="34" charset="0"/>
                </a:defRPr>
              </a:lvl9pPr>
            </a:lstStyle>
            <a:p>
              <a:pPr marL="0" marR="0" lvl="0" indent="0" algn="ctr" defTabSz="1096963"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 name="Title 1"/>
          <p:cNvSpPr>
            <a:spLocks noGrp="1"/>
          </p:cNvSpPr>
          <p:nvPr>
            <p:ph type="title"/>
          </p:nvPr>
        </p:nvSpPr>
        <p:spPr>
          <a:xfrm>
            <a:off x="548640" y="183898"/>
            <a:ext cx="13510260" cy="873186"/>
          </a:xfrm>
        </p:spPr>
        <p:txBody>
          <a:bodyPr/>
          <a:lstStyle/>
          <a:p>
            <a:r>
              <a:rPr lang="en-US" dirty="0"/>
              <a:t>System architecture and insights</a:t>
            </a:r>
          </a:p>
        </p:txBody>
      </p:sp>
      <p:graphicFrame>
        <p:nvGraphicFramePr>
          <p:cNvPr id="6" name="Table 5">
            <a:extLst>
              <a:ext uri="{FF2B5EF4-FFF2-40B4-BE49-F238E27FC236}">
                <a16:creationId xmlns:a16="http://schemas.microsoft.com/office/drawing/2014/main" id="{0217301A-3012-9D46-80A4-41F47B265752}"/>
              </a:ext>
            </a:extLst>
          </p:cNvPr>
          <p:cNvGraphicFramePr>
            <a:graphicFrameLocks noGrp="1"/>
          </p:cNvGraphicFramePr>
          <p:nvPr>
            <p:extLst>
              <p:ext uri="{D42A27DB-BD31-4B8C-83A1-F6EECF244321}">
                <p14:modId xmlns:p14="http://schemas.microsoft.com/office/powerpoint/2010/main" val="480987983"/>
              </p:ext>
            </p:extLst>
          </p:nvPr>
        </p:nvGraphicFramePr>
        <p:xfrm>
          <a:off x="1612880" y="2092270"/>
          <a:ext cx="12664405" cy="3673509"/>
        </p:xfrm>
        <a:graphic>
          <a:graphicData uri="http://schemas.openxmlformats.org/drawingml/2006/table">
            <a:tbl>
              <a:tblPr/>
              <a:tblGrid>
                <a:gridCol w="1300591">
                  <a:extLst>
                    <a:ext uri="{9D8B030D-6E8A-4147-A177-3AD203B41FA5}">
                      <a16:colId xmlns:a16="http://schemas.microsoft.com/office/drawing/2014/main" val="149993107"/>
                    </a:ext>
                  </a:extLst>
                </a:gridCol>
                <a:gridCol w="1772872">
                  <a:extLst>
                    <a:ext uri="{9D8B030D-6E8A-4147-A177-3AD203B41FA5}">
                      <a16:colId xmlns:a16="http://schemas.microsoft.com/office/drawing/2014/main" val="3960283868"/>
                    </a:ext>
                  </a:extLst>
                </a:gridCol>
                <a:gridCol w="2259683">
                  <a:extLst>
                    <a:ext uri="{9D8B030D-6E8A-4147-A177-3AD203B41FA5}">
                      <a16:colId xmlns:a16="http://schemas.microsoft.com/office/drawing/2014/main" val="4117941446"/>
                    </a:ext>
                  </a:extLst>
                </a:gridCol>
                <a:gridCol w="1772872">
                  <a:extLst>
                    <a:ext uri="{9D8B030D-6E8A-4147-A177-3AD203B41FA5}">
                      <a16:colId xmlns:a16="http://schemas.microsoft.com/office/drawing/2014/main" val="3498116717"/>
                    </a:ext>
                  </a:extLst>
                </a:gridCol>
                <a:gridCol w="1656617">
                  <a:extLst>
                    <a:ext uri="{9D8B030D-6E8A-4147-A177-3AD203B41FA5}">
                      <a16:colId xmlns:a16="http://schemas.microsoft.com/office/drawing/2014/main" val="321637204"/>
                    </a:ext>
                  </a:extLst>
                </a:gridCol>
                <a:gridCol w="3901770">
                  <a:extLst>
                    <a:ext uri="{9D8B030D-6E8A-4147-A177-3AD203B41FA5}">
                      <a16:colId xmlns:a16="http://schemas.microsoft.com/office/drawing/2014/main" val="1687890785"/>
                    </a:ext>
                  </a:extLst>
                </a:gridCol>
              </a:tblGrid>
              <a:tr h="251932">
                <a:tc gridSpan="6">
                  <a:txBody>
                    <a:bodyPr/>
                    <a:lstStyle/>
                    <a:p>
                      <a:pPr algn="l" fontAlgn="b"/>
                      <a:r>
                        <a:rPr lang="en-US" sz="20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System Knowledge and Insights</a:t>
                      </a:r>
                    </a:p>
                  </a:txBody>
                  <a:tcPr marL="156371" marR="156371" marT="78186" marB="78186"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1403828"/>
                  </a:ext>
                </a:extLst>
              </a:tr>
              <a:tr h="251932">
                <a:tc>
                  <a:txBody>
                    <a:bodyPr/>
                    <a:lstStyle/>
                    <a:p>
                      <a:pPr algn="l" fontAlgn="b"/>
                      <a:r>
                        <a:rPr lang="en-US" sz="1500" b="1" i="0" u="none" strike="noStrike" dirty="0">
                          <a:solidFill>
                            <a:srgbClr val="FFFFFF"/>
                          </a:solidFill>
                          <a:effectLst/>
                          <a:latin typeface="+mn-lt"/>
                        </a:rPr>
                        <a:t>Workload</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r>
                        <a:rPr lang="en-US" sz="1500" b="1" i="0" u="none" strike="noStrike" dirty="0">
                          <a:solidFill>
                            <a:srgbClr val="FFFFFF"/>
                          </a:solidFill>
                          <a:effectLst/>
                          <a:latin typeface="+mn-lt"/>
                        </a:rPr>
                        <a:t>Component</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r>
                        <a:rPr lang="en-US" sz="1500" b="1" i="0" u="none" strike="noStrike" dirty="0">
                          <a:solidFill>
                            <a:srgbClr val="FFFFFF"/>
                          </a:solidFill>
                          <a:effectLst/>
                          <a:latin typeface="+mn-lt"/>
                        </a:rPr>
                        <a:t>Sub-component</a:t>
                      </a:r>
                      <a:endParaRPr lang="en-US" sz="1500" b="1" i="0" u="none" strike="noStrike" dirty="0">
                        <a:solidFill>
                          <a:srgbClr val="FFFFFF"/>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r>
                        <a:rPr lang="en-US" sz="1500" b="1" i="0" u="none" strike="noStrike" dirty="0">
                          <a:solidFill>
                            <a:srgbClr val="FFFFFF"/>
                          </a:solidFill>
                          <a:effectLst/>
                          <a:latin typeface="+mn-lt"/>
                        </a:rPr>
                        <a:t>Insights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r>
                        <a:rPr lang="en-US" sz="1500" b="1" i="0" u="none" strike="noStrike" dirty="0">
                          <a:solidFill>
                            <a:srgbClr val="FFFFFF"/>
                          </a:solidFill>
                          <a:effectLst/>
                          <a:latin typeface="+mn-lt"/>
                        </a:rPr>
                        <a:t>Telemetry</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r>
                        <a:rPr lang="en-US" sz="1500" b="1" i="0" u="none" strike="noStrike" dirty="0">
                          <a:solidFill>
                            <a:srgbClr val="FFFFFF"/>
                          </a:solidFill>
                          <a:effectLst/>
                          <a:latin typeface="+mn-lt"/>
                        </a:rPr>
                        <a:t>Source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4945036"/>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Operating System</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Faults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/var/log/message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1118500"/>
                  </a:ext>
                </a:extLst>
              </a:tr>
              <a:tr h="308045">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Boot 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Faults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/var/log/boot.log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3355028"/>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CPU</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Performance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standard metrics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CPU utilization</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02258515"/>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Memory</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Performance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standard metrics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Memory utilization</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754370"/>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Disk I/O</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Performance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standard metrics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Disk I/O utilization</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7854825"/>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Errors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Security</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dirty="0">
                          <a:solidFill>
                            <a:srgbClr val="000000"/>
                          </a:solidFill>
                          <a:effectLst/>
                          <a:latin typeface="+mn-lt"/>
                        </a:rPr>
                        <a:t>/opt/imagetrends-logs/ui/application.log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05324211"/>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Warnings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Performance</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dirty="0">
                          <a:solidFill>
                            <a:srgbClr val="000000"/>
                          </a:solidFill>
                          <a:effectLst/>
                          <a:latin typeface="+mn-lt"/>
                        </a:rPr>
                        <a:t>/opt/imagetrends-logs/ui/application.log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44719980"/>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User activity</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User behavior</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dirty="0">
                          <a:solidFill>
                            <a:srgbClr val="000000"/>
                          </a:solidFill>
                          <a:effectLst/>
                          <a:latin typeface="+mn-lt"/>
                        </a:rPr>
                        <a:t>/opt/imagetrends-logs/ui/application.log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8880040"/>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Production logs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Accounting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logs</a:t>
                      </a:r>
                      <a:endParaRPr lang="en-US" sz="1500" b="0" i="0" u="none" strike="noStrike"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dirty="0">
                          <a:solidFill>
                            <a:srgbClr val="000000"/>
                          </a:solidFill>
                          <a:effectLst/>
                          <a:latin typeface="+mn-lt"/>
                        </a:rPr>
                        <a:t>/opt/imagetrends-logs/ui/production.log</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9772647"/>
                  </a:ext>
                </a:extLst>
              </a:tr>
              <a:tr h="251932">
                <a:tc>
                  <a:txBody>
                    <a:bodyPr/>
                    <a:lstStyle/>
                    <a:p>
                      <a:pPr algn="l" fontAlgn="b"/>
                      <a:r>
                        <a:rPr lang="en-US" sz="1500" b="0" i="0" u="none" strike="noStrike" dirty="0">
                          <a:solidFill>
                            <a:srgbClr val="000000"/>
                          </a:solidFill>
                          <a:effectLst/>
                          <a:latin typeface="+mn-lt"/>
                        </a:rPr>
                        <a:t>Imagetrends</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Network</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Network activity</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Security</a:t>
                      </a: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baseline="0" dirty="0">
                          <a:solidFill>
                            <a:srgbClr val="000000"/>
                          </a:solidFill>
                          <a:effectLst/>
                          <a:latin typeface="+mn-lt"/>
                        </a:rPr>
                        <a:t>VPC Flow Logs</a:t>
                      </a:r>
                      <a:endParaRPr lang="en-US" sz="1500" b="0" i="0" u="none" strike="noStrike" baseline="0"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baseline="0" dirty="0">
                          <a:solidFill>
                            <a:srgbClr val="000000"/>
                          </a:solidFill>
                          <a:effectLst/>
                          <a:latin typeface="+mn-lt"/>
                        </a:rPr>
                        <a:t>VPC Flow Logs</a:t>
                      </a:r>
                      <a:endParaRPr lang="en-US" sz="1500" b="0" i="0" u="none" strike="noStrike" baseline="0" dirty="0">
                        <a:solidFill>
                          <a:srgbClr val="000000"/>
                        </a:solidFill>
                        <a:effectLst/>
                        <a:latin typeface="Amazon Ember" panose="02000000000000000000" pitchFamily="2" charset="0"/>
                      </a:endParaRPr>
                    </a:p>
                  </a:txBody>
                  <a:tcPr marL="7268" marR="7268" marT="72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9465105"/>
                  </a:ext>
                </a:extLst>
              </a:tr>
              <a:tr h="251932">
                <a:tc gridSpan="6">
                  <a:txBody>
                    <a:bodyPr/>
                    <a:lstStyle/>
                    <a:p>
                      <a:pPr algn="l" fontAlgn="b"/>
                      <a:r>
                        <a:rPr lang="en-US" sz="1500" b="0" i="1" u="none" strike="noStrike" dirty="0">
                          <a:solidFill>
                            <a:srgbClr val="000000"/>
                          </a:solidFill>
                          <a:effectLst/>
                          <a:latin typeface="+mn-lt"/>
                        </a:rPr>
                        <a:t>And many more…</a:t>
                      </a:r>
                    </a:p>
                  </a:txBody>
                  <a:tcPr marL="156371" marR="156371" marT="78186" marB="78186"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62121323"/>
                  </a:ext>
                </a:extLst>
              </a:tr>
            </a:tbl>
          </a:graphicData>
        </a:graphic>
      </p:graphicFrame>
    </p:spTree>
    <p:extLst>
      <p:ext uri="{BB962C8B-B14F-4D97-AF65-F5344CB8AC3E}">
        <p14:creationId xmlns:p14="http://schemas.microsoft.com/office/powerpoint/2010/main" val="424835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2811 0 L -4.72222E-6 0 " pathEditMode="relative" rAng="0" ptsTypes="AA">
                                      <p:cBhvr>
                                        <p:cTn id="8" dur="500" fill="hold"/>
                                        <p:tgtEl>
                                          <p:spTgt spid="6"/>
                                        </p:tgtEl>
                                        <p:attrNameLst>
                                          <p:attrName>ppt_x</p:attrName>
                                          <p:attrName>ppt_y</p:attrName>
                                        </p:attrNameLst>
                                      </p:cBhvr>
                                      <p:rCtr x="13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p_Sys_Knowledge">
            <a:extLst>
              <a:ext uri="{FF2B5EF4-FFF2-40B4-BE49-F238E27FC236}">
                <a16:creationId xmlns:a16="http://schemas.microsoft.com/office/drawing/2014/main" id="{3DC72C55-630B-A84C-870F-405EA4975160}"/>
              </a:ext>
            </a:extLst>
          </p:cNvPr>
          <p:cNvGrpSpPr/>
          <p:nvPr/>
        </p:nvGrpSpPr>
        <p:grpSpPr>
          <a:xfrm>
            <a:off x="12043848" y="0"/>
            <a:ext cx="3097552" cy="1784471"/>
            <a:chOff x="10628861" y="4189888"/>
            <a:chExt cx="3097552" cy="1784471"/>
          </a:xfrm>
        </p:grpSpPr>
        <p:pic>
          <p:nvPicPr>
            <p:cNvPr id="3" name="Picture 2">
              <a:extLst>
                <a:ext uri="{FF2B5EF4-FFF2-40B4-BE49-F238E27FC236}">
                  <a16:creationId xmlns:a16="http://schemas.microsoft.com/office/drawing/2014/main" id="{3CFB186E-65A8-F147-9836-10DFB9967064}"/>
                </a:ext>
              </a:extLst>
            </p:cNvPr>
            <p:cNvPicPr>
              <a:picLocks noChangeAspect="1"/>
            </p:cNvPicPr>
            <p:nvPr/>
          </p:nvPicPr>
          <p:blipFill>
            <a:blip r:embed="rId3"/>
            <a:stretch>
              <a:fillRect/>
            </a:stretch>
          </p:blipFill>
          <p:spPr>
            <a:xfrm>
              <a:off x="11350056" y="4380201"/>
              <a:ext cx="1586226" cy="1594158"/>
            </a:xfrm>
            <a:prstGeom prst="rect">
              <a:avLst/>
            </a:prstGeom>
          </p:spPr>
        </p:pic>
        <p:sp>
          <p:nvSpPr>
            <p:cNvPr id="4" name="TextBox 27"/>
            <p:cNvSpPr txBox="1">
              <a:spLocks noChangeArrowheads="1"/>
            </p:cNvSpPr>
            <p:nvPr/>
          </p:nvSpPr>
          <p:spPr bwMode="auto">
            <a:xfrm>
              <a:off x="10628861" y="4189888"/>
              <a:ext cx="3097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mazon Ember" panose="02000000000000000000" pitchFamily="34" charset="0"/>
                </a:defRPr>
              </a:lvl1pPr>
              <a:lvl2pPr marL="742950" indent="-285750">
                <a:defRPr sz="2100">
                  <a:solidFill>
                    <a:schemeClr val="tx1"/>
                  </a:solidFill>
                  <a:latin typeface="Amazon Ember" panose="02000000000000000000" pitchFamily="34" charset="0"/>
                </a:defRPr>
              </a:lvl2pPr>
              <a:lvl3pPr marL="1143000" indent="-228600">
                <a:defRPr sz="2100">
                  <a:solidFill>
                    <a:schemeClr val="tx1"/>
                  </a:solidFill>
                  <a:latin typeface="Amazon Ember" panose="02000000000000000000" pitchFamily="34" charset="0"/>
                </a:defRPr>
              </a:lvl3pPr>
              <a:lvl4pPr marL="1600200" indent="-228600">
                <a:defRPr sz="2100">
                  <a:solidFill>
                    <a:schemeClr val="tx1"/>
                  </a:solidFill>
                  <a:latin typeface="Amazon Ember" panose="02000000000000000000" pitchFamily="34" charset="0"/>
                </a:defRPr>
              </a:lvl4pPr>
              <a:lvl5pPr marL="2057400" indent="-228600">
                <a:defRPr sz="2100">
                  <a:solidFill>
                    <a:schemeClr val="tx1"/>
                  </a:solidFill>
                  <a:latin typeface="Amazon Ember" panose="02000000000000000000" pitchFamily="34" charset="0"/>
                </a:defRPr>
              </a:lvl5pPr>
              <a:lvl6pPr marL="2514600" indent="-228600" defTabSz="1096963" fontAlgn="base">
                <a:spcBef>
                  <a:spcPct val="0"/>
                </a:spcBef>
                <a:spcAft>
                  <a:spcPct val="0"/>
                </a:spcAft>
                <a:defRPr sz="2100">
                  <a:solidFill>
                    <a:schemeClr val="tx1"/>
                  </a:solidFill>
                  <a:latin typeface="Amazon Ember" panose="02000000000000000000" pitchFamily="34" charset="0"/>
                </a:defRPr>
              </a:lvl6pPr>
              <a:lvl7pPr marL="2971800" indent="-228600" defTabSz="1096963" fontAlgn="base">
                <a:spcBef>
                  <a:spcPct val="0"/>
                </a:spcBef>
                <a:spcAft>
                  <a:spcPct val="0"/>
                </a:spcAft>
                <a:defRPr sz="2100">
                  <a:solidFill>
                    <a:schemeClr val="tx1"/>
                  </a:solidFill>
                  <a:latin typeface="Amazon Ember" panose="02000000000000000000" pitchFamily="34" charset="0"/>
                </a:defRPr>
              </a:lvl7pPr>
              <a:lvl8pPr marL="3429000" indent="-228600" defTabSz="1096963" fontAlgn="base">
                <a:spcBef>
                  <a:spcPct val="0"/>
                </a:spcBef>
                <a:spcAft>
                  <a:spcPct val="0"/>
                </a:spcAft>
                <a:defRPr sz="2100">
                  <a:solidFill>
                    <a:schemeClr val="tx1"/>
                  </a:solidFill>
                  <a:latin typeface="Amazon Ember" panose="02000000000000000000" pitchFamily="34" charset="0"/>
                </a:defRPr>
              </a:lvl8pPr>
              <a:lvl9pPr marL="3886200" indent="-228600" defTabSz="1096963" fontAlgn="base">
                <a:spcBef>
                  <a:spcPct val="0"/>
                </a:spcBef>
                <a:spcAft>
                  <a:spcPct val="0"/>
                </a:spcAft>
                <a:defRPr sz="2100">
                  <a:solidFill>
                    <a:schemeClr val="tx1"/>
                  </a:solidFill>
                  <a:latin typeface="Amazon Ember" panose="02000000000000000000" pitchFamily="34" charset="0"/>
                </a:defRPr>
              </a:lvl9pPr>
            </a:lstStyle>
            <a:p>
              <a:pPr marL="0" marR="0" lvl="0" indent="0" algn="ctr" defTabSz="1096963"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 name="Title 1"/>
          <p:cNvSpPr>
            <a:spLocks noGrp="1"/>
          </p:cNvSpPr>
          <p:nvPr>
            <p:ph type="title"/>
          </p:nvPr>
        </p:nvSpPr>
        <p:spPr>
          <a:xfrm>
            <a:off x="548640" y="183898"/>
            <a:ext cx="13510260" cy="873186"/>
          </a:xfrm>
        </p:spPr>
        <p:txBody>
          <a:bodyPr/>
          <a:lstStyle/>
          <a:p>
            <a:r>
              <a:rPr lang="en-US" dirty="0"/>
              <a:t>Thresholds for testing</a:t>
            </a:r>
          </a:p>
        </p:txBody>
      </p:sp>
      <p:graphicFrame>
        <p:nvGraphicFramePr>
          <p:cNvPr id="6" name="Table 5">
            <a:extLst>
              <a:ext uri="{FF2B5EF4-FFF2-40B4-BE49-F238E27FC236}">
                <a16:creationId xmlns:a16="http://schemas.microsoft.com/office/drawing/2014/main" id="{8F13CDE2-6F59-5846-9459-FDD77F6AE49B}"/>
              </a:ext>
            </a:extLst>
          </p:cNvPr>
          <p:cNvGraphicFramePr>
            <a:graphicFrameLocks noGrp="1"/>
          </p:cNvGraphicFramePr>
          <p:nvPr>
            <p:extLst>
              <p:ext uri="{D42A27DB-BD31-4B8C-83A1-F6EECF244321}">
                <p14:modId xmlns:p14="http://schemas.microsoft.com/office/powerpoint/2010/main" val="1223664819"/>
              </p:ext>
            </p:extLst>
          </p:nvPr>
        </p:nvGraphicFramePr>
        <p:xfrm>
          <a:off x="1618453" y="2200232"/>
          <a:ext cx="12381924" cy="4468792"/>
        </p:xfrm>
        <a:graphic>
          <a:graphicData uri="http://schemas.openxmlformats.org/drawingml/2006/table">
            <a:tbl>
              <a:tblPr/>
              <a:tblGrid>
                <a:gridCol w="1184007">
                  <a:extLst>
                    <a:ext uri="{9D8B030D-6E8A-4147-A177-3AD203B41FA5}">
                      <a16:colId xmlns:a16="http://schemas.microsoft.com/office/drawing/2014/main" val="765262751"/>
                    </a:ext>
                  </a:extLst>
                </a:gridCol>
                <a:gridCol w="1642795">
                  <a:extLst>
                    <a:ext uri="{9D8B030D-6E8A-4147-A177-3AD203B41FA5}">
                      <a16:colId xmlns:a16="http://schemas.microsoft.com/office/drawing/2014/main" val="1354789158"/>
                    </a:ext>
                  </a:extLst>
                </a:gridCol>
                <a:gridCol w="1239437">
                  <a:extLst>
                    <a:ext uri="{9D8B030D-6E8A-4147-A177-3AD203B41FA5}">
                      <a16:colId xmlns:a16="http://schemas.microsoft.com/office/drawing/2014/main" val="1442944311"/>
                    </a:ext>
                  </a:extLst>
                </a:gridCol>
                <a:gridCol w="1550564">
                  <a:extLst>
                    <a:ext uri="{9D8B030D-6E8A-4147-A177-3AD203B41FA5}">
                      <a16:colId xmlns:a16="http://schemas.microsoft.com/office/drawing/2014/main" val="772008595"/>
                    </a:ext>
                  </a:extLst>
                </a:gridCol>
                <a:gridCol w="2227432">
                  <a:extLst>
                    <a:ext uri="{9D8B030D-6E8A-4147-A177-3AD203B41FA5}">
                      <a16:colId xmlns:a16="http://schemas.microsoft.com/office/drawing/2014/main" val="2773787334"/>
                    </a:ext>
                  </a:extLst>
                </a:gridCol>
                <a:gridCol w="2068600">
                  <a:extLst>
                    <a:ext uri="{9D8B030D-6E8A-4147-A177-3AD203B41FA5}">
                      <a16:colId xmlns:a16="http://schemas.microsoft.com/office/drawing/2014/main" val="1112135979"/>
                    </a:ext>
                  </a:extLst>
                </a:gridCol>
                <a:gridCol w="2469089">
                  <a:extLst>
                    <a:ext uri="{9D8B030D-6E8A-4147-A177-3AD203B41FA5}">
                      <a16:colId xmlns:a16="http://schemas.microsoft.com/office/drawing/2014/main" val="3281982674"/>
                    </a:ext>
                  </a:extLst>
                </a:gridCol>
              </a:tblGrid>
              <a:tr h="448228">
                <a:tc gridSpan="7">
                  <a:txBody>
                    <a:bodyPr/>
                    <a:lstStyle/>
                    <a:p>
                      <a:pPr algn="l" fontAlgn="b"/>
                      <a:r>
                        <a:rPr lang="en-US" sz="20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Metrics and Thresholds "What does good look like?"</a:t>
                      </a:r>
                    </a:p>
                  </a:txBody>
                  <a:tcPr marL="101298" marR="101298" marT="50649" marB="5064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8275295"/>
                  </a:ext>
                </a:extLst>
              </a:tr>
              <a:tr h="517268">
                <a:tc>
                  <a:txBody>
                    <a:bodyPr/>
                    <a:lstStyle/>
                    <a:p>
                      <a:pPr algn="l" fontAlgn="b"/>
                      <a:r>
                        <a:rPr lang="en-US" sz="1500" b="1" i="0" u="none" strike="noStrike" dirty="0">
                          <a:solidFill>
                            <a:srgbClr val="FFFFFF"/>
                          </a:solidFill>
                          <a:effectLst/>
                          <a:latin typeface="+mn-lt"/>
                        </a:rPr>
                        <a:t>Workload</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Component</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Sub-component</a:t>
                      </a:r>
                      <a:endParaRPr lang="en-US" sz="1500" b="1" i="0" u="none" strike="noStrike" dirty="0">
                        <a:solidFill>
                          <a:srgbClr val="FFFFFF"/>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Metric</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Test</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Thresholds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500" b="1" i="0" u="none" strike="noStrike" dirty="0">
                          <a:solidFill>
                            <a:srgbClr val="FFFFFF"/>
                          </a:solidFill>
                          <a:effectLst/>
                          <a:latin typeface="+mn-lt"/>
                        </a:rPr>
                        <a:t>Source</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79119993"/>
                  </a:ext>
                </a:extLst>
              </a:tr>
              <a:tr h="602476">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Operating System</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non-kernel boot errors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successful boot</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0 boot errors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/var/log/message</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9309935"/>
                  </a:ext>
                </a:extLst>
              </a:tr>
              <a:tr h="322582">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Boot log</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unplanned reboot</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unclean shutdown in logs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0 unclean shutdowns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/var/log/boot.log</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6716179"/>
                  </a:ext>
                </a:extLst>
              </a:tr>
              <a:tr h="322582">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CPU</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max utilization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is CPU 100%</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100% &gt; 15 min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CPU utilization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76655660"/>
                  </a:ext>
                </a:extLst>
              </a:tr>
              <a:tr h="602476">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Memory</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memory available</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 remaining</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&lt; 10% for more than 5 min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Memory utilization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0544032"/>
                  </a:ext>
                </a:extLst>
              </a:tr>
              <a:tr h="602476">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Server</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Disk I/O</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IOPs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IOPs &gt; minimum app required</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&lt; 10,000 IOPs during write</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Disk I/O utilization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55089680"/>
                  </a:ext>
                </a:extLst>
              </a:tr>
              <a:tr h="602476">
                <a:tc>
                  <a:txBody>
                    <a:bodyPr/>
                    <a:lstStyle/>
                    <a:p>
                      <a:pPr algn="l" fontAlgn="b"/>
                      <a:r>
                        <a:rPr lang="en-US" sz="1500" b="0" i="0" u="none" strike="noStrike" dirty="0">
                          <a:solidFill>
                            <a:srgbClr val="000000"/>
                          </a:solidFill>
                          <a:effectLst/>
                          <a:latin typeface="+mn-lt"/>
                        </a:rPr>
                        <a:t>Imagetrends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Errors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number of errors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error uploading files</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&lt; 1 upload error per session</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fr" sz="1500" b="0" i="0" u="none" strike="noStrike">
                          <a:solidFill>
                            <a:srgbClr val="000000"/>
                          </a:solidFill>
                          <a:effectLst/>
                          <a:latin typeface="+mn-lt"/>
                        </a:rPr>
                        <a:t>/opt/imagetrends-logs/ui/application.log</a:t>
                      </a:r>
                    </a:p>
                  </a:txBody>
                  <a:tcPr marL="6216" marR="6216" marT="6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9719358"/>
                  </a:ext>
                </a:extLst>
              </a:tr>
              <a:tr h="448228">
                <a:tc gridSpan="7">
                  <a:txBody>
                    <a:bodyPr/>
                    <a:lstStyle/>
                    <a:p>
                      <a:pPr algn="l" fontAlgn="b"/>
                      <a:r>
                        <a:rPr lang="en-US" sz="1500" b="0" i="1" u="none" strike="noStrike" dirty="0">
                          <a:solidFill>
                            <a:srgbClr val="000000"/>
                          </a:solidFill>
                          <a:effectLst/>
                          <a:latin typeface="+mn-lt"/>
                        </a:rPr>
                        <a:t>And many more…</a:t>
                      </a:r>
                    </a:p>
                  </a:txBody>
                  <a:tcPr marL="101298" marR="101298" marT="50649" marB="5064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32992763"/>
                  </a:ext>
                </a:extLst>
              </a:tr>
            </a:tbl>
          </a:graphicData>
        </a:graphic>
      </p:graphicFrame>
    </p:spTree>
    <p:extLst>
      <p:ext uri="{BB962C8B-B14F-4D97-AF65-F5344CB8AC3E}">
        <p14:creationId xmlns:p14="http://schemas.microsoft.com/office/powerpoint/2010/main" val="102445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2713 -3.7037E-6 L -1.63194E-6 -3.7037E-6 " pathEditMode="relative" rAng="0" ptsTypes="AA">
                                      <p:cBhvr>
                                        <p:cTn id="8" dur="500" fill="hold"/>
                                        <p:tgtEl>
                                          <p:spTgt spid="6"/>
                                        </p:tgtEl>
                                        <p:attrNameLst>
                                          <p:attrName>ppt_x</p:attrName>
                                          <p:attrName>ppt_y</p:attrName>
                                        </p:attrNameLst>
                                      </p:cBhvr>
                                      <p:rCtr x="133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p_Actions">
            <a:extLst>
              <a:ext uri="{FF2B5EF4-FFF2-40B4-BE49-F238E27FC236}">
                <a16:creationId xmlns:a16="http://schemas.microsoft.com/office/drawing/2014/main" id="{BC55E77A-2391-BC4B-88B4-26062D7A6970}"/>
              </a:ext>
            </a:extLst>
          </p:cNvPr>
          <p:cNvGrpSpPr/>
          <p:nvPr/>
        </p:nvGrpSpPr>
        <p:grpSpPr>
          <a:xfrm>
            <a:off x="12796491" y="135464"/>
            <a:ext cx="1693863" cy="1657546"/>
            <a:chOff x="9508773" y="2378645"/>
            <a:chExt cx="1693863" cy="1657546"/>
          </a:xfrm>
        </p:grpSpPr>
        <p:sp>
          <p:nvSpPr>
            <p:cNvPr id="3" name="TextBox 2">
              <a:extLst>
                <a:ext uri="{FF2B5EF4-FFF2-40B4-BE49-F238E27FC236}">
                  <a16:creationId xmlns:a16="http://schemas.microsoft.com/office/drawing/2014/main" id="{B8D0E9C4-34B9-FC48-9F61-6F766FA7E145}"/>
                </a:ext>
              </a:extLst>
            </p:cNvPr>
            <p:cNvSpPr txBox="1"/>
            <p:nvPr/>
          </p:nvSpPr>
          <p:spPr bwMode="auto">
            <a:xfrm>
              <a:off x="9508773" y="2378645"/>
              <a:ext cx="1693863" cy="418256"/>
            </a:xfrm>
            <a:prstGeom prst="rect">
              <a:avLst/>
            </a:prstGeom>
            <a:noFill/>
          </p:spPr>
          <p:txBody>
            <a:bodyPr>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endParaRPr kumimoji="0" lang="en-US" sz="2118"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4" name="Picture 3">
              <a:extLst>
                <a:ext uri="{FF2B5EF4-FFF2-40B4-BE49-F238E27FC236}">
                  <a16:creationId xmlns:a16="http://schemas.microsoft.com/office/drawing/2014/main" id="{8ED158EF-78E6-5844-A1E5-E9B6CAF4F3AD}"/>
                </a:ext>
              </a:extLst>
            </p:cNvPr>
            <p:cNvPicPr>
              <a:picLocks noChangeAspect="1"/>
            </p:cNvPicPr>
            <p:nvPr/>
          </p:nvPicPr>
          <p:blipFill>
            <a:blip r:embed="rId3"/>
            <a:stretch>
              <a:fillRect/>
            </a:stretch>
          </p:blipFill>
          <p:spPr>
            <a:xfrm>
              <a:off x="9661594" y="2647971"/>
              <a:ext cx="1388220" cy="1388220"/>
            </a:xfrm>
            <a:prstGeom prst="rect">
              <a:avLst/>
            </a:prstGeom>
          </p:spPr>
        </p:pic>
      </p:grpSp>
      <p:sp>
        <p:nvSpPr>
          <p:cNvPr id="5" name="Title 1"/>
          <p:cNvSpPr>
            <a:spLocks noGrp="1"/>
          </p:cNvSpPr>
          <p:nvPr>
            <p:ph type="title"/>
          </p:nvPr>
        </p:nvSpPr>
        <p:spPr>
          <a:xfrm>
            <a:off x="548640" y="183898"/>
            <a:ext cx="13510260" cy="873186"/>
          </a:xfrm>
        </p:spPr>
        <p:txBody>
          <a:bodyPr/>
          <a:lstStyle/>
          <a:p>
            <a:r>
              <a:rPr lang="en-US" dirty="0"/>
              <a:t>Reporting</a:t>
            </a:r>
          </a:p>
        </p:txBody>
      </p:sp>
      <p:graphicFrame>
        <p:nvGraphicFramePr>
          <p:cNvPr id="6" name="Table 5">
            <a:extLst>
              <a:ext uri="{FF2B5EF4-FFF2-40B4-BE49-F238E27FC236}">
                <a16:creationId xmlns:a16="http://schemas.microsoft.com/office/drawing/2014/main" id="{85B1418A-7B5A-A14F-B60E-14886CEBDD23}"/>
              </a:ext>
            </a:extLst>
          </p:cNvPr>
          <p:cNvGraphicFramePr>
            <a:graphicFrameLocks noGrp="1"/>
          </p:cNvGraphicFramePr>
          <p:nvPr>
            <p:extLst>
              <p:ext uri="{D42A27DB-BD31-4B8C-83A1-F6EECF244321}">
                <p14:modId xmlns:p14="http://schemas.microsoft.com/office/powerpoint/2010/main" val="1443183265"/>
              </p:ext>
            </p:extLst>
          </p:nvPr>
        </p:nvGraphicFramePr>
        <p:xfrm>
          <a:off x="1719893" y="1840728"/>
          <a:ext cx="12237768" cy="4379180"/>
        </p:xfrm>
        <a:graphic>
          <a:graphicData uri="http://schemas.openxmlformats.org/drawingml/2006/table">
            <a:tbl>
              <a:tblPr/>
              <a:tblGrid>
                <a:gridCol w="3581448">
                  <a:extLst>
                    <a:ext uri="{9D8B030D-6E8A-4147-A177-3AD203B41FA5}">
                      <a16:colId xmlns:a16="http://schemas.microsoft.com/office/drawing/2014/main" val="3258568763"/>
                    </a:ext>
                  </a:extLst>
                </a:gridCol>
                <a:gridCol w="2433607">
                  <a:extLst>
                    <a:ext uri="{9D8B030D-6E8A-4147-A177-3AD203B41FA5}">
                      <a16:colId xmlns:a16="http://schemas.microsoft.com/office/drawing/2014/main" val="3884597304"/>
                    </a:ext>
                  </a:extLst>
                </a:gridCol>
                <a:gridCol w="2977847">
                  <a:extLst>
                    <a:ext uri="{9D8B030D-6E8A-4147-A177-3AD203B41FA5}">
                      <a16:colId xmlns:a16="http://schemas.microsoft.com/office/drawing/2014/main" val="21153800"/>
                    </a:ext>
                  </a:extLst>
                </a:gridCol>
                <a:gridCol w="3244866">
                  <a:extLst>
                    <a:ext uri="{9D8B030D-6E8A-4147-A177-3AD203B41FA5}">
                      <a16:colId xmlns:a16="http://schemas.microsoft.com/office/drawing/2014/main" val="256744567"/>
                    </a:ext>
                  </a:extLst>
                </a:gridCol>
              </a:tblGrid>
              <a:tr h="294609">
                <a:tc gridSpan="4">
                  <a:txBody>
                    <a:bodyPr/>
                    <a:lstStyle/>
                    <a:p>
                      <a:pPr algn="l" fontAlgn="b"/>
                      <a:r>
                        <a:rPr lang="en-US" sz="1800" b="1" i="0" u="none" strike="noStrike" dirty="0" smtClean="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 Reporting </a:t>
                      </a:r>
                      <a:r>
                        <a:rPr lang="en-US" sz="1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and </a:t>
                      </a:r>
                      <a:r>
                        <a:rPr lang="en-US" sz="1800" b="1" i="0" u="none" strike="noStrike" dirty="0" smtClean="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Trending</a:t>
                      </a:r>
                      <a:endParaRPr lang="en-US" sz="1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6374" marR="6374" marT="6374"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AE78D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64445705"/>
                  </a:ext>
                </a:extLst>
              </a:tr>
              <a:tr h="294609">
                <a:tc>
                  <a:txBody>
                    <a:bodyPr/>
                    <a:lstStyle/>
                    <a:p>
                      <a:pPr algn="l" fontAlgn="b"/>
                      <a:r>
                        <a:rPr lang="en-US" sz="1500" b="1" i="0" u="none" strike="noStrike" dirty="0" smtClean="0">
                          <a:solidFill>
                            <a:srgbClr val="FFFFFF"/>
                          </a:solidFill>
                          <a:effectLst/>
                          <a:latin typeface="+mn-lt"/>
                        </a:rPr>
                        <a:t>Subscribers / Personas</a:t>
                      </a:r>
                      <a:endParaRPr lang="en-US" sz="1500" b="1" i="0" u="none" strike="noStrike" dirty="0">
                        <a:solidFill>
                          <a:srgbClr val="FFFFFF"/>
                        </a:solidFill>
                        <a:effectLst/>
                        <a:latin typeface="+mn-lt"/>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n-US" sz="1500" b="1" i="0" u="none" strike="noStrike" dirty="0">
                          <a:solidFill>
                            <a:srgbClr val="FFFFFF"/>
                          </a:solidFill>
                          <a:effectLst/>
                          <a:latin typeface="+mn-lt"/>
                        </a:rPr>
                        <a:t>Topic</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n-US" sz="1500" b="1" i="0" u="none" strike="noStrike" dirty="0">
                          <a:solidFill>
                            <a:srgbClr val="FFFFFF"/>
                          </a:solidFill>
                          <a:effectLst/>
                          <a:latin typeface="+mn-lt"/>
                        </a:rPr>
                        <a:t>Queries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n-US" sz="1500" b="1" i="0" u="none" strike="noStrike" dirty="0">
                          <a:solidFill>
                            <a:srgbClr val="FFFFFF"/>
                          </a:solidFill>
                          <a:effectLst/>
                          <a:latin typeface="+mn-lt"/>
                        </a:rPr>
                        <a:t>Format(s)</a:t>
                      </a:r>
                      <a:endParaRPr lang="en-US" sz="1500" b="1" i="0" u="none" strike="noStrike" dirty="0">
                        <a:solidFill>
                          <a:srgbClr val="FFFFFF"/>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2769672269"/>
                  </a:ext>
                </a:extLst>
              </a:tr>
              <a:tr h="294609">
                <a:tc>
                  <a:txBody>
                    <a:bodyPr/>
                    <a:lstStyle/>
                    <a:p>
                      <a:pPr algn="l" fontAlgn="b"/>
                      <a:r>
                        <a:rPr lang="en-US" sz="1500" b="0" i="0" u="none" strike="noStrike" dirty="0">
                          <a:solidFill>
                            <a:srgbClr val="000000"/>
                          </a:solidFill>
                          <a:effectLst/>
                          <a:latin typeface="+mn-lt"/>
                        </a:rPr>
                        <a:t>Finance, Budget Manager</a:t>
                      </a:r>
                      <a:endParaRPr lang="en-US" sz="1500" b="0" i="0" u="none" strike="noStrike" dirty="0">
                        <a:solidFill>
                          <a:srgbClr val="000000"/>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Cost and Usage Reports</a:t>
                      </a:r>
                      <a:endParaRPr lang="en-US" sz="1500" b="0" i="0" u="none" strike="noStrike" dirty="0">
                        <a:solidFill>
                          <a:srgbClr val="000000"/>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Billing alarms and projected usage</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Business level view of operations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9364121"/>
                  </a:ext>
                </a:extLst>
              </a:tr>
              <a:tr h="581227">
                <a:tc>
                  <a:txBody>
                    <a:bodyPr/>
                    <a:lstStyle/>
                    <a:p>
                      <a:pPr algn="l" fontAlgn="b"/>
                      <a:r>
                        <a:rPr lang="en-US" sz="1500" b="0" i="0" u="none" strike="noStrike" dirty="0">
                          <a:solidFill>
                            <a:srgbClr val="000000"/>
                          </a:solidFill>
                          <a:effectLst/>
                          <a:latin typeface="+mn-lt"/>
                        </a:rPr>
                        <a:t>CEO, Sales, Ops Teams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User Activity and Volume</a:t>
                      </a:r>
                      <a:endParaRPr lang="en-US" sz="1500" b="0" i="0" u="none" strike="noStrike" dirty="0">
                        <a:solidFill>
                          <a:srgbClr val="000000"/>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Active sessions and utilization</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delivery and service availability</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1778479"/>
                  </a:ext>
                </a:extLst>
              </a:tr>
              <a:tr h="581227">
                <a:tc>
                  <a:txBody>
                    <a:bodyPr/>
                    <a:lstStyle/>
                    <a:p>
                      <a:pPr algn="l" fontAlgn="b"/>
                      <a:r>
                        <a:rPr lang="en-US" sz="1500" b="0" i="0" u="none" strike="noStrike" dirty="0">
                          <a:solidFill>
                            <a:srgbClr val="000000"/>
                          </a:solidFill>
                          <a:effectLst/>
                          <a:latin typeface="+mn-lt"/>
                        </a:rPr>
                        <a:t>CEO, Ops Teams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Uptime Rating</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Component availability &amp; Overall Uptime</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Compliance</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83916406"/>
                  </a:ext>
                </a:extLst>
              </a:tr>
              <a:tr h="294609">
                <a:tc>
                  <a:txBody>
                    <a:bodyPr/>
                    <a:lstStyle/>
                    <a:p>
                      <a:pPr algn="l" fontAlgn="b"/>
                      <a:r>
                        <a:rPr lang="en-US" sz="1500" b="0" i="0" u="none" strike="noStrike" dirty="0">
                          <a:solidFill>
                            <a:srgbClr val="000000"/>
                          </a:solidFill>
                          <a:effectLst/>
                          <a:latin typeface="+mn-lt"/>
                        </a:rPr>
                        <a:t>Ops Teams, Dev Teams, QA</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Session Latency</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User transactions and tracing</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Measures of application performance</a:t>
                      </a:r>
                      <a:endParaRPr lang="en-US" sz="1500" b="0" i="0" u="none" strike="noStrike" dirty="0">
                        <a:solidFill>
                          <a:srgbClr val="000000"/>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40384533"/>
                  </a:ext>
                </a:extLst>
              </a:tr>
              <a:tr h="581227">
                <a:tc>
                  <a:txBody>
                    <a:bodyPr/>
                    <a:lstStyle/>
                    <a:p>
                      <a:pPr algn="l" fontAlgn="b"/>
                      <a:r>
                        <a:rPr lang="en-US" sz="1500" b="0" i="0" u="none" strike="noStrike" dirty="0">
                          <a:solidFill>
                            <a:srgbClr val="000000"/>
                          </a:solidFill>
                          <a:effectLst/>
                          <a:latin typeface="+mn-lt"/>
                        </a:rPr>
                        <a:t>CIO, App Owner, Bus. Owner, Ops Teams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Health</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Current health check status on components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Application health</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59735473"/>
                  </a:ext>
                </a:extLst>
              </a:tr>
              <a:tr h="581227">
                <a:tc>
                  <a:txBody>
                    <a:bodyPr/>
                    <a:lstStyle/>
                    <a:p>
                      <a:pPr algn="l" fontAlgn="b"/>
                      <a:r>
                        <a:rPr lang="en-US" sz="1500" b="0" i="0" u="none" strike="noStrike" dirty="0">
                          <a:solidFill>
                            <a:srgbClr val="000000"/>
                          </a:solidFill>
                          <a:effectLst/>
                          <a:latin typeface="+mn-lt"/>
                        </a:rPr>
                        <a:t>Bus. Owner, Ops Teams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Monitoring and Incident Response</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Current alarms and open incidents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Effective alerts and responses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81444005"/>
                  </a:ext>
                </a:extLst>
              </a:tr>
              <a:tr h="581227">
                <a:tc>
                  <a:txBody>
                    <a:bodyPr/>
                    <a:lstStyle/>
                    <a:p>
                      <a:pPr algn="l" fontAlgn="b"/>
                      <a:r>
                        <a:rPr lang="en-US" sz="1500" b="0" i="0" u="none" strike="noStrike" dirty="0">
                          <a:solidFill>
                            <a:srgbClr val="000000"/>
                          </a:solidFill>
                          <a:effectLst/>
                          <a:latin typeface="+mn-lt"/>
                        </a:rPr>
                        <a:t>CISO, Audit, Compliance, CIO</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Security &amp; Compliance Status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Patch compliance status and </a:t>
                      </a:r>
                      <a:r>
                        <a:rPr lang="en-US" sz="1500" b="0" i="0" u="none" strike="noStrike" baseline="0" dirty="0">
                          <a:solidFill>
                            <a:srgbClr val="000000"/>
                          </a:solidFill>
                          <a:effectLst/>
                          <a:latin typeface="+mn-lt"/>
                        </a:rPr>
                        <a:t>violations</a:t>
                      </a:r>
                      <a:endParaRPr lang="en-US" sz="1500" b="0" i="0" u="none" strike="noStrike" baseline="0" dirty="0">
                        <a:solidFill>
                          <a:srgbClr val="000000"/>
                        </a:solidFill>
                        <a:effectLst/>
                        <a:latin typeface="Amazon Ember" panose="02000000000000000000" pitchFamily="2" charset="0"/>
                      </a:endParaRP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Security situational awareness</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86304872"/>
                  </a:ext>
                </a:extLst>
              </a:tr>
              <a:tr h="294609">
                <a:tc gridSpan="4">
                  <a:txBody>
                    <a:bodyPr/>
                    <a:lstStyle/>
                    <a:p>
                      <a:pPr algn="l" fontAlgn="b"/>
                      <a:r>
                        <a:rPr lang="en-US" sz="1500" b="0" i="1" u="none" strike="noStrike" dirty="0">
                          <a:solidFill>
                            <a:srgbClr val="000000"/>
                          </a:solidFill>
                          <a:effectLst/>
                          <a:latin typeface="+mn-lt"/>
                        </a:rPr>
                        <a:t>And many more…</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23530255"/>
                  </a:ext>
                </a:extLst>
              </a:tr>
            </a:tbl>
          </a:graphicData>
        </a:graphic>
      </p:graphicFrame>
    </p:spTree>
    <p:extLst>
      <p:ext uri="{BB962C8B-B14F-4D97-AF65-F5344CB8AC3E}">
        <p14:creationId xmlns:p14="http://schemas.microsoft.com/office/powerpoint/2010/main" val="607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357 0 L 4.65278E-6 0 " pathEditMode="relative" rAng="0" ptsTypes="AA">
                                      <p:cBhvr>
                                        <p:cTn id="8" dur="500" fill="hold"/>
                                        <p:tgtEl>
                                          <p:spTgt spid="6"/>
                                        </p:tgtEl>
                                        <p:attrNameLst>
                                          <p:attrName>ppt_x</p:attrName>
                                          <p:attrName>ppt_y</p:attrName>
                                        </p:attrNameLst>
                                      </p:cBhvr>
                                      <p:rCtr x="183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p_Actions">
            <a:extLst>
              <a:ext uri="{FF2B5EF4-FFF2-40B4-BE49-F238E27FC236}">
                <a16:creationId xmlns:a16="http://schemas.microsoft.com/office/drawing/2014/main" id="{BC55E77A-2391-BC4B-88B4-26062D7A6970}"/>
              </a:ext>
            </a:extLst>
          </p:cNvPr>
          <p:cNvGrpSpPr/>
          <p:nvPr/>
        </p:nvGrpSpPr>
        <p:grpSpPr>
          <a:xfrm>
            <a:off x="12796491" y="135464"/>
            <a:ext cx="1693863" cy="1657546"/>
            <a:chOff x="9508773" y="2378645"/>
            <a:chExt cx="1693863" cy="1657546"/>
          </a:xfrm>
        </p:grpSpPr>
        <p:sp>
          <p:nvSpPr>
            <p:cNvPr id="8" name="TextBox 7">
              <a:extLst>
                <a:ext uri="{FF2B5EF4-FFF2-40B4-BE49-F238E27FC236}">
                  <a16:creationId xmlns:a16="http://schemas.microsoft.com/office/drawing/2014/main" id="{B8D0E9C4-34B9-FC48-9F61-6F766FA7E145}"/>
                </a:ext>
              </a:extLst>
            </p:cNvPr>
            <p:cNvSpPr txBox="1"/>
            <p:nvPr/>
          </p:nvSpPr>
          <p:spPr bwMode="auto">
            <a:xfrm>
              <a:off x="9508773" y="2378645"/>
              <a:ext cx="1693863" cy="418256"/>
            </a:xfrm>
            <a:prstGeom prst="rect">
              <a:avLst/>
            </a:prstGeom>
            <a:noFill/>
          </p:spPr>
          <p:txBody>
            <a:bodyPr>
              <a:spAutoFit/>
            </a:bodyPr>
            <a:lstStyle/>
            <a:p>
              <a:pPr marL="0" marR="0" lvl="0" indent="0" algn="ctr" defTabSz="1097212" rtl="0" eaLnBrk="1" fontAlgn="auto" latinLnBrk="0" hangingPunct="1">
                <a:lnSpc>
                  <a:spcPct val="100000"/>
                </a:lnSpc>
                <a:spcBef>
                  <a:spcPts val="0"/>
                </a:spcBef>
                <a:spcAft>
                  <a:spcPts val="0"/>
                </a:spcAft>
                <a:buClrTx/>
                <a:buSzTx/>
                <a:buFontTx/>
                <a:buNone/>
                <a:tabLst/>
                <a:defRPr/>
              </a:pPr>
              <a:endParaRPr kumimoji="0" lang="en-US" sz="2118"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9" name="Picture 8">
              <a:extLst>
                <a:ext uri="{FF2B5EF4-FFF2-40B4-BE49-F238E27FC236}">
                  <a16:creationId xmlns:a16="http://schemas.microsoft.com/office/drawing/2014/main" id="{8ED158EF-78E6-5844-A1E5-E9B6CAF4F3AD}"/>
                </a:ext>
              </a:extLst>
            </p:cNvPr>
            <p:cNvPicPr>
              <a:picLocks noChangeAspect="1"/>
            </p:cNvPicPr>
            <p:nvPr/>
          </p:nvPicPr>
          <p:blipFill>
            <a:blip r:embed="rId3"/>
            <a:stretch>
              <a:fillRect/>
            </a:stretch>
          </p:blipFill>
          <p:spPr>
            <a:xfrm>
              <a:off x="9661594" y="2647971"/>
              <a:ext cx="1388220" cy="1388220"/>
            </a:xfrm>
            <a:prstGeom prst="rect">
              <a:avLst/>
            </a:prstGeom>
          </p:spPr>
        </p:pic>
      </p:grpSp>
      <p:sp>
        <p:nvSpPr>
          <p:cNvPr id="10" name="Title 1"/>
          <p:cNvSpPr>
            <a:spLocks noGrp="1"/>
          </p:cNvSpPr>
          <p:nvPr>
            <p:ph type="title"/>
          </p:nvPr>
        </p:nvSpPr>
        <p:spPr>
          <a:xfrm>
            <a:off x="548640" y="183898"/>
            <a:ext cx="13510260" cy="873186"/>
          </a:xfrm>
        </p:spPr>
        <p:txBody>
          <a:bodyPr/>
          <a:lstStyle/>
          <a:p>
            <a:r>
              <a:rPr lang="en-US" dirty="0" smtClean="0"/>
              <a:t>Alerts and </a:t>
            </a:r>
            <a:r>
              <a:rPr lang="en-US" dirty="0">
                <a:solidFill>
                  <a:srgbClr val="FFFFFF"/>
                </a:solidFill>
              </a:rPr>
              <a:t>actions</a:t>
            </a:r>
          </a:p>
        </p:txBody>
      </p:sp>
      <p:graphicFrame>
        <p:nvGraphicFramePr>
          <p:cNvPr id="11" name="Table 10">
            <a:extLst>
              <a:ext uri="{FF2B5EF4-FFF2-40B4-BE49-F238E27FC236}">
                <a16:creationId xmlns:a16="http://schemas.microsoft.com/office/drawing/2014/main" id="{D1C1104D-BE90-8B45-82BF-2474BFB9B1CE}"/>
              </a:ext>
            </a:extLst>
          </p:cNvPr>
          <p:cNvGraphicFramePr>
            <a:graphicFrameLocks noGrp="1"/>
          </p:cNvGraphicFramePr>
          <p:nvPr>
            <p:extLst>
              <p:ext uri="{D42A27DB-BD31-4B8C-83A1-F6EECF244321}">
                <p14:modId xmlns:p14="http://schemas.microsoft.com/office/powerpoint/2010/main" val="1860049253"/>
              </p:ext>
            </p:extLst>
          </p:nvPr>
        </p:nvGraphicFramePr>
        <p:xfrm>
          <a:off x="1750315" y="2305051"/>
          <a:ext cx="12197333" cy="4118416"/>
        </p:xfrm>
        <a:graphic>
          <a:graphicData uri="http://schemas.openxmlformats.org/drawingml/2006/table">
            <a:tbl>
              <a:tblPr/>
              <a:tblGrid>
                <a:gridCol w="1271012">
                  <a:extLst>
                    <a:ext uri="{9D8B030D-6E8A-4147-A177-3AD203B41FA5}">
                      <a16:colId xmlns:a16="http://schemas.microsoft.com/office/drawing/2014/main" val="446728669"/>
                    </a:ext>
                  </a:extLst>
                </a:gridCol>
                <a:gridCol w="1157059">
                  <a:extLst>
                    <a:ext uri="{9D8B030D-6E8A-4147-A177-3AD203B41FA5}">
                      <a16:colId xmlns:a16="http://schemas.microsoft.com/office/drawing/2014/main" val="2134036827"/>
                    </a:ext>
                  </a:extLst>
                </a:gridCol>
                <a:gridCol w="1045298">
                  <a:extLst>
                    <a:ext uri="{9D8B030D-6E8A-4147-A177-3AD203B41FA5}">
                      <a16:colId xmlns:a16="http://schemas.microsoft.com/office/drawing/2014/main" val="3763741068"/>
                    </a:ext>
                  </a:extLst>
                </a:gridCol>
                <a:gridCol w="2208931">
                  <a:extLst>
                    <a:ext uri="{9D8B030D-6E8A-4147-A177-3AD203B41FA5}">
                      <a16:colId xmlns:a16="http://schemas.microsoft.com/office/drawing/2014/main" val="156168050"/>
                    </a:ext>
                  </a:extLst>
                </a:gridCol>
                <a:gridCol w="1353576">
                  <a:extLst>
                    <a:ext uri="{9D8B030D-6E8A-4147-A177-3AD203B41FA5}">
                      <a16:colId xmlns:a16="http://schemas.microsoft.com/office/drawing/2014/main" val="1034776250"/>
                    </a:ext>
                  </a:extLst>
                </a:gridCol>
                <a:gridCol w="5161457">
                  <a:extLst>
                    <a:ext uri="{9D8B030D-6E8A-4147-A177-3AD203B41FA5}">
                      <a16:colId xmlns:a16="http://schemas.microsoft.com/office/drawing/2014/main" val="3945175631"/>
                    </a:ext>
                  </a:extLst>
                </a:gridCol>
              </a:tblGrid>
              <a:tr h="514802">
                <a:tc gridSpan="6">
                  <a:txBody>
                    <a:bodyPr/>
                    <a:lstStyle/>
                    <a:p>
                      <a:pPr algn="l" fontAlgn="b"/>
                      <a:r>
                        <a:rPr lang="en-US" sz="2800" b="1" i="0" u="none" strike="noStrike" dirty="0" smtClean="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 Events </a:t>
                      </a:r>
                      <a:r>
                        <a:rPr lang="en-US" sz="2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and </a:t>
                      </a:r>
                      <a:r>
                        <a:rPr lang="en-US" sz="2800" b="1" i="0" u="none" strike="noStrike" dirty="0" smtClean="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Alerts</a:t>
                      </a:r>
                      <a:endParaRPr lang="en-US" sz="2800" b="1" i="0" u="none" strike="noStrike"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252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6263964"/>
                  </a:ext>
                </a:extLst>
              </a:tr>
              <a:tr h="514802">
                <a:tc>
                  <a:txBody>
                    <a:bodyPr/>
                    <a:lstStyle/>
                    <a:p>
                      <a:pPr algn="l" rtl="0" fontAlgn="ctr"/>
                      <a:r>
                        <a:rPr lang="en-US" sz="1500" b="1" i="0" u="none" strike="noStrike" dirty="0">
                          <a:solidFill>
                            <a:srgbClr val="FFFFFF"/>
                          </a:solidFill>
                          <a:effectLst/>
                          <a:latin typeface="+mn-lt"/>
                        </a:rPr>
                        <a:t>Component</a:t>
                      </a: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rtl="0" fontAlgn="ctr"/>
                      <a:r>
                        <a:rPr lang="en-US" sz="1500" b="1" i="0" u="none" strike="noStrike" dirty="0">
                          <a:solidFill>
                            <a:srgbClr val="FFFFFF"/>
                          </a:solidFill>
                          <a:effectLst/>
                          <a:latin typeface="+mn-lt"/>
                        </a:rPr>
                        <a:t>Area</a:t>
                      </a: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rtl="0" fontAlgn="ctr"/>
                      <a:r>
                        <a:rPr lang="en-US" sz="1500" b="1" i="0" u="none" strike="noStrike" dirty="0">
                          <a:solidFill>
                            <a:srgbClr val="FFFFFF"/>
                          </a:solidFill>
                          <a:effectLst/>
                          <a:latin typeface="+mn-lt"/>
                        </a:rPr>
                        <a:t>Criticality</a:t>
                      </a: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rtl="0" fontAlgn="ctr"/>
                      <a:r>
                        <a:rPr lang="en-US" sz="1500" b="1" i="0" u="none" strike="noStrike" dirty="0">
                          <a:solidFill>
                            <a:srgbClr val="FFFFFF"/>
                          </a:solidFill>
                          <a:effectLst/>
                          <a:latin typeface="+mn-lt"/>
                        </a:rPr>
                        <a:t>Condition to Alert on</a:t>
                      </a: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rtl="0" fontAlgn="ctr"/>
                      <a:r>
                        <a:rPr lang="en-US" sz="1500" b="1" i="0" u="none" strike="noStrike" dirty="0">
                          <a:solidFill>
                            <a:srgbClr val="FFFFFF"/>
                          </a:solidFill>
                          <a:effectLst/>
                          <a:latin typeface="+mn-lt"/>
                        </a:rPr>
                        <a:t>Owner</a:t>
                      </a: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rtl="0" fontAlgn="ctr"/>
                      <a:r>
                        <a:rPr lang="en-US" sz="1500" b="1" i="0" u="none" strike="noStrike" dirty="0">
                          <a:solidFill>
                            <a:srgbClr val="FFFFFF"/>
                          </a:solidFill>
                          <a:effectLst/>
                          <a:latin typeface="+mn-lt"/>
                        </a:rPr>
                        <a:t>Action</a:t>
                      </a:r>
                      <a:endParaRPr lang="en-US" sz="1500" b="1" i="0" u="none" strike="noStrike" dirty="0">
                        <a:solidFill>
                          <a:srgbClr val="FFFFFF"/>
                        </a:solidFill>
                        <a:effectLst/>
                        <a:latin typeface="Amazon Ember" panose="02000000000000000000" pitchFamily="2" charset="0"/>
                      </a:endParaRPr>
                    </a:p>
                  </a:txBody>
                  <a:tcPr marL="7539" marR="7539" marT="7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4170439421"/>
                  </a:ext>
                </a:extLst>
              </a:tr>
              <a:tr h="514802">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Fault</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Critical</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More than </a:t>
                      </a:r>
                      <a:r>
                        <a:rPr lang="en-US" sz="1500" b="0" i="0" u="none" strike="noStrike" dirty="0" smtClean="0">
                          <a:solidFill>
                            <a:srgbClr val="000000"/>
                          </a:solidFill>
                          <a:effectLst/>
                          <a:latin typeface="+mn-lt"/>
                        </a:rPr>
                        <a:t>0 </a:t>
                      </a:r>
                      <a:r>
                        <a:rPr lang="en-US" sz="1500" b="0" i="0" u="none" strike="noStrike" dirty="0">
                          <a:solidFill>
                            <a:srgbClr val="000000"/>
                          </a:solidFill>
                          <a:effectLst/>
                          <a:latin typeface="+mn-lt"/>
                        </a:rPr>
                        <a:t>image </a:t>
                      </a:r>
                      <a:r>
                        <a:rPr lang="en-US" sz="1500" b="0" i="0" u="none" strike="noStrike" dirty="0" smtClean="0">
                          <a:solidFill>
                            <a:srgbClr val="000000"/>
                          </a:solidFill>
                          <a:effectLst/>
                          <a:latin typeface="+mn-lt"/>
                        </a:rPr>
                        <a:t>errors</a:t>
                      </a:r>
                      <a:endParaRPr lang="en-US" sz="1500" b="0" i="0" u="none" strike="noStrike" dirty="0">
                        <a:solidFill>
                          <a:srgbClr val="000000"/>
                        </a:solidFill>
                        <a:effectLst/>
                        <a:latin typeface="+mn-lt"/>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Ops</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Delete the bad image</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97947309"/>
                  </a:ext>
                </a:extLst>
              </a:tr>
              <a:tr h="514802">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Fault</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High</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Investigate Error</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Dev</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Event management/determine if a further response is required</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71083071"/>
                  </a:ext>
                </a:extLst>
              </a:tr>
              <a:tr h="514802">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Security</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Normal</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Investigate Warning</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Dev/Security</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Event management/determine if a further response is </a:t>
                      </a:r>
                      <a:r>
                        <a:rPr lang="en-US" sz="1500" b="0" i="0" u="none" strike="noStrike" dirty="0" smtClean="0">
                          <a:solidFill>
                            <a:srgbClr val="000000"/>
                          </a:solidFill>
                          <a:effectLst/>
                          <a:latin typeface="+mn-lt"/>
                        </a:rPr>
                        <a:t>required</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99934328"/>
                  </a:ext>
                </a:extLst>
              </a:tr>
              <a:tr h="514802">
                <a:tc>
                  <a:txBody>
                    <a:bodyPr/>
                    <a:lstStyle/>
                    <a:p>
                      <a:pPr algn="l" fontAlgn="b"/>
                      <a:r>
                        <a:rPr lang="en-US" sz="1500" b="0" i="0" u="none" strike="noStrike" dirty="0" smtClean="0">
                          <a:solidFill>
                            <a:srgbClr val="000000"/>
                          </a:solidFill>
                          <a:effectLst/>
                          <a:latin typeface="Amazon Ember" panose="02000000000000000000" pitchFamily="2" charset="0"/>
                        </a:rPr>
                        <a:t>Application</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Accounting</a:t>
                      </a:r>
                      <a:endParaRPr lang="en-US" sz="1500" b="0" i="0" u="none" strike="noStrike" dirty="0">
                        <a:solidFill>
                          <a:srgbClr val="000000"/>
                        </a:solidFill>
                        <a:effectLst/>
                        <a:latin typeface="+mn-lt"/>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Medium</a:t>
                      </a:r>
                      <a:endParaRPr lang="en-US" sz="1500" b="0" i="0" u="none" strike="noStrike" dirty="0">
                        <a:solidFill>
                          <a:srgbClr val="000000"/>
                        </a:solidFill>
                        <a:effectLst/>
                        <a:latin typeface="+mn-lt"/>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Amazon Ember" panose="02000000000000000000" pitchFamily="2" charset="0"/>
                        </a:rPr>
                        <a:t>Trending to Exceed Budget</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Dev/Ops/LOB</a:t>
                      </a:r>
                      <a:endParaRPr lang="en-US" sz="1500" b="0" i="0" u="none" strike="noStrike" dirty="0">
                        <a:solidFill>
                          <a:srgbClr val="000000"/>
                        </a:solidFill>
                        <a:effectLst/>
                        <a:latin typeface="+mn-lt"/>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smtClean="0">
                          <a:solidFill>
                            <a:srgbClr val="000000"/>
                          </a:solidFill>
                          <a:effectLst/>
                          <a:latin typeface="+mn-lt"/>
                        </a:rPr>
                        <a:t>Determine why and then determine action</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4802">
                <a:tc>
                  <a:txBody>
                    <a:bodyPr/>
                    <a:lstStyle/>
                    <a:p>
                      <a:pPr algn="l" fontAlgn="b"/>
                      <a:r>
                        <a:rPr lang="en-US" sz="1500" b="0" i="0" u="none" strike="noStrike" dirty="0">
                          <a:solidFill>
                            <a:srgbClr val="000000"/>
                          </a:solidFill>
                          <a:effectLst/>
                          <a:latin typeface="+mn-lt"/>
                        </a:rPr>
                        <a:t>Application</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Performance</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Normal</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Investigate cause</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Dev/LOB</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500" b="0" i="0" u="none" strike="noStrike" dirty="0">
                          <a:solidFill>
                            <a:srgbClr val="000000"/>
                          </a:solidFill>
                          <a:effectLst/>
                          <a:latin typeface="+mn-lt"/>
                        </a:rPr>
                        <a:t>Prioritize backlog</a:t>
                      </a:r>
                      <a:endParaRPr lang="en-US" sz="1500" b="0" i="0" u="none" strike="noStrike" dirty="0">
                        <a:solidFill>
                          <a:srgbClr val="000000"/>
                        </a:solidFill>
                        <a:effectLst/>
                        <a:latin typeface="Amazon Ember" panose="02000000000000000000" pitchFamily="2" charset="0"/>
                      </a:endParaRP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31032729"/>
                  </a:ext>
                </a:extLst>
              </a:tr>
              <a:tr h="514802">
                <a:tc gridSpan="6">
                  <a:txBody>
                    <a:bodyPr/>
                    <a:lstStyle/>
                    <a:p>
                      <a:pPr algn="l" fontAlgn="b"/>
                      <a:r>
                        <a:rPr lang="en-US" sz="1500" b="0" i="1" u="none" strike="noStrike" dirty="0">
                          <a:solidFill>
                            <a:srgbClr val="000000"/>
                          </a:solidFill>
                          <a:effectLst/>
                          <a:latin typeface="+mn-lt"/>
                        </a:rPr>
                        <a:t>And many more…</a:t>
                      </a:r>
                    </a:p>
                  </a:txBody>
                  <a:tcPr marL="7539" marR="7539" marT="75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1383733"/>
                  </a:ext>
                </a:extLst>
              </a:tr>
            </a:tbl>
          </a:graphicData>
        </a:graphic>
      </p:graphicFrame>
    </p:spTree>
    <p:extLst>
      <p:ext uri="{BB962C8B-B14F-4D97-AF65-F5344CB8AC3E}">
        <p14:creationId xmlns:p14="http://schemas.microsoft.com/office/powerpoint/2010/main" val="147432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63" presetClass="path" presetSubtype="0" decel="50000" fill="hold" nodeType="withEffect">
                                  <p:stCondLst>
                                    <p:cond delay="0"/>
                                  </p:stCondLst>
                                  <p:childTnLst>
                                    <p:animMotion origin="layout" path="M -0.03646 2.90123E-6 L 1.66667E-6 2.90123E-6 " pathEditMode="relative" rAng="0" ptsTypes="AA">
                                      <p:cBhvr>
                                        <p:cTn id="8" dur="500" fill="hold"/>
                                        <p:tgtEl>
                                          <p:spTgt spid="11"/>
                                        </p:tgtEl>
                                        <p:attrNameLst>
                                          <p:attrName>ppt_x</p:attrName>
                                          <p:attrName>ppt_y</p:attrName>
                                        </p:attrNameLst>
                                      </p:cBhvr>
                                      <p:rCtr x="182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496" y="3281940"/>
            <a:ext cx="8693624" cy="1344651"/>
          </a:xfrm>
        </p:spPr>
        <p:txBody>
          <a:bodyPr/>
          <a:lstStyle/>
          <a:p>
            <a:r>
              <a:rPr lang="en-US" sz="6600" b="1" dirty="0" smtClean="0"/>
              <a:t>Time for a quick poll</a:t>
            </a:r>
            <a:endParaRPr lang="en-US" sz="6600" b="1" dirty="0"/>
          </a:p>
        </p:txBody>
      </p:sp>
    </p:spTree>
    <p:extLst>
      <p:ext uri="{BB962C8B-B14F-4D97-AF65-F5344CB8AC3E}">
        <p14:creationId xmlns:p14="http://schemas.microsoft.com/office/powerpoint/2010/main" val="23772484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1755645">
              <a:defRPr/>
            </a:pPr>
            <a:r>
              <a:rPr lang="en-US" sz="6000" b="1" dirty="0"/>
              <a:t>Implementing Monitoring</a:t>
            </a:r>
            <a:endParaRPr lang="en-US" sz="5400" b="1" dirty="0"/>
          </a:p>
        </p:txBody>
      </p:sp>
    </p:spTree>
    <p:extLst>
      <p:ext uri="{BB962C8B-B14F-4D97-AF65-F5344CB8AC3E}">
        <p14:creationId xmlns:p14="http://schemas.microsoft.com/office/powerpoint/2010/main" val="11675125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p_Lambda_Function">
            <a:extLst>
              <a:ext uri="{FF2B5EF4-FFF2-40B4-BE49-F238E27FC236}">
                <a16:creationId xmlns:a16="http://schemas.microsoft.com/office/drawing/2014/main" id="{24BB3CD9-E6A9-B840-9E63-C41E0C18A039}"/>
              </a:ext>
            </a:extLst>
          </p:cNvPr>
          <p:cNvGrpSpPr/>
          <p:nvPr/>
        </p:nvGrpSpPr>
        <p:grpSpPr>
          <a:xfrm>
            <a:off x="8458101" y="5275195"/>
            <a:ext cx="3348988" cy="1463338"/>
            <a:chOff x="9433785" y="5275195"/>
            <a:chExt cx="3348988" cy="1463338"/>
          </a:xfrm>
        </p:grpSpPr>
        <p:grpSp>
          <p:nvGrpSpPr>
            <p:cNvPr id="3" name="Group 2">
              <a:extLst>
                <a:ext uri="{FF2B5EF4-FFF2-40B4-BE49-F238E27FC236}">
                  <a16:creationId xmlns:a16="http://schemas.microsoft.com/office/drawing/2014/main" id="{85D366D5-A72E-DE4E-A78B-E84029E4B64E}"/>
                </a:ext>
              </a:extLst>
            </p:cNvPr>
            <p:cNvGrpSpPr/>
            <p:nvPr/>
          </p:nvGrpSpPr>
          <p:grpSpPr>
            <a:xfrm>
              <a:off x="9433785" y="5487783"/>
              <a:ext cx="2301875" cy="1250750"/>
              <a:chOff x="9433785" y="5487783"/>
              <a:chExt cx="2301875" cy="1250750"/>
            </a:xfrm>
          </p:grpSpPr>
          <p:sp>
            <p:nvSpPr>
              <p:cNvPr id="7" name="TextBox 35">
                <a:extLst>
                  <a:ext uri="{FF2B5EF4-FFF2-40B4-BE49-F238E27FC236}">
                    <a16:creationId xmlns:a16="http://schemas.microsoft.com/office/drawing/2014/main" id="{F370AA32-A7E2-4B45-9F7B-8A0BA9919588}"/>
                  </a:ext>
                </a:extLst>
              </p:cNvPr>
              <p:cNvSpPr txBox="1">
                <a:spLocks noChangeArrowheads="1"/>
              </p:cNvSpPr>
              <p:nvPr/>
            </p:nvSpPr>
            <p:spPr bwMode="auto">
              <a:xfrm>
                <a:off x="9433785" y="5907536"/>
                <a:ext cx="23018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Lambda </a:t>
                </a:r>
                <a:br>
                  <a:rPr lang="en-US" altLang="en-US" sz="1600" dirty="0">
                    <a:latin typeface="Amazon Ember" panose="020B0603020204020204" pitchFamily="34" charset="0"/>
                    <a:ea typeface="Amazon Ember" panose="020B0603020204020204" pitchFamily="34" charset="0"/>
                    <a:cs typeface="Amazon Ember" panose="020B0603020204020204" pitchFamily="34" charset="0"/>
                  </a:rPr>
                </a:br>
                <a:r>
                  <a:rPr lang="en-US" altLang="en-US" sz="1600" dirty="0">
                    <a:latin typeface="Amazon Ember" panose="020B0603020204020204" pitchFamily="34" charset="0"/>
                    <a:ea typeface="Amazon Ember" panose="020B0603020204020204" pitchFamily="34" charset="0"/>
                    <a:cs typeface="Amazon Ember" panose="020B0603020204020204" pitchFamily="34" charset="0"/>
                  </a:rPr>
                  <a:t>function</a:t>
                </a:r>
                <a:br>
                  <a:rPr lang="en-US" altLang="en-US" sz="1600" dirty="0">
                    <a:latin typeface="Amazon Ember" panose="020B0603020204020204" pitchFamily="34" charset="0"/>
                    <a:ea typeface="Amazon Ember" panose="020B0603020204020204" pitchFamily="34" charset="0"/>
                    <a:cs typeface="Amazon Ember" panose="020B0603020204020204" pitchFamily="34" charset="0"/>
                  </a:rPr>
                </a:br>
                <a:r>
                  <a:rPr lang="en-US" altLang="en-US" sz="1600" dirty="0">
                    <a:latin typeface="Amazon Ember" panose="020B0603020204020204" pitchFamily="34" charset="0"/>
                    <a:ea typeface="Amazon Ember" panose="020B0603020204020204" pitchFamily="34" charset="0"/>
                    <a:cs typeface="Amazon Ember" panose="020B0603020204020204" pitchFamily="34" charset="0"/>
                  </a:rPr>
                  <a:t>(Runbook)</a:t>
                </a:r>
              </a:p>
            </p:txBody>
          </p:sp>
          <p:pic>
            <p:nvPicPr>
              <p:cNvPr id="8" name="Graphic 69">
                <a:extLst>
                  <a:ext uri="{FF2B5EF4-FFF2-40B4-BE49-F238E27FC236}">
                    <a16:creationId xmlns:a16="http://schemas.microsoft.com/office/drawing/2014/main" id="{11A198B4-5400-7B44-9BDC-82E31B9020AB}"/>
                  </a:ext>
                </a:extLst>
              </p:cNvPr>
              <p:cNvPicPr>
                <a:picLocks noChangeAspect="1"/>
              </p:cNvPicPr>
              <p:nvPr/>
            </p:nvPicPr>
            <p:blipFill>
              <a:blip r:embed="rId3">
                <a:extLst/>
              </a:blip>
              <a:stretch>
                <a:fillRect/>
              </a:stretch>
            </p:blipFill>
            <p:spPr>
              <a:xfrm>
                <a:off x="10349773" y="5487783"/>
                <a:ext cx="469900" cy="469900"/>
              </a:xfrm>
              <a:prstGeom prst="rect">
                <a:avLst/>
              </a:prstGeom>
            </p:spPr>
          </p:pic>
        </p:grpSp>
        <p:grpSp>
          <p:nvGrpSpPr>
            <p:cNvPr id="4" name="Group 3">
              <a:extLst>
                <a:ext uri="{FF2B5EF4-FFF2-40B4-BE49-F238E27FC236}">
                  <a16:creationId xmlns:a16="http://schemas.microsoft.com/office/drawing/2014/main" id="{9F666289-BCBD-9F49-9CE5-F29D0B44C3A3}"/>
                </a:ext>
              </a:extLst>
            </p:cNvPr>
            <p:cNvGrpSpPr/>
            <p:nvPr/>
          </p:nvGrpSpPr>
          <p:grpSpPr>
            <a:xfrm>
              <a:off x="11448100" y="5275195"/>
              <a:ext cx="1334673" cy="1385082"/>
              <a:chOff x="11164240" y="5582971"/>
              <a:chExt cx="1334673" cy="1385082"/>
            </a:xfrm>
          </p:grpSpPr>
          <p:pic>
            <p:nvPicPr>
              <p:cNvPr id="5" name="Picture 4">
                <a:extLst>
                  <a:ext uri="{FF2B5EF4-FFF2-40B4-BE49-F238E27FC236}">
                    <a16:creationId xmlns:a16="http://schemas.microsoft.com/office/drawing/2014/main" id="{A2F04035-FBA7-CF4A-B35D-8E53CBD50C98}"/>
                  </a:ext>
                </a:extLst>
              </p:cNvPr>
              <p:cNvPicPr>
                <a:picLocks noChangeAspect="1"/>
              </p:cNvPicPr>
              <p:nvPr/>
            </p:nvPicPr>
            <p:blipFill>
              <a:blip r:embed="rId4"/>
              <a:stretch>
                <a:fillRect/>
              </a:stretch>
            </p:blipFill>
            <p:spPr>
              <a:xfrm>
                <a:off x="11667915" y="6137055"/>
                <a:ext cx="830998" cy="830998"/>
              </a:xfrm>
              <a:prstGeom prst="rect">
                <a:avLst/>
              </a:prstGeom>
            </p:spPr>
          </p:pic>
          <p:pic>
            <p:nvPicPr>
              <p:cNvPr id="6" name="Picture 5">
                <a:extLst>
                  <a:ext uri="{FF2B5EF4-FFF2-40B4-BE49-F238E27FC236}">
                    <a16:creationId xmlns:a16="http://schemas.microsoft.com/office/drawing/2014/main" id="{393ED24A-A040-8B41-A98F-DCAEFBA242FF}"/>
                  </a:ext>
                </a:extLst>
              </p:cNvPr>
              <p:cNvPicPr>
                <a:picLocks noChangeAspect="1"/>
              </p:cNvPicPr>
              <p:nvPr/>
            </p:nvPicPr>
            <p:blipFill>
              <a:blip r:embed="rId5"/>
              <a:stretch>
                <a:fillRect/>
              </a:stretch>
            </p:blipFill>
            <p:spPr>
              <a:xfrm>
                <a:off x="11164240" y="5582971"/>
                <a:ext cx="1080102" cy="1085503"/>
              </a:xfrm>
              <a:prstGeom prst="rect">
                <a:avLst/>
              </a:prstGeom>
            </p:spPr>
          </p:pic>
        </p:grpSp>
      </p:grpSp>
      <p:grpSp>
        <p:nvGrpSpPr>
          <p:cNvPr id="9" name="grp_AWS_Lambda">
            <a:extLst>
              <a:ext uri="{FF2B5EF4-FFF2-40B4-BE49-F238E27FC236}">
                <a16:creationId xmlns:a16="http://schemas.microsoft.com/office/drawing/2014/main" id="{0E57A5AA-5A56-A741-B18A-C77C0CB35A76}"/>
              </a:ext>
            </a:extLst>
          </p:cNvPr>
          <p:cNvGrpSpPr/>
          <p:nvPr/>
        </p:nvGrpSpPr>
        <p:grpSpPr>
          <a:xfrm>
            <a:off x="8570733" y="4629129"/>
            <a:ext cx="3864783" cy="2279671"/>
            <a:chOff x="9546417" y="4629129"/>
            <a:chExt cx="3864783" cy="2279671"/>
          </a:xfrm>
        </p:grpSpPr>
        <p:sp>
          <p:nvSpPr>
            <p:cNvPr id="10" name="Rectangle 9">
              <a:extLst>
                <a:ext uri="{FF2B5EF4-FFF2-40B4-BE49-F238E27FC236}">
                  <a16:creationId xmlns:a16="http://schemas.microsoft.com/office/drawing/2014/main" id="{5FD73CB9-2D0E-994C-957F-861E6F501153}"/>
                </a:ext>
              </a:extLst>
            </p:cNvPr>
            <p:cNvSpPr/>
            <p:nvPr/>
          </p:nvSpPr>
          <p:spPr bwMode="auto">
            <a:xfrm>
              <a:off x="9555361" y="4629129"/>
              <a:ext cx="3855839" cy="2279671"/>
            </a:xfrm>
            <a:prstGeom prst="rect">
              <a:avLst/>
            </a:prstGeom>
            <a:noFill/>
            <a:ln w="19050">
              <a:solidFill>
                <a:srgbClr val="F29D39"/>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extBox 37">
              <a:extLst>
                <a:ext uri="{FF2B5EF4-FFF2-40B4-BE49-F238E27FC236}">
                  <a16:creationId xmlns:a16="http://schemas.microsoft.com/office/drawing/2014/main" id="{FD711877-1DDF-0A41-B881-5FEA83E21F00}"/>
                </a:ext>
              </a:extLst>
            </p:cNvPr>
            <p:cNvSpPr txBox="1">
              <a:spLocks noChangeArrowheads="1"/>
            </p:cNvSpPr>
            <p:nvPr/>
          </p:nvSpPr>
          <p:spPr bwMode="auto">
            <a:xfrm>
              <a:off x="10801058" y="4772387"/>
              <a:ext cx="1547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AWS Lambda</a:t>
              </a:r>
            </a:p>
          </p:txBody>
        </p:sp>
        <p:pic>
          <p:nvPicPr>
            <p:cNvPr id="12" name="Graphic 68">
              <a:extLst>
                <a:ext uri="{FF2B5EF4-FFF2-40B4-BE49-F238E27FC236}">
                  <a16:creationId xmlns:a16="http://schemas.microsoft.com/office/drawing/2014/main" id="{4EF4DB1A-8C04-1844-AA7C-B9DC2BF098D5}"/>
                </a:ext>
              </a:extLst>
            </p:cNvPr>
            <p:cNvPicPr>
              <a:picLocks noChangeAspect="1"/>
            </p:cNvPicPr>
            <p:nvPr/>
          </p:nvPicPr>
          <p:blipFill>
            <a:blip r:embed="rId6">
              <a:extLst/>
            </a:blip>
            <a:stretch>
              <a:fillRect/>
            </a:stretch>
          </p:blipFill>
          <p:spPr>
            <a:xfrm>
              <a:off x="9546417" y="4633947"/>
              <a:ext cx="711200" cy="711200"/>
            </a:xfrm>
            <a:prstGeom prst="rect">
              <a:avLst/>
            </a:prstGeom>
          </p:spPr>
        </p:pic>
      </p:grpSp>
      <p:grpSp>
        <p:nvGrpSpPr>
          <p:cNvPr id="13" name="grp_SNS_Email">
            <a:extLst>
              <a:ext uri="{FF2B5EF4-FFF2-40B4-BE49-F238E27FC236}">
                <a16:creationId xmlns:a16="http://schemas.microsoft.com/office/drawing/2014/main" id="{B83084CB-30BA-A14E-9FE7-7640C6B406A9}"/>
              </a:ext>
            </a:extLst>
          </p:cNvPr>
          <p:cNvGrpSpPr/>
          <p:nvPr/>
        </p:nvGrpSpPr>
        <p:grpSpPr>
          <a:xfrm>
            <a:off x="10667757" y="2767818"/>
            <a:ext cx="1397050" cy="759827"/>
            <a:chOff x="11643441" y="2767818"/>
            <a:chExt cx="1397050" cy="759827"/>
          </a:xfrm>
        </p:grpSpPr>
        <p:sp>
          <p:nvSpPr>
            <p:cNvPr id="14" name="TextBox 13">
              <a:extLst>
                <a:ext uri="{FF2B5EF4-FFF2-40B4-BE49-F238E27FC236}">
                  <a16:creationId xmlns:a16="http://schemas.microsoft.com/office/drawing/2014/main" id="{35014106-337B-EB46-AE2D-CC1CFFA0D676}"/>
                </a:ext>
              </a:extLst>
            </p:cNvPr>
            <p:cNvSpPr txBox="1"/>
            <p:nvPr/>
          </p:nvSpPr>
          <p:spPr>
            <a:xfrm>
              <a:off x="11643441" y="2767818"/>
              <a:ext cx="1397050" cy="338554"/>
            </a:xfrm>
            <a:prstGeom prst="rect">
              <a:avLst/>
            </a:prstGeom>
            <a:noFill/>
          </p:spPr>
          <p:txBody>
            <a:bodyPr wrap="square">
              <a:spAutoFit/>
            </a:bodyPr>
            <a:lstStyle/>
            <a:p>
              <a:pPr algn="ctr" eaLnBrk="1" fontAlgn="auto" hangingPunct="1">
                <a:spcBef>
                  <a:spcPts val="0"/>
                </a:spcBef>
                <a:spcAft>
                  <a:spcPts val="0"/>
                </a:spcAft>
                <a:defRPr/>
              </a:pPr>
              <a:r>
                <a:rPr lang="en-US" sz="1600" dirty="0">
                  <a:latin typeface="Amazon Ember" panose="020B0603020204020204" pitchFamily="34" charset="0"/>
                  <a:ea typeface="Amazon Ember" panose="020B0603020204020204" pitchFamily="34" charset="0"/>
                  <a:cs typeface="Amazon Ember" panose="020B0603020204020204" pitchFamily="34" charset="0"/>
                </a:rPr>
                <a:t>Email owner</a:t>
              </a:r>
            </a:p>
          </p:txBody>
        </p:sp>
        <p:pic>
          <p:nvPicPr>
            <p:cNvPr id="15" name="Graphic 30">
              <a:extLst>
                <a:ext uri="{FF2B5EF4-FFF2-40B4-BE49-F238E27FC236}">
                  <a16:creationId xmlns:a16="http://schemas.microsoft.com/office/drawing/2014/main" id="{EA9EBE2F-6CA5-F140-8459-26D695833A84}"/>
                </a:ext>
              </a:extLst>
            </p:cNvPr>
            <p:cNvPicPr>
              <a:picLocks noChangeAspect="1"/>
            </p:cNvPicPr>
            <p:nvPr/>
          </p:nvPicPr>
          <p:blipFill>
            <a:blip r:embed="rId7">
              <a:extLst/>
            </a:blip>
            <a:stretch>
              <a:fillRect/>
            </a:stretch>
          </p:blipFill>
          <p:spPr>
            <a:xfrm>
              <a:off x="12090679" y="3057745"/>
              <a:ext cx="469900" cy="469900"/>
            </a:xfrm>
            <a:prstGeom prst="rect">
              <a:avLst/>
            </a:prstGeom>
          </p:spPr>
        </p:pic>
      </p:grpSp>
      <p:grpSp>
        <p:nvGrpSpPr>
          <p:cNvPr id="16" name="grg_SNS_Topic">
            <a:extLst>
              <a:ext uri="{FF2B5EF4-FFF2-40B4-BE49-F238E27FC236}">
                <a16:creationId xmlns:a16="http://schemas.microsoft.com/office/drawing/2014/main" id="{78166477-7E33-7D43-8F52-9564A96BAD10}"/>
              </a:ext>
            </a:extLst>
          </p:cNvPr>
          <p:cNvGrpSpPr/>
          <p:nvPr/>
        </p:nvGrpSpPr>
        <p:grpSpPr>
          <a:xfrm>
            <a:off x="9018904" y="2758657"/>
            <a:ext cx="1311310" cy="772940"/>
            <a:chOff x="9994588" y="2758657"/>
            <a:chExt cx="1311310" cy="772940"/>
          </a:xfrm>
        </p:grpSpPr>
        <p:sp>
          <p:nvSpPr>
            <p:cNvPr id="17" name="TextBox 16">
              <a:extLst>
                <a:ext uri="{FF2B5EF4-FFF2-40B4-BE49-F238E27FC236}">
                  <a16:creationId xmlns:a16="http://schemas.microsoft.com/office/drawing/2014/main" id="{5CC5188D-FDB5-3644-A001-6957F8E74084}"/>
                </a:ext>
              </a:extLst>
            </p:cNvPr>
            <p:cNvSpPr txBox="1"/>
            <p:nvPr/>
          </p:nvSpPr>
          <p:spPr>
            <a:xfrm>
              <a:off x="9994588" y="2758657"/>
              <a:ext cx="1311310" cy="338554"/>
            </a:xfrm>
            <a:prstGeom prst="rect">
              <a:avLst/>
            </a:prstGeom>
            <a:noFill/>
          </p:spPr>
          <p:txBody>
            <a:bodyPr wrap="square">
              <a:spAutoFit/>
            </a:bodyPr>
            <a:lstStyle/>
            <a:p>
              <a:pPr algn="ctr" eaLnBrk="1" fontAlgn="auto" hangingPunct="1">
                <a:spcBef>
                  <a:spcPts val="0"/>
                </a:spcBef>
                <a:spcAft>
                  <a:spcPts val="0"/>
                </a:spcAft>
                <a:defRPr/>
              </a:pPr>
              <a:r>
                <a:rPr 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SNS topic</a:t>
              </a:r>
              <a:endParaRPr 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pic>
          <p:nvPicPr>
            <p:cNvPr id="18" name="Graphic 52">
              <a:extLst>
                <a:ext uri="{FF2B5EF4-FFF2-40B4-BE49-F238E27FC236}">
                  <a16:creationId xmlns:a16="http://schemas.microsoft.com/office/drawing/2014/main" id="{286F6124-C29A-424B-8BBA-DF8EB9F09179}"/>
                </a:ext>
              </a:extLst>
            </p:cNvPr>
            <p:cNvPicPr>
              <a:picLocks noChangeAspect="1"/>
            </p:cNvPicPr>
            <p:nvPr/>
          </p:nvPicPr>
          <p:blipFill>
            <a:blip r:embed="rId8">
              <a:extLst/>
            </a:blip>
            <a:stretch>
              <a:fillRect/>
            </a:stretch>
          </p:blipFill>
          <p:spPr>
            <a:xfrm>
              <a:off x="10355991" y="3061697"/>
              <a:ext cx="469900" cy="469900"/>
            </a:xfrm>
            <a:prstGeom prst="rect">
              <a:avLst/>
            </a:prstGeom>
          </p:spPr>
        </p:pic>
      </p:grpSp>
      <p:grpSp>
        <p:nvGrpSpPr>
          <p:cNvPr id="19" name="grp_SNS">
            <a:extLst>
              <a:ext uri="{FF2B5EF4-FFF2-40B4-BE49-F238E27FC236}">
                <a16:creationId xmlns:a16="http://schemas.microsoft.com/office/drawing/2014/main" id="{FE44CA9C-9E20-444B-BB26-44B1BCF61658}"/>
              </a:ext>
            </a:extLst>
          </p:cNvPr>
          <p:cNvGrpSpPr/>
          <p:nvPr/>
        </p:nvGrpSpPr>
        <p:grpSpPr>
          <a:xfrm>
            <a:off x="8579677" y="1723802"/>
            <a:ext cx="3855839" cy="2301664"/>
            <a:chOff x="9555361" y="1723802"/>
            <a:chExt cx="3855839" cy="2301664"/>
          </a:xfrm>
        </p:grpSpPr>
        <p:sp>
          <p:nvSpPr>
            <p:cNvPr id="20" name="TextBox 19">
              <a:extLst>
                <a:ext uri="{FF2B5EF4-FFF2-40B4-BE49-F238E27FC236}">
                  <a16:creationId xmlns:a16="http://schemas.microsoft.com/office/drawing/2014/main" id="{80E33E15-100B-FE42-95E4-CF62234051B8}"/>
                </a:ext>
              </a:extLst>
            </p:cNvPr>
            <p:cNvSpPr txBox="1"/>
            <p:nvPr/>
          </p:nvSpPr>
          <p:spPr>
            <a:xfrm>
              <a:off x="10607373" y="1761770"/>
              <a:ext cx="2072136" cy="584775"/>
            </a:xfrm>
            <a:prstGeom prst="rect">
              <a:avLst/>
            </a:prstGeom>
            <a:noFill/>
          </p:spPr>
          <p:txBody>
            <a:bodyPr wrap="square">
              <a:spAutoFit/>
            </a:bodyPr>
            <a:lstStyle/>
            <a:p>
              <a:pPr algn="ctr" eaLnBrk="1" fontAlgn="auto" hangingPunct="1">
                <a:spcBef>
                  <a:spcPts val="0"/>
                </a:spcBef>
                <a:spcAft>
                  <a:spcPts val="0"/>
                </a:spcAft>
                <a:defRPr/>
              </a:pPr>
              <a:r>
                <a:rPr 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Amazon Simple Notification Service</a:t>
              </a:r>
              <a:endParaRPr 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pic>
          <p:nvPicPr>
            <p:cNvPr id="21" name="Graphic 26">
              <a:extLst>
                <a:ext uri="{FF2B5EF4-FFF2-40B4-BE49-F238E27FC236}">
                  <a16:creationId xmlns:a16="http://schemas.microsoft.com/office/drawing/2014/main" id="{4DD7182D-CC8C-F449-97BA-BF68B92501E4}"/>
                </a:ext>
              </a:extLst>
            </p:cNvPr>
            <p:cNvPicPr>
              <a:picLocks noChangeAspect="1"/>
            </p:cNvPicPr>
            <p:nvPr/>
          </p:nvPicPr>
          <p:blipFill>
            <a:blip r:embed="rId9">
              <a:extLst/>
            </a:blip>
            <a:stretch>
              <a:fillRect/>
            </a:stretch>
          </p:blipFill>
          <p:spPr>
            <a:xfrm>
              <a:off x="9555361" y="1732389"/>
              <a:ext cx="711200" cy="711200"/>
            </a:xfrm>
            <a:prstGeom prst="rect">
              <a:avLst/>
            </a:prstGeom>
          </p:spPr>
        </p:pic>
        <p:sp>
          <p:nvSpPr>
            <p:cNvPr id="22" name="Rectangle 21">
              <a:extLst>
                <a:ext uri="{FF2B5EF4-FFF2-40B4-BE49-F238E27FC236}">
                  <a16:creationId xmlns:a16="http://schemas.microsoft.com/office/drawing/2014/main" id="{03B25D94-1DFE-B146-8E47-5C2F859ED219}"/>
                </a:ext>
              </a:extLst>
            </p:cNvPr>
            <p:cNvSpPr/>
            <p:nvPr/>
          </p:nvSpPr>
          <p:spPr bwMode="auto">
            <a:xfrm>
              <a:off x="9555361" y="1723802"/>
              <a:ext cx="3855839" cy="2301664"/>
            </a:xfrm>
            <a:prstGeom prst="rect">
              <a:avLst/>
            </a:prstGeom>
            <a:noFill/>
            <a:ln w="19050">
              <a:solidFill>
                <a:srgbClr val="EC5D8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3" name="grp_CW_Alarm">
            <a:extLst>
              <a:ext uri="{FF2B5EF4-FFF2-40B4-BE49-F238E27FC236}">
                <a16:creationId xmlns:a16="http://schemas.microsoft.com/office/drawing/2014/main" id="{C69A9677-7277-AA47-97B6-D97DEA0EB4F8}"/>
              </a:ext>
            </a:extLst>
          </p:cNvPr>
          <p:cNvGrpSpPr/>
          <p:nvPr/>
        </p:nvGrpSpPr>
        <p:grpSpPr>
          <a:xfrm>
            <a:off x="6488335" y="3067816"/>
            <a:ext cx="1487066" cy="1382606"/>
            <a:chOff x="7331815" y="3067816"/>
            <a:chExt cx="1487066" cy="1382606"/>
          </a:xfrm>
        </p:grpSpPr>
        <p:sp>
          <p:nvSpPr>
            <p:cNvPr id="24" name="TextBox 12">
              <a:extLst>
                <a:ext uri="{FF2B5EF4-FFF2-40B4-BE49-F238E27FC236}">
                  <a16:creationId xmlns:a16="http://schemas.microsoft.com/office/drawing/2014/main" id="{0EB5B163-20F0-E44C-B7EB-34A0B9424EA5}"/>
                </a:ext>
              </a:extLst>
            </p:cNvPr>
            <p:cNvSpPr txBox="1">
              <a:spLocks noChangeArrowheads="1"/>
            </p:cNvSpPr>
            <p:nvPr/>
          </p:nvSpPr>
          <p:spPr bwMode="auto">
            <a:xfrm>
              <a:off x="7403635" y="3831586"/>
              <a:ext cx="13986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CloudWatch </a:t>
              </a:r>
              <a:r>
                <a:rPr lang="en-US" alt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alarm</a:t>
              </a:r>
              <a:endParaRPr lang="en-US" alt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pic>
          <p:nvPicPr>
            <p:cNvPr id="25" name="Graphic 40">
              <a:extLst>
                <a:ext uri="{FF2B5EF4-FFF2-40B4-BE49-F238E27FC236}">
                  <a16:creationId xmlns:a16="http://schemas.microsoft.com/office/drawing/2014/main" id="{7610A4CA-0C96-0B44-9B1A-ACF18D46BA33}"/>
                </a:ext>
              </a:extLst>
            </p:cNvPr>
            <p:cNvPicPr>
              <a:picLocks noChangeAspect="1"/>
            </p:cNvPicPr>
            <p:nvPr/>
          </p:nvPicPr>
          <p:blipFill>
            <a:blip r:embed="rId10">
              <a:extLst/>
            </a:blip>
            <a:stretch>
              <a:fillRect/>
            </a:stretch>
          </p:blipFill>
          <p:spPr>
            <a:xfrm>
              <a:off x="7830320" y="3277933"/>
              <a:ext cx="469900" cy="469900"/>
            </a:xfrm>
            <a:prstGeom prst="rect">
              <a:avLst/>
            </a:prstGeom>
          </p:spPr>
        </p:pic>
        <p:sp>
          <p:nvSpPr>
            <p:cNvPr id="26" name="Rounded Rectangle 25">
              <a:extLst>
                <a:ext uri="{FF2B5EF4-FFF2-40B4-BE49-F238E27FC236}">
                  <a16:creationId xmlns:a16="http://schemas.microsoft.com/office/drawing/2014/main" id="{34EF224F-3DF6-5340-A07F-6DE730A80F41}"/>
                </a:ext>
              </a:extLst>
            </p:cNvPr>
            <p:cNvSpPr/>
            <p:nvPr/>
          </p:nvSpPr>
          <p:spPr bwMode="auto">
            <a:xfrm>
              <a:off x="7331815" y="3067816"/>
              <a:ext cx="1487066" cy="1382606"/>
            </a:xfrm>
            <a:prstGeom prst="roundRect">
              <a:avLst>
                <a:gd name="adj" fmla="val 6526"/>
              </a:avLst>
            </a:prstGeom>
            <a:noFill/>
            <a:ln w="19050">
              <a:solidFill>
                <a:srgbClr val="EC5D8B"/>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7" name="grp_CW_Metrics">
            <a:extLst>
              <a:ext uri="{FF2B5EF4-FFF2-40B4-BE49-F238E27FC236}">
                <a16:creationId xmlns:a16="http://schemas.microsoft.com/office/drawing/2014/main" id="{06B21899-9B22-EA4D-A42D-B497945137F1}"/>
              </a:ext>
            </a:extLst>
          </p:cNvPr>
          <p:cNvGrpSpPr/>
          <p:nvPr/>
        </p:nvGrpSpPr>
        <p:grpSpPr>
          <a:xfrm>
            <a:off x="4054955" y="2980417"/>
            <a:ext cx="2433380" cy="1483346"/>
            <a:chOff x="4898435" y="2980417"/>
            <a:chExt cx="2433380" cy="1483346"/>
          </a:xfrm>
        </p:grpSpPr>
        <p:grpSp>
          <p:nvGrpSpPr>
            <p:cNvPr id="28" name="Group 27">
              <a:extLst>
                <a:ext uri="{FF2B5EF4-FFF2-40B4-BE49-F238E27FC236}">
                  <a16:creationId xmlns:a16="http://schemas.microsoft.com/office/drawing/2014/main" id="{7607910F-6F05-1D4C-AABC-CD87107537FD}"/>
                </a:ext>
              </a:extLst>
            </p:cNvPr>
            <p:cNvGrpSpPr/>
            <p:nvPr/>
          </p:nvGrpSpPr>
          <p:grpSpPr>
            <a:xfrm>
              <a:off x="5023891" y="2980417"/>
              <a:ext cx="1904975" cy="1064933"/>
              <a:chOff x="6689302" y="2122640"/>
              <a:chExt cx="1904975" cy="1064933"/>
            </a:xfrm>
          </p:grpSpPr>
          <p:sp>
            <p:nvSpPr>
              <p:cNvPr id="31" name="Rectangle 30">
                <a:extLst>
                  <a:ext uri="{FF2B5EF4-FFF2-40B4-BE49-F238E27FC236}">
                    <a16:creationId xmlns:a16="http://schemas.microsoft.com/office/drawing/2014/main" id="{7197EE2A-BFD5-6F4A-9592-F89A764E63EA}"/>
                  </a:ext>
                </a:extLst>
              </p:cNvPr>
              <p:cNvSpPr/>
              <p:nvPr/>
            </p:nvSpPr>
            <p:spPr>
              <a:xfrm>
                <a:off x="6689302" y="2379523"/>
                <a:ext cx="1066945" cy="692435"/>
              </a:xfrm>
              <a:prstGeom prst="rect">
                <a:avLst/>
              </a:prstGeom>
              <a:solidFill>
                <a:srgbClr val="EC5D8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1502"/>
                <a:endParaRPr lang="en-US" sz="288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32" name="Straight Connector 31">
                <a:extLst>
                  <a:ext uri="{FF2B5EF4-FFF2-40B4-BE49-F238E27FC236}">
                    <a16:creationId xmlns:a16="http://schemas.microsoft.com/office/drawing/2014/main" id="{A1D444E4-7E04-4A47-B7AE-25D52A3B10A9}"/>
                  </a:ext>
                </a:extLst>
              </p:cNvPr>
              <p:cNvCxnSpPr/>
              <p:nvPr/>
            </p:nvCxnSpPr>
            <p:spPr>
              <a:xfrm>
                <a:off x="6850038" y="2379524"/>
                <a:ext cx="0" cy="6924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7472493-5B24-F841-831F-D2D42FBFB4DB}"/>
                  </a:ext>
                </a:extLst>
              </p:cNvPr>
              <p:cNvCxnSpPr>
                <a:cxnSpLocks/>
              </p:cNvCxnSpPr>
              <p:nvPr/>
            </p:nvCxnSpPr>
            <p:spPr>
              <a:xfrm>
                <a:off x="6689302" y="2546856"/>
                <a:ext cx="10669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99A542F-0FFD-A745-8E86-66C0932E980A}"/>
                  </a:ext>
                </a:extLst>
              </p:cNvPr>
              <p:cNvSpPr txBox="1"/>
              <p:nvPr/>
            </p:nvSpPr>
            <p:spPr>
              <a:xfrm>
                <a:off x="6794621" y="2358001"/>
                <a:ext cx="901209" cy="246221"/>
              </a:xfrm>
              <a:prstGeom prst="rect">
                <a:avLst/>
              </a:prstGeom>
              <a:noFill/>
            </p:spPr>
            <p:txBody>
              <a:bodyPr wrap="none" rtlCol="0">
                <a:spAutoFit/>
              </a:bodyPr>
              <a:lstStyle/>
              <a:p>
                <a:pPr defTabSz="731502"/>
                <a:r>
                  <a:rPr lang="en-US" sz="10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Metric filter</a:t>
                </a:r>
              </a:p>
            </p:txBody>
          </p:sp>
          <p:sp>
            <p:nvSpPr>
              <p:cNvPr id="35" name="TextBox 34">
                <a:extLst>
                  <a:ext uri="{FF2B5EF4-FFF2-40B4-BE49-F238E27FC236}">
                    <a16:creationId xmlns:a16="http://schemas.microsoft.com/office/drawing/2014/main" id="{A5C02FDF-E8A5-6049-9527-72AE185C473E}"/>
                  </a:ext>
                </a:extLst>
              </p:cNvPr>
              <p:cNvSpPr txBox="1"/>
              <p:nvPr/>
            </p:nvSpPr>
            <p:spPr>
              <a:xfrm>
                <a:off x="6804781" y="2560697"/>
                <a:ext cx="652743" cy="246221"/>
              </a:xfrm>
              <a:prstGeom prst="rect">
                <a:avLst/>
              </a:prstGeom>
              <a:noFill/>
            </p:spPr>
            <p:txBody>
              <a:bodyPr wrap="none" rtlCol="0">
                <a:spAutoFit/>
              </a:bodyPr>
              <a:lstStyle/>
              <a:p>
                <a:pPr defTabSz="731502"/>
                <a:r>
                  <a:rPr lang="en-US" sz="10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On logs</a:t>
                </a:r>
              </a:p>
            </p:txBody>
          </p:sp>
          <p:pic>
            <p:nvPicPr>
              <p:cNvPr id="36" name="Picture 35">
                <a:extLst>
                  <a:ext uri="{FF2B5EF4-FFF2-40B4-BE49-F238E27FC236}">
                    <a16:creationId xmlns:a16="http://schemas.microsoft.com/office/drawing/2014/main" id="{BE681D86-6B83-FF46-A835-84017A5BBF01}"/>
                  </a:ext>
                </a:extLst>
              </p:cNvPr>
              <p:cNvPicPr>
                <a:picLocks noChangeAspect="1"/>
              </p:cNvPicPr>
              <p:nvPr/>
            </p:nvPicPr>
            <p:blipFill>
              <a:blip r:embed="rId11"/>
              <a:stretch>
                <a:fillRect/>
              </a:stretch>
            </p:blipFill>
            <p:spPr>
              <a:xfrm>
                <a:off x="7529344" y="2122640"/>
                <a:ext cx="1064933" cy="1064933"/>
              </a:xfrm>
              <a:prstGeom prst="rect">
                <a:avLst/>
              </a:prstGeom>
            </p:spPr>
          </p:pic>
        </p:grpSp>
        <p:sp>
          <p:nvSpPr>
            <p:cNvPr id="29" name="TextBox 12">
              <a:extLst>
                <a:ext uri="{FF2B5EF4-FFF2-40B4-BE49-F238E27FC236}">
                  <a16:creationId xmlns:a16="http://schemas.microsoft.com/office/drawing/2014/main" id="{141FD421-D58D-8D4E-89F6-4B9BCF28FC34}"/>
                </a:ext>
              </a:extLst>
            </p:cNvPr>
            <p:cNvSpPr txBox="1">
              <a:spLocks noChangeArrowheads="1"/>
            </p:cNvSpPr>
            <p:nvPr/>
          </p:nvSpPr>
          <p:spPr bwMode="auto">
            <a:xfrm>
              <a:off x="4898435" y="4111868"/>
              <a:ext cx="24333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CloudWatch metrics</a:t>
              </a:r>
              <a:endParaRPr lang="en-US" alt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sp>
          <p:nvSpPr>
            <p:cNvPr id="30" name="Rounded Rectangle 29">
              <a:extLst>
                <a:ext uri="{FF2B5EF4-FFF2-40B4-BE49-F238E27FC236}">
                  <a16:creationId xmlns:a16="http://schemas.microsoft.com/office/drawing/2014/main" id="{E832C436-5F5F-554A-B446-D78695B73F60}"/>
                </a:ext>
              </a:extLst>
            </p:cNvPr>
            <p:cNvSpPr/>
            <p:nvPr/>
          </p:nvSpPr>
          <p:spPr bwMode="auto">
            <a:xfrm>
              <a:off x="4937408" y="3055983"/>
              <a:ext cx="1991458" cy="1407780"/>
            </a:xfrm>
            <a:prstGeom prst="roundRect">
              <a:avLst>
                <a:gd name="adj" fmla="val 6526"/>
              </a:avLst>
            </a:prstGeom>
            <a:noFill/>
            <a:ln w="19050">
              <a:solidFill>
                <a:srgbClr val="EC5D8B"/>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37" name="grp_CW_Logs">
            <a:extLst>
              <a:ext uri="{FF2B5EF4-FFF2-40B4-BE49-F238E27FC236}">
                <a16:creationId xmlns:a16="http://schemas.microsoft.com/office/drawing/2014/main" id="{4082F8CA-CCD4-1742-8445-18A52E898B3D}"/>
              </a:ext>
            </a:extLst>
          </p:cNvPr>
          <p:cNvGrpSpPr/>
          <p:nvPr/>
        </p:nvGrpSpPr>
        <p:grpSpPr>
          <a:xfrm>
            <a:off x="4062042" y="5008197"/>
            <a:ext cx="3913358" cy="1548668"/>
            <a:chOff x="4905522" y="5008197"/>
            <a:chExt cx="3913358" cy="1548668"/>
          </a:xfrm>
        </p:grpSpPr>
        <p:grpSp>
          <p:nvGrpSpPr>
            <p:cNvPr id="38" name="Group 37">
              <a:extLst>
                <a:ext uri="{FF2B5EF4-FFF2-40B4-BE49-F238E27FC236}">
                  <a16:creationId xmlns:a16="http://schemas.microsoft.com/office/drawing/2014/main" id="{98B0C02F-87A6-4744-A4F7-834493B4397E}"/>
                </a:ext>
              </a:extLst>
            </p:cNvPr>
            <p:cNvGrpSpPr/>
            <p:nvPr/>
          </p:nvGrpSpPr>
          <p:grpSpPr>
            <a:xfrm>
              <a:off x="4937408" y="5071652"/>
              <a:ext cx="3809187" cy="1223348"/>
              <a:chOff x="3131351" y="4793094"/>
              <a:chExt cx="3809187" cy="1223348"/>
            </a:xfrm>
          </p:grpSpPr>
          <p:grpSp>
            <p:nvGrpSpPr>
              <p:cNvPr id="41" name="Group 40">
                <a:extLst>
                  <a:ext uri="{FF2B5EF4-FFF2-40B4-BE49-F238E27FC236}">
                    <a16:creationId xmlns:a16="http://schemas.microsoft.com/office/drawing/2014/main" id="{84C354DE-8097-AD47-8D0F-5A55E2FE0D04}"/>
                  </a:ext>
                </a:extLst>
              </p:cNvPr>
              <p:cNvGrpSpPr/>
              <p:nvPr/>
            </p:nvGrpSpPr>
            <p:grpSpPr>
              <a:xfrm>
                <a:off x="3131351" y="4793094"/>
                <a:ext cx="933987" cy="1223348"/>
                <a:chOff x="5090893" y="4840921"/>
                <a:chExt cx="1106038" cy="1497576"/>
              </a:xfrm>
            </p:grpSpPr>
            <p:sp>
              <p:nvSpPr>
                <p:cNvPr id="72" name="Rounded Rectangle 71">
                  <a:extLst>
                    <a:ext uri="{FF2B5EF4-FFF2-40B4-BE49-F238E27FC236}">
                      <a16:creationId xmlns:a16="http://schemas.microsoft.com/office/drawing/2014/main" id="{90A53430-36CD-8848-ADA4-EEEFA0F07015}"/>
                    </a:ext>
                  </a:extLst>
                </p:cNvPr>
                <p:cNvSpPr/>
                <p:nvPr/>
              </p:nvSpPr>
              <p:spPr>
                <a:xfrm>
                  <a:off x="5116031" y="4840921"/>
                  <a:ext cx="1080900" cy="1329343"/>
                </a:xfrm>
                <a:prstGeom prst="roundRect">
                  <a:avLst>
                    <a:gd name="adj" fmla="val 9147"/>
                  </a:avLst>
                </a:prstGeom>
                <a:noFill/>
                <a:ln>
                  <a:solidFill>
                    <a:srgbClr val="EC5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1502"/>
                  <a:endParaRPr lang="en-US" sz="800" dirty="0">
                    <a:solidFill>
                      <a:schemeClr val="tx1"/>
                    </a:solidFill>
                    <a:latin typeface="Courier" pitchFamily="2" charset="0"/>
                    <a:ea typeface="Amazon Ember" panose="020B0603020204020204" pitchFamily="34" charset="0"/>
                    <a:cs typeface="Amazon Ember" panose="020B0603020204020204" pitchFamily="34" charset="0"/>
                  </a:endParaRPr>
                </a:p>
              </p:txBody>
            </p:sp>
            <p:sp>
              <p:nvSpPr>
                <p:cNvPr id="73" name="TextBox 72">
                  <a:extLst>
                    <a:ext uri="{FF2B5EF4-FFF2-40B4-BE49-F238E27FC236}">
                      <a16:creationId xmlns:a16="http://schemas.microsoft.com/office/drawing/2014/main" id="{B10442A1-08B7-224C-BF61-BFF9F62CF5B3}"/>
                    </a:ext>
                  </a:extLst>
                </p:cNvPr>
                <p:cNvSpPr txBox="1"/>
                <p:nvPr/>
              </p:nvSpPr>
              <p:spPr>
                <a:xfrm>
                  <a:off x="5090893" y="4857253"/>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20:59:11:27B</a:t>
                  </a:r>
                </a:p>
              </p:txBody>
            </p:sp>
            <p:sp>
              <p:nvSpPr>
                <p:cNvPr id="74" name="TextBox 73">
                  <a:extLst>
                    <a:ext uri="{FF2B5EF4-FFF2-40B4-BE49-F238E27FC236}">
                      <a16:creationId xmlns:a16="http://schemas.microsoft.com/office/drawing/2014/main" id="{A87E1B10-86ED-BF42-80EF-0AA90F1BB2FA}"/>
                    </a:ext>
                  </a:extLst>
                </p:cNvPr>
                <p:cNvSpPr txBox="1"/>
                <p:nvPr/>
              </p:nvSpPr>
              <p:spPr>
                <a:xfrm>
                  <a:off x="5090893" y="5009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20:59:12:27B</a:t>
                  </a:r>
                </a:p>
              </p:txBody>
            </p:sp>
            <p:sp>
              <p:nvSpPr>
                <p:cNvPr id="75" name="TextBox 74">
                  <a:extLst>
                    <a:ext uri="{FF2B5EF4-FFF2-40B4-BE49-F238E27FC236}">
                      <a16:creationId xmlns:a16="http://schemas.microsoft.com/office/drawing/2014/main" id="{B1973F4E-3901-B842-B4E7-9B4F014E87A7}"/>
                    </a:ext>
                  </a:extLst>
                </p:cNvPr>
                <p:cNvSpPr txBox="1"/>
                <p:nvPr/>
              </p:nvSpPr>
              <p:spPr>
                <a:xfrm>
                  <a:off x="5090893" y="5162051"/>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20:59:13:27B</a:t>
                  </a:r>
                </a:p>
              </p:txBody>
            </p:sp>
            <p:sp>
              <p:nvSpPr>
                <p:cNvPr id="76" name="TextBox 75">
                  <a:extLst>
                    <a:ext uri="{FF2B5EF4-FFF2-40B4-BE49-F238E27FC236}">
                      <a16:creationId xmlns:a16="http://schemas.microsoft.com/office/drawing/2014/main" id="{590CF2A3-66D4-D942-9454-9AEE8EBD2CFE}"/>
                    </a:ext>
                  </a:extLst>
                </p:cNvPr>
                <p:cNvSpPr txBox="1"/>
                <p:nvPr/>
              </p:nvSpPr>
              <p:spPr>
                <a:xfrm>
                  <a:off x="5090893" y="53144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20:59:14:27B</a:t>
                  </a:r>
                </a:p>
              </p:txBody>
            </p:sp>
            <p:sp>
              <p:nvSpPr>
                <p:cNvPr id="77" name="TextBox 76">
                  <a:extLst>
                    <a:ext uri="{FF2B5EF4-FFF2-40B4-BE49-F238E27FC236}">
                      <a16:creationId xmlns:a16="http://schemas.microsoft.com/office/drawing/2014/main" id="{88389E55-9D58-D94A-AB49-98B776999047}"/>
                    </a:ext>
                  </a:extLst>
                </p:cNvPr>
                <p:cNvSpPr txBox="1"/>
                <p:nvPr/>
              </p:nvSpPr>
              <p:spPr>
                <a:xfrm>
                  <a:off x="5090893" y="54668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20:59:15:27B</a:t>
                  </a:r>
                </a:p>
              </p:txBody>
            </p:sp>
            <p:sp>
              <p:nvSpPr>
                <p:cNvPr id="78" name="TextBox 77">
                  <a:extLst>
                    <a:ext uri="{FF2B5EF4-FFF2-40B4-BE49-F238E27FC236}">
                      <a16:creationId xmlns:a16="http://schemas.microsoft.com/office/drawing/2014/main" id="{6B51D78F-696D-AE49-9D3E-4D0875110DD6}"/>
                    </a:ext>
                  </a:extLst>
                </p:cNvPr>
                <p:cNvSpPr txBox="1"/>
                <p:nvPr/>
              </p:nvSpPr>
              <p:spPr>
                <a:xfrm>
                  <a:off x="5090893" y="56192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20:59:16:27B</a:t>
                  </a:r>
                </a:p>
              </p:txBody>
            </p:sp>
            <p:sp>
              <p:nvSpPr>
                <p:cNvPr id="79" name="TextBox 78">
                  <a:extLst>
                    <a:ext uri="{FF2B5EF4-FFF2-40B4-BE49-F238E27FC236}">
                      <a16:creationId xmlns:a16="http://schemas.microsoft.com/office/drawing/2014/main" id="{C14F1C89-78D2-F24B-B988-3F6F0BD52C1C}"/>
                    </a:ext>
                  </a:extLst>
                </p:cNvPr>
                <p:cNvSpPr txBox="1"/>
                <p:nvPr/>
              </p:nvSpPr>
              <p:spPr>
                <a:xfrm>
                  <a:off x="5090893" y="5771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20:59:17:27B</a:t>
                  </a:r>
                </a:p>
              </p:txBody>
            </p:sp>
            <p:sp>
              <p:nvSpPr>
                <p:cNvPr id="80" name="TextBox 79">
                  <a:extLst>
                    <a:ext uri="{FF2B5EF4-FFF2-40B4-BE49-F238E27FC236}">
                      <a16:creationId xmlns:a16="http://schemas.microsoft.com/office/drawing/2014/main" id="{321A6B11-6021-7C4C-8429-A51348468747}"/>
                    </a:ext>
                  </a:extLst>
                </p:cNvPr>
                <p:cNvSpPr txBox="1"/>
                <p:nvPr/>
              </p:nvSpPr>
              <p:spPr>
                <a:xfrm>
                  <a:off x="5090893" y="59240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20:59:18:27B</a:t>
                  </a:r>
                </a:p>
              </p:txBody>
            </p:sp>
          </p:grpSp>
          <p:grpSp>
            <p:nvGrpSpPr>
              <p:cNvPr id="42" name="Group 41">
                <a:extLst>
                  <a:ext uri="{FF2B5EF4-FFF2-40B4-BE49-F238E27FC236}">
                    <a16:creationId xmlns:a16="http://schemas.microsoft.com/office/drawing/2014/main" id="{57B94AE6-E5F3-7B46-8F17-5233547B8408}"/>
                  </a:ext>
                </a:extLst>
              </p:cNvPr>
              <p:cNvGrpSpPr/>
              <p:nvPr/>
            </p:nvGrpSpPr>
            <p:grpSpPr>
              <a:xfrm>
                <a:off x="4089751" y="4793094"/>
                <a:ext cx="933987" cy="1223348"/>
                <a:chOff x="5090893" y="4840921"/>
                <a:chExt cx="1106038" cy="1497576"/>
              </a:xfrm>
            </p:grpSpPr>
            <p:sp>
              <p:nvSpPr>
                <p:cNvPr id="63" name="Rounded Rectangle 62">
                  <a:extLst>
                    <a:ext uri="{FF2B5EF4-FFF2-40B4-BE49-F238E27FC236}">
                      <a16:creationId xmlns:a16="http://schemas.microsoft.com/office/drawing/2014/main" id="{9DADED07-1962-6645-ABEF-F0CAF705BBB9}"/>
                    </a:ext>
                  </a:extLst>
                </p:cNvPr>
                <p:cNvSpPr/>
                <p:nvPr/>
              </p:nvSpPr>
              <p:spPr>
                <a:xfrm>
                  <a:off x="5116031" y="4840921"/>
                  <a:ext cx="1080900" cy="1329343"/>
                </a:xfrm>
                <a:prstGeom prst="roundRect">
                  <a:avLst>
                    <a:gd name="adj" fmla="val 9147"/>
                  </a:avLst>
                </a:prstGeom>
                <a:noFill/>
                <a:ln>
                  <a:solidFill>
                    <a:srgbClr val="EC5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1502"/>
                  <a:endParaRPr lang="en-US" sz="800" dirty="0">
                    <a:solidFill>
                      <a:schemeClr val="tx1"/>
                    </a:solidFill>
                    <a:latin typeface="Courier" pitchFamily="2" charset="0"/>
                    <a:ea typeface="Amazon Ember" panose="020B0603020204020204" pitchFamily="34" charset="0"/>
                    <a:cs typeface="Amazon Ember" panose="020B0603020204020204" pitchFamily="34" charset="0"/>
                  </a:endParaRPr>
                </a:p>
              </p:txBody>
            </p:sp>
            <p:sp>
              <p:nvSpPr>
                <p:cNvPr id="64" name="TextBox 63">
                  <a:extLst>
                    <a:ext uri="{FF2B5EF4-FFF2-40B4-BE49-F238E27FC236}">
                      <a16:creationId xmlns:a16="http://schemas.microsoft.com/office/drawing/2014/main" id="{C5D564FE-6958-454D-BC38-A75CE043B9D1}"/>
                    </a:ext>
                  </a:extLst>
                </p:cNvPr>
                <p:cNvSpPr txBox="1"/>
                <p:nvPr/>
              </p:nvSpPr>
              <p:spPr>
                <a:xfrm>
                  <a:off x="5090893" y="4857253"/>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20:59:11:27B</a:t>
                  </a:r>
                </a:p>
              </p:txBody>
            </p:sp>
            <p:sp>
              <p:nvSpPr>
                <p:cNvPr id="65" name="TextBox 64">
                  <a:extLst>
                    <a:ext uri="{FF2B5EF4-FFF2-40B4-BE49-F238E27FC236}">
                      <a16:creationId xmlns:a16="http://schemas.microsoft.com/office/drawing/2014/main" id="{9B6BD8D1-5180-704F-927A-182015DDA0F2}"/>
                    </a:ext>
                  </a:extLst>
                </p:cNvPr>
                <p:cNvSpPr txBox="1"/>
                <p:nvPr/>
              </p:nvSpPr>
              <p:spPr>
                <a:xfrm>
                  <a:off x="5090893" y="5009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20:59:12:27B</a:t>
                  </a:r>
                </a:p>
              </p:txBody>
            </p:sp>
            <p:sp>
              <p:nvSpPr>
                <p:cNvPr id="66" name="TextBox 65">
                  <a:extLst>
                    <a:ext uri="{FF2B5EF4-FFF2-40B4-BE49-F238E27FC236}">
                      <a16:creationId xmlns:a16="http://schemas.microsoft.com/office/drawing/2014/main" id="{862622C2-9AF2-B940-9021-4073799E6A19}"/>
                    </a:ext>
                  </a:extLst>
                </p:cNvPr>
                <p:cNvSpPr txBox="1"/>
                <p:nvPr/>
              </p:nvSpPr>
              <p:spPr>
                <a:xfrm>
                  <a:off x="5090893" y="5162051"/>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20:59:13:27B</a:t>
                  </a:r>
                </a:p>
              </p:txBody>
            </p:sp>
            <p:sp>
              <p:nvSpPr>
                <p:cNvPr id="67" name="TextBox 66">
                  <a:extLst>
                    <a:ext uri="{FF2B5EF4-FFF2-40B4-BE49-F238E27FC236}">
                      <a16:creationId xmlns:a16="http://schemas.microsoft.com/office/drawing/2014/main" id="{E97976EE-1B03-FC45-B402-C95FD10460F5}"/>
                    </a:ext>
                  </a:extLst>
                </p:cNvPr>
                <p:cNvSpPr txBox="1"/>
                <p:nvPr/>
              </p:nvSpPr>
              <p:spPr>
                <a:xfrm>
                  <a:off x="5090893" y="53144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20:59:14:27B</a:t>
                  </a:r>
                </a:p>
              </p:txBody>
            </p:sp>
            <p:sp>
              <p:nvSpPr>
                <p:cNvPr id="68" name="TextBox 67">
                  <a:extLst>
                    <a:ext uri="{FF2B5EF4-FFF2-40B4-BE49-F238E27FC236}">
                      <a16:creationId xmlns:a16="http://schemas.microsoft.com/office/drawing/2014/main" id="{A552F78B-1887-7B4A-A1BC-95F3D4EDEB17}"/>
                    </a:ext>
                  </a:extLst>
                </p:cNvPr>
                <p:cNvSpPr txBox="1"/>
                <p:nvPr/>
              </p:nvSpPr>
              <p:spPr>
                <a:xfrm>
                  <a:off x="5090893" y="54668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20:59:15:27B</a:t>
                  </a:r>
                </a:p>
              </p:txBody>
            </p:sp>
            <p:sp>
              <p:nvSpPr>
                <p:cNvPr id="69" name="TextBox 68">
                  <a:extLst>
                    <a:ext uri="{FF2B5EF4-FFF2-40B4-BE49-F238E27FC236}">
                      <a16:creationId xmlns:a16="http://schemas.microsoft.com/office/drawing/2014/main" id="{8A462D63-CDED-9E4C-B49A-B43873BA6729}"/>
                    </a:ext>
                  </a:extLst>
                </p:cNvPr>
                <p:cNvSpPr txBox="1"/>
                <p:nvPr/>
              </p:nvSpPr>
              <p:spPr>
                <a:xfrm>
                  <a:off x="5090893" y="56192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20:59:16:27B</a:t>
                  </a:r>
                </a:p>
              </p:txBody>
            </p:sp>
            <p:sp>
              <p:nvSpPr>
                <p:cNvPr id="70" name="TextBox 69">
                  <a:extLst>
                    <a:ext uri="{FF2B5EF4-FFF2-40B4-BE49-F238E27FC236}">
                      <a16:creationId xmlns:a16="http://schemas.microsoft.com/office/drawing/2014/main" id="{9313CECE-4F9A-AC4C-95B0-1CFC1B19A40C}"/>
                    </a:ext>
                  </a:extLst>
                </p:cNvPr>
                <p:cNvSpPr txBox="1"/>
                <p:nvPr/>
              </p:nvSpPr>
              <p:spPr>
                <a:xfrm>
                  <a:off x="5090893" y="5771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20:59:17:27B</a:t>
                  </a:r>
                </a:p>
              </p:txBody>
            </p:sp>
            <p:sp>
              <p:nvSpPr>
                <p:cNvPr id="71" name="TextBox 70">
                  <a:extLst>
                    <a:ext uri="{FF2B5EF4-FFF2-40B4-BE49-F238E27FC236}">
                      <a16:creationId xmlns:a16="http://schemas.microsoft.com/office/drawing/2014/main" id="{5F50ACC4-6E94-6840-B126-F0228F17733F}"/>
                    </a:ext>
                  </a:extLst>
                </p:cNvPr>
                <p:cNvSpPr txBox="1"/>
                <p:nvPr/>
              </p:nvSpPr>
              <p:spPr>
                <a:xfrm>
                  <a:off x="5090893" y="59240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20:59:18:27B</a:t>
                  </a:r>
                </a:p>
              </p:txBody>
            </p:sp>
          </p:grpSp>
          <p:grpSp>
            <p:nvGrpSpPr>
              <p:cNvPr id="43" name="Group 42">
                <a:extLst>
                  <a:ext uri="{FF2B5EF4-FFF2-40B4-BE49-F238E27FC236}">
                    <a16:creationId xmlns:a16="http://schemas.microsoft.com/office/drawing/2014/main" id="{7DA4A9E9-4E91-A040-B12E-66E6AA4727FE}"/>
                  </a:ext>
                </a:extLst>
              </p:cNvPr>
              <p:cNvGrpSpPr/>
              <p:nvPr/>
            </p:nvGrpSpPr>
            <p:grpSpPr>
              <a:xfrm>
                <a:off x="5048151" y="4793094"/>
                <a:ext cx="933987" cy="1223348"/>
                <a:chOff x="5090893" y="4840921"/>
                <a:chExt cx="1106038" cy="1497576"/>
              </a:xfrm>
            </p:grpSpPr>
            <p:sp>
              <p:nvSpPr>
                <p:cNvPr id="54" name="Rounded Rectangle 53">
                  <a:extLst>
                    <a:ext uri="{FF2B5EF4-FFF2-40B4-BE49-F238E27FC236}">
                      <a16:creationId xmlns:a16="http://schemas.microsoft.com/office/drawing/2014/main" id="{5760FE6C-930B-6843-B628-89AE2A72A476}"/>
                    </a:ext>
                  </a:extLst>
                </p:cNvPr>
                <p:cNvSpPr/>
                <p:nvPr/>
              </p:nvSpPr>
              <p:spPr>
                <a:xfrm>
                  <a:off x="5116031" y="4840921"/>
                  <a:ext cx="1080900" cy="1329343"/>
                </a:xfrm>
                <a:prstGeom prst="roundRect">
                  <a:avLst>
                    <a:gd name="adj" fmla="val 9147"/>
                  </a:avLst>
                </a:prstGeom>
                <a:noFill/>
                <a:ln>
                  <a:solidFill>
                    <a:srgbClr val="EC5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1502"/>
                  <a:endParaRPr lang="en-US" sz="800" dirty="0">
                    <a:solidFill>
                      <a:schemeClr val="tx1"/>
                    </a:solidFill>
                    <a:latin typeface="Courier" pitchFamily="2" charset="0"/>
                    <a:ea typeface="Amazon Ember" panose="020B0603020204020204" pitchFamily="34" charset="0"/>
                    <a:cs typeface="Amazon Ember" panose="020B0603020204020204" pitchFamily="34" charset="0"/>
                  </a:endParaRPr>
                </a:p>
              </p:txBody>
            </p:sp>
            <p:sp>
              <p:nvSpPr>
                <p:cNvPr id="55" name="TextBox 54">
                  <a:extLst>
                    <a:ext uri="{FF2B5EF4-FFF2-40B4-BE49-F238E27FC236}">
                      <a16:creationId xmlns:a16="http://schemas.microsoft.com/office/drawing/2014/main" id="{A9FDED9E-667A-AE45-AB76-593C0E52E1F9}"/>
                    </a:ext>
                  </a:extLst>
                </p:cNvPr>
                <p:cNvSpPr txBox="1"/>
                <p:nvPr/>
              </p:nvSpPr>
              <p:spPr>
                <a:xfrm>
                  <a:off x="5090893" y="4857253"/>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20:59:11:27B</a:t>
                  </a:r>
                </a:p>
              </p:txBody>
            </p:sp>
            <p:sp>
              <p:nvSpPr>
                <p:cNvPr id="56" name="TextBox 55">
                  <a:extLst>
                    <a:ext uri="{FF2B5EF4-FFF2-40B4-BE49-F238E27FC236}">
                      <a16:creationId xmlns:a16="http://schemas.microsoft.com/office/drawing/2014/main" id="{CCF1C8F6-A694-D24B-958F-56CF4D22971C}"/>
                    </a:ext>
                  </a:extLst>
                </p:cNvPr>
                <p:cNvSpPr txBox="1"/>
                <p:nvPr/>
              </p:nvSpPr>
              <p:spPr>
                <a:xfrm>
                  <a:off x="5090893" y="5009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20:59:12:27B</a:t>
                  </a:r>
                </a:p>
              </p:txBody>
            </p:sp>
            <p:sp>
              <p:nvSpPr>
                <p:cNvPr id="57" name="TextBox 56">
                  <a:extLst>
                    <a:ext uri="{FF2B5EF4-FFF2-40B4-BE49-F238E27FC236}">
                      <a16:creationId xmlns:a16="http://schemas.microsoft.com/office/drawing/2014/main" id="{61F1169B-F814-0543-BCD6-A67BFB733C89}"/>
                    </a:ext>
                  </a:extLst>
                </p:cNvPr>
                <p:cNvSpPr txBox="1"/>
                <p:nvPr/>
              </p:nvSpPr>
              <p:spPr>
                <a:xfrm>
                  <a:off x="5090893" y="5162051"/>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20:59:13:27B</a:t>
                  </a:r>
                </a:p>
              </p:txBody>
            </p:sp>
            <p:sp>
              <p:nvSpPr>
                <p:cNvPr id="58" name="TextBox 57">
                  <a:extLst>
                    <a:ext uri="{FF2B5EF4-FFF2-40B4-BE49-F238E27FC236}">
                      <a16:creationId xmlns:a16="http://schemas.microsoft.com/office/drawing/2014/main" id="{09A62C3B-C7A6-3F48-84F5-56C5D9C6F4A6}"/>
                    </a:ext>
                  </a:extLst>
                </p:cNvPr>
                <p:cNvSpPr txBox="1"/>
                <p:nvPr/>
              </p:nvSpPr>
              <p:spPr>
                <a:xfrm>
                  <a:off x="5090893" y="53144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20:59:14:27B</a:t>
                  </a:r>
                </a:p>
              </p:txBody>
            </p:sp>
            <p:sp>
              <p:nvSpPr>
                <p:cNvPr id="59" name="TextBox 58">
                  <a:extLst>
                    <a:ext uri="{FF2B5EF4-FFF2-40B4-BE49-F238E27FC236}">
                      <a16:creationId xmlns:a16="http://schemas.microsoft.com/office/drawing/2014/main" id="{2BBC41A6-D67F-0E44-9167-8DDDC68E5F6F}"/>
                    </a:ext>
                  </a:extLst>
                </p:cNvPr>
                <p:cNvSpPr txBox="1"/>
                <p:nvPr/>
              </p:nvSpPr>
              <p:spPr>
                <a:xfrm>
                  <a:off x="5090893" y="54668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20:59:15:27B</a:t>
                  </a:r>
                </a:p>
              </p:txBody>
            </p:sp>
            <p:sp>
              <p:nvSpPr>
                <p:cNvPr id="60" name="TextBox 59">
                  <a:extLst>
                    <a:ext uri="{FF2B5EF4-FFF2-40B4-BE49-F238E27FC236}">
                      <a16:creationId xmlns:a16="http://schemas.microsoft.com/office/drawing/2014/main" id="{03A9ADCE-4C6E-D94F-860A-8294B5D3AD8F}"/>
                    </a:ext>
                  </a:extLst>
                </p:cNvPr>
                <p:cNvSpPr txBox="1"/>
                <p:nvPr/>
              </p:nvSpPr>
              <p:spPr>
                <a:xfrm>
                  <a:off x="5090893" y="56192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20:59:16:27B</a:t>
                  </a:r>
                </a:p>
              </p:txBody>
            </p:sp>
            <p:sp>
              <p:nvSpPr>
                <p:cNvPr id="61" name="TextBox 60">
                  <a:extLst>
                    <a:ext uri="{FF2B5EF4-FFF2-40B4-BE49-F238E27FC236}">
                      <a16:creationId xmlns:a16="http://schemas.microsoft.com/office/drawing/2014/main" id="{4E04E36C-3A79-B34A-AEEC-6F998E1D17D1}"/>
                    </a:ext>
                  </a:extLst>
                </p:cNvPr>
                <p:cNvSpPr txBox="1"/>
                <p:nvPr/>
              </p:nvSpPr>
              <p:spPr>
                <a:xfrm>
                  <a:off x="5090893" y="5771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20:59:17:27B</a:t>
                  </a:r>
                </a:p>
              </p:txBody>
            </p:sp>
            <p:sp>
              <p:nvSpPr>
                <p:cNvPr id="62" name="TextBox 61">
                  <a:extLst>
                    <a:ext uri="{FF2B5EF4-FFF2-40B4-BE49-F238E27FC236}">
                      <a16:creationId xmlns:a16="http://schemas.microsoft.com/office/drawing/2014/main" id="{CCE2B6E5-6561-BB4A-BC5D-FA2A0E6A00BD}"/>
                    </a:ext>
                  </a:extLst>
                </p:cNvPr>
                <p:cNvSpPr txBox="1"/>
                <p:nvPr/>
              </p:nvSpPr>
              <p:spPr>
                <a:xfrm>
                  <a:off x="5090893" y="59240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20:59:18:27B</a:t>
                  </a:r>
                </a:p>
              </p:txBody>
            </p:sp>
          </p:grpSp>
          <p:grpSp>
            <p:nvGrpSpPr>
              <p:cNvPr id="44" name="Group 43">
                <a:extLst>
                  <a:ext uri="{FF2B5EF4-FFF2-40B4-BE49-F238E27FC236}">
                    <a16:creationId xmlns:a16="http://schemas.microsoft.com/office/drawing/2014/main" id="{ED176552-ADED-FA41-8715-3DCE93CF8E1D}"/>
                  </a:ext>
                </a:extLst>
              </p:cNvPr>
              <p:cNvGrpSpPr/>
              <p:nvPr/>
            </p:nvGrpSpPr>
            <p:grpSpPr>
              <a:xfrm>
                <a:off x="6006551" y="4793094"/>
                <a:ext cx="933987" cy="1223348"/>
                <a:chOff x="5090893" y="4840921"/>
                <a:chExt cx="1106038" cy="1497576"/>
              </a:xfrm>
            </p:grpSpPr>
            <p:sp>
              <p:nvSpPr>
                <p:cNvPr id="45" name="Rounded Rectangle 44">
                  <a:extLst>
                    <a:ext uri="{FF2B5EF4-FFF2-40B4-BE49-F238E27FC236}">
                      <a16:creationId xmlns:a16="http://schemas.microsoft.com/office/drawing/2014/main" id="{D3101343-8309-E840-84F4-9D4DC2C3EB25}"/>
                    </a:ext>
                  </a:extLst>
                </p:cNvPr>
                <p:cNvSpPr/>
                <p:nvPr/>
              </p:nvSpPr>
              <p:spPr>
                <a:xfrm>
                  <a:off x="5116031" y="4840921"/>
                  <a:ext cx="1080900" cy="1329343"/>
                </a:xfrm>
                <a:prstGeom prst="roundRect">
                  <a:avLst>
                    <a:gd name="adj" fmla="val 9147"/>
                  </a:avLst>
                </a:prstGeom>
                <a:noFill/>
                <a:ln>
                  <a:solidFill>
                    <a:srgbClr val="EC5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1502"/>
                  <a:endParaRPr lang="en-US" sz="800" dirty="0">
                    <a:solidFill>
                      <a:schemeClr val="tx1"/>
                    </a:solidFill>
                    <a:latin typeface="Courier" pitchFamily="2" charset="0"/>
                    <a:ea typeface="Amazon Ember" panose="020B0603020204020204" pitchFamily="34" charset="0"/>
                    <a:cs typeface="Amazon Ember" panose="020B0603020204020204" pitchFamily="34" charset="0"/>
                  </a:endParaRPr>
                </a:p>
              </p:txBody>
            </p:sp>
            <p:sp>
              <p:nvSpPr>
                <p:cNvPr id="46" name="TextBox 45">
                  <a:extLst>
                    <a:ext uri="{FF2B5EF4-FFF2-40B4-BE49-F238E27FC236}">
                      <a16:creationId xmlns:a16="http://schemas.microsoft.com/office/drawing/2014/main" id="{2EA5F242-99DB-7A4D-9DF8-DE773B312CCE}"/>
                    </a:ext>
                  </a:extLst>
                </p:cNvPr>
                <p:cNvSpPr txBox="1"/>
                <p:nvPr/>
              </p:nvSpPr>
              <p:spPr>
                <a:xfrm>
                  <a:off x="5090893" y="4857253"/>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20:59:11:27B</a:t>
                  </a:r>
                </a:p>
              </p:txBody>
            </p:sp>
            <p:sp>
              <p:nvSpPr>
                <p:cNvPr id="47" name="TextBox 46">
                  <a:extLst>
                    <a:ext uri="{FF2B5EF4-FFF2-40B4-BE49-F238E27FC236}">
                      <a16:creationId xmlns:a16="http://schemas.microsoft.com/office/drawing/2014/main" id="{66D49A57-74FC-DE47-B088-1747B71BD545}"/>
                    </a:ext>
                  </a:extLst>
                </p:cNvPr>
                <p:cNvSpPr txBox="1"/>
                <p:nvPr/>
              </p:nvSpPr>
              <p:spPr>
                <a:xfrm>
                  <a:off x="5090893" y="5009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20:59:12:27B</a:t>
                  </a:r>
                </a:p>
              </p:txBody>
            </p:sp>
            <p:sp>
              <p:nvSpPr>
                <p:cNvPr id="48" name="TextBox 47">
                  <a:extLst>
                    <a:ext uri="{FF2B5EF4-FFF2-40B4-BE49-F238E27FC236}">
                      <a16:creationId xmlns:a16="http://schemas.microsoft.com/office/drawing/2014/main" id="{A8F047C8-609D-8544-B33A-4FA31E0FC3CE}"/>
                    </a:ext>
                  </a:extLst>
                </p:cNvPr>
                <p:cNvSpPr txBox="1"/>
                <p:nvPr/>
              </p:nvSpPr>
              <p:spPr>
                <a:xfrm>
                  <a:off x="5090893" y="5162051"/>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20:59:13:27B</a:t>
                  </a:r>
                </a:p>
              </p:txBody>
            </p:sp>
            <p:sp>
              <p:nvSpPr>
                <p:cNvPr id="49" name="TextBox 48">
                  <a:extLst>
                    <a:ext uri="{FF2B5EF4-FFF2-40B4-BE49-F238E27FC236}">
                      <a16:creationId xmlns:a16="http://schemas.microsoft.com/office/drawing/2014/main" id="{D23FF719-E4B2-8742-8514-2F30BA50186B}"/>
                    </a:ext>
                  </a:extLst>
                </p:cNvPr>
                <p:cNvSpPr txBox="1"/>
                <p:nvPr/>
              </p:nvSpPr>
              <p:spPr>
                <a:xfrm>
                  <a:off x="5090893" y="53144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20:59:14:27B</a:t>
                  </a:r>
                </a:p>
              </p:txBody>
            </p:sp>
            <p:sp>
              <p:nvSpPr>
                <p:cNvPr id="50" name="TextBox 49">
                  <a:extLst>
                    <a:ext uri="{FF2B5EF4-FFF2-40B4-BE49-F238E27FC236}">
                      <a16:creationId xmlns:a16="http://schemas.microsoft.com/office/drawing/2014/main" id="{E466B77F-1056-FF4D-85D2-24D68A048348}"/>
                    </a:ext>
                  </a:extLst>
                </p:cNvPr>
                <p:cNvSpPr txBox="1"/>
                <p:nvPr/>
              </p:nvSpPr>
              <p:spPr>
                <a:xfrm>
                  <a:off x="5090893" y="54668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20:59:15:27B</a:t>
                  </a:r>
                </a:p>
              </p:txBody>
            </p:sp>
            <p:sp>
              <p:nvSpPr>
                <p:cNvPr id="51" name="TextBox 50">
                  <a:extLst>
                    <a:ext uri="{FF2B5EF4-FFF2-40B4-BE49-F238E27FC236}">
                      <a16:creationId xmlns:a16="http://schemas.microsoft.com/office/drawing/2014/main" id="{DFF19FB4-5E08-CB47-B743-6DB763BBA2C7}"/>
                    </a:ext>
                  </a:extLst>
                </p:cNvPr>
                <p:cNvSpPr txBox="1"/>
                <p:nvPr/>
              </p:nvSpPr>
              <p:spPr>
                <a:xfrm>
                  <a:off x="5090893" y="56192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20:59:16:27B</a:t>
                  </a:r>
                </a:p>
              </p:txBody>
            </p:sp>
            <p:sp>
              <p:nvSpPr>
                <p:cNvPr id="52" name="TextBox 51">
                  <a:extLst>
                    <a:ext uri="{FF2B5EF4-FFF2-40B4-BE49-F238E27FC236}">
                      <a16:creationId xmlns:a16="http://schemas.microsoft.com/office/drawing/2014/main" id="{08BE7209-23E8-9047-911E-519516589494}"/>
                    </a:ext>
                  </a:extLst>
                </p:cNvPr>
                <p:cNvSpPr txBox="1"/>
                <p:nvPr/>
              </p:nvSpPr>
              <p:spPr>
                <a:xfrm>
                  <a:off x="5090893" y="57716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20:59:17:27B</a:t>
                  </a:r>
                </a:p>
              </p:txBody>
            </p:sp>
            <p:sp>
              <p:nvSpPr>
                <p:cNvPr id="53" name="TextBox 52">
                  <a:extLst>
                    <a:ext uri="{FF2B5EF4-FFF2-40B4-BE49-F238E27FC236}">
                      <a16:creationId xmlns:a16="http://schemas.microsoft.com/office/drawing/2014/main" id="{44D8A50A-4BAB-274D-BCDD-DB3E065215E0}"/>
                    </a:ext>
                  </a:extLst>
                </p:cNvPr>
                <p:cNvSpPr txBox="1"/>
                <p:nvPr/>
              </p:nvSpPr>
              <p:spPr>
                <a:xfrm>
                  <a:off x="5090893" y="5924052"/>
                  <a:ext cx="1106038" cy="414445"/>
                </a:xfrm>
                <a:prstGeom prst="rect">
                  <a:avLst/>
                </a:prstGeom>
                <a:noFill/>
              </p:spPr>
              <p:txBody>
                <a:bodyPr wrap="square" rtlCol="0">
                  <a:spAutoFit/>
                </a:bodyPr>
                <a:lstStyle/>
                <a:p>
                  <a:pPr defTabSz="731502"/>
                  <a:r>
                    <a:rPr lang="en-US" sz="800" dirty="0">
                      <a:latin typeface="Courier" pitchFamily="2" charset="0"/>
                      <a:ea typeface="Amazon Ember" panose="020B0603020204020204" pitchFamily="34" charset="0"/>
                      <a:cs typeface="Amazon Ember" panose="020B0603020204020204" pitchFamily="34" charset="0"/>
                    </a:rPr>
                    <a:t>20:59:18:27B</a:t>
                  </a:r>
                </a:p>
              </p:txBody>
            </p:sp>
          </p:grpSp>
        </p:grpSp>
        <p:sp>
          <p:nvSpPr>
            <p:cNvPr id="39" name="TextBox 20">
              <a:extLst>
                <a:ext uri="{FF2B5EF4-FFF2-40B4-BE49-F238E27FC236}">
                  <a16:creationId xmlns:a16="http://schemas.microsoft.com/office/drawing/2014/main" id="{BB8F1A60-9620-D748-B50D-6006DFB7CAFD}"/>
                </a:ext>
              </a:extLst>
            </p:cNvPr>
            <p:cNvSpPr txBox="1">
              <a:spLocks noChangeArrowheads="1"/>
            </p:cNvSpPr>
            <p:nvPr/>
          </p:nvSpPr>
          <p:spPr bwMode="auto">
            <a:xfrm>
              <a:off x="4937408" y="6218311"/>
              <a:ext cx="25759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CloudWatch log groups</a:t>
              </a:r>
            </a:p>
          </p:txBody>
        </p:sp>
        <p:sp>
          <p:nvSpPr>
            <p:cNvPr id="40" name="Rounded Rectangle 39">
              <a:extLst>
                <a:ext uri="{FF2B5EF4-FFF2-40B4-BE49-F238E27FC236}">
                  <a16:creationId xmlns:a16="http://schemas.microsoft.com/office/drawing/2014/main" id="{D48892DD-567F-B64B-AA30-FB933C0BE56B}"/>
                </a:ext>
              </a:extLst>
            </p:cNvPr>
            <p:cNvSpPr/>
            <p:nvPr/>
          </p:nvSpPr>
          <p:spPr bwMode="auto">
            <a:xfrm>
              <a:off x="4905522" y="5008197"/>
              <a:ext cx="3913358" cy="1548668"/>
            </a:xfrm>
            <a:prstGeom prst="roundRect">
              <a:avLst>
                <a:gd name="adj" fmla="val 6526"/>
              </a:avLst>
            </a:prstGeom>
            <a:noFill/>
            <a:ln w="19050">
              <a:solidFill>
                <a:srgbClr val="EC5D8B"/>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81" name="grp_CloudWatch">
            <a:extLst>
              <a:ext uri="{FF2B5EF4-FFF2-40B4-BE49-F238E27FC236}">
                <a16:creationId xmlns:a16="http://schemas.microsoft.com/office/drawing/2014/main" id="{3B1F2968-0E8D-3F4F-AE21-FE4663E87728}"/>
              </a:ext>
            </a:extLst>
          </p:cNvPr>
          <p:cNvGrpSpPr/>
          <p:nvPr/>
        </p:nvGrpSpPr>
        <p:grpSpPr>
          <a:xfrm>
            <a:off x="3880944" y="1723801"/>
            <a:ext cx="4287496" cy="5184999"/>
            <a:chOff x="4724424" y="1723801"/>
            <a:chExt cx="4287496" cy="5184999"/>
          </a:xfrm>
        </p:grpSpPr>
        <p:sp>
          <p:nvSpPr>
            <p:cNvPr id="82" name="TextBox 20">
              <a:extLst>
                <a:ext uri="{FF2B5EF4-FFF2-40B4-BE49-F238E27FC236}">
                  <a16:creationId xmlns:a16="http://schemas.microsoft.com/office/drawing/2014/main" id="{E12608F6-C0F7-8241-BCD7-990276EF6D7D}"/>
                </a:ext>
              </a:extLst>
            </p:cNvPr>
            <p:cNvSpPr txBox="1">
              <a:spLocks noChangeArrowheads="1"/>
            </p:cNvSpPr>
            <p:nvPr/>
          </p:nvSpPr>
          <p:spPr bwMode="auto">
            <a:xfrm>
              <a:off x="5769928" y="1815509"/>
              <a:ext cx="2342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Amazon CloudWatch</a:t>
              </a:r>
            </a:p>
          </p:txBody>
        </p:sp>
        <p:pic>
          <p:nvPicPr>
            <p:cNvPr id="83" name="Graphic 24">
              <a:extLst>
                <a:ext uri="{FF2B5EF4-FFF2-40B4-BE49-F238E27FC236}">
                  <a16:creationId xmlns:a16="http://schemas.microsoft.com/office/drawing/2014/main" id="{390551EA-BDBA-D94A-930A-EE0EB8F588A5}"/>
                </a:ext>
              </a:extLst>
            </p:cNvPr>
            <p:cNvPicPr>
              <a:picLocks noChangeAspect="1"/>
            </p:cNvPicPr>
            <p:nvPr/>
          </p:nvPicPr>
          <p:blipFill>
            <a:blip r:embed="rId12">
              <a:extLst/>
            </a:blip>
            <a:stretch>
              <a:fillRect/>
            </a:stretch>
          </p:blipFill>
          <p:spPr>
            <a:xfrm>
              <a:off x="4724424" y="1723801"/>
              <a:ext cx="711200" cy="711200"/>
            </a:xfrm>
            <a:prstGeom prst="rect">
              <a:avLst/>
            </a:prstGeom>
          </p:spPr>
        </p:pic>
        <p:sp>
          <p:nvSpPr>
            <p:cNvPr id="84" name="Rectangle 83">
              <a:extLst>
                <a:ext uri="{FF2B5EF4-FFF2-40B4-BE49-F238E27FC236}">
                  <a16:creationId xmlns:a16="http://schemas.microsoft.com/office/drawing/2014/main" id="{B0587BCF-0EAA-D549-808D-690B7E5775BD}"/>
                </a:ext>
              </a:extLst>
            </p:cNvPr>
            <p:cNvSpPr/>
            <p:nvPr/>
          </p:nvSpPr>
          <p:spPr bwMode="auto">
            <a:xfrm>
              <a:off x="4724424" y="1723802"/>
              <a:ext cx="4287496" cy="5184998"/>
            </a:xfrm>
            <a:prstGeom prst="rect">
              <a:avLst/>
            </a:prstGeom>
            <a:noFill/>
            <a:ln w="19050">
              <a:solidFill>
                <a:srgbClr val="EC5D8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85" name="grp_VPC_Flow_Logs">
            <a:extLst>
              <a:ext uri="{FF2B5EF4-FFF2-40B4-BE49-F238E27FC236}">
                <a16:creationId xmlns:a16="http://schemas.microsoft.com/office/drawing/2014/main" id="{DA823E77-DC90-AB43-8D0A-14F873FBB95D}"/>
              </a:ext>
            </a:extLst>
          </p:cNvPr>
          <p:cNvGrpSpPr/>
          <p:nvPr/>
        </p:nvGrpSpPr>
        <p:grpSpPr>
          <a:xfrm>
            <a:off x="2052467" y="5536950"/>
            <a:ext cx="1258887" cy="1272049"/>
            <a:chOff x="2895947" y="5536950"/>
            <a:chExt cx="1258887" cy="1272049"/>
          </a:xfrm>
        </p:grpSpPr>
        <p:sp>
          <p:nvSpPr>
            <p:cNvPr id="86" name="TextBox 23">
              <a:extLst>
                <a:ext uri="{FF2B5EF4-FFF2-40B4-BE49-F238E27FC236}">
                  <a16:creationId xmlns:a16="http://schemas.microsoft.com/office/drawing/2014/main" id="{6B0CCA04-FC70-474B-9E3B-64AF57A0A521}"/>
                </a:ext>
              </a:extLst>
            </p:cNvPr>
            <p:cNvSpPr txBox="1">
              <a:spLocks noChangeArrowheads="1"/>
            </p:cNvSpPr>
            <p:nvPr/>
          </p:nvSpPr>
          <p:spPr bwMode="auto">
            <a:xfrm>
              <a:off x="2895947" y="6224224"/>
              <a:ext cx="12588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VPC Flow Logs</a:t>
              </a:r>
              <a:endParaRPr lang="en-US" alt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pic>
          <p:nvPicPr>
            <p:cNvPr id="87" name="Graphic 49">
              <a:extLst>
                <a:ext uri="{FF2B5EF4-FFF2-40B4-BE49-F238E27FC236}">
                  <a16:creationId xmlns:a16="http://schemas.microsoft.com/office/drawing/2014/main" id="{F103BCB2-AAAF-7F4E-B6B9-7ED88A779349}"/>
                </a:ext>
              </a:extLst>
            </p:cNvPr>
            <p:cNvPicPr>
              <a:picLocks noChangeAspect="1"/>
            </p:cNvPicPr>
            <p:nvPr/>
          </p:nvPicPr>
          <p:blipFill>
            <a:blip r:embed="rId13">
              <a:extLst/>
            </a:blip>
            <a:stretch>
              <a:fillRect/>
            </a:stretch>
          </p:blipFill>
          <p:spPr>
            <a:xfrm>
              <a:off x="3204653" y="5536950"/>
              <a:ext cx="707980" cy="707980"/>
            </a:xfrm>
            <a:prstGeom prst="rect">
              <a:avLst/>
            </a:prstGeom>
          </p:spPr>
        </p:pic>
      </p:grpSp>
      <p:grpSp>
        <p:nvGrpSpPr>
          <p:cNvPr id="88" name="grp_Aurora">
            <a:extLst>
              <a:ext uri="{FF2B5EF4-FFF2-40B4-BE49-F238E27FC236}">
                <a16:creationId xmlns:a16="http://schemas.microsoft.com/office/drawing/2014/main" id="{247C0B8B-9CF7-0842-94BC-753C831B96BD}"/>
              </a:ext>
            </a:extLst>
          </p:cNvPr>
          <p:cNvGrpSpPr/>
          <p:nvPr/>
        </p:nvGrpSpPr>
        <p:grpSpPr>
          <a:xfrm>
            <a:off x="1767492" y="4061187"/>
            <a:ext cx="1907830" cy="1320021"/>
            <a:chOff x="2610972" y="4061187"/>
            <a:chExt cx="1907830" cy="1320021"/>
          </a:xfrm>
        </p:grpSpPr>
        <p:sp>
          <p:nvSpPr>
            <p:cNvPr id="89" name="TextBox 20">
              <a:extLst>
                <a:ext uri="{FF2B5EF4-FFF2-40B4-BE49-F238E27FC236}">
                  <a16:creationId xmlns:a16="http://schemas.microsoft.com/office/drawing/2014/main" id="{5E34ECD3-24B0-674C-98D5-4141AB23FA8D}"/>
                </a:ext>
              </a:extLst>
            </p:cNvPr>
            <p:cNvSpPr txBox="1">
              <a:spLocks noChangeArrowheads="1"/>
            </p:cNvSpPr>
            <p:nvPr/>
          </p:nvSpPr>
          <p:spPr bwMode="auto">
            <a:xfrm>
              <a:off x="2610972" y="4796433"/>
              <a:ext cx="19078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Amazon</a:t>
              </a:r>
              <a:br>
                <a:rPr lang="en-US" altLang="en-US" sz="1600" dirty="0">
                  <a:latin typeface="Amazon Ember" panose="020B0603020204020204" pitchFamily="34" charset="0"/>
                  <a:ea typeface="Amazon Ember" panose="020B0603020204020204" pitchFamily="34" charset="0"/>
                  <a:cs typeface="Amazon Ember" panose="020B0603020204020204" pitchFamily="34" charset="0"/>
                </a:rPr>
              </a:br>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Aurora</a:t>
              </a:r>
            </a:p>
          </p:txBody>
        </p:sp>
        <p:pic>
          <p:nvPicPr>
            <p:cNvPr id="90" name="Graphic 26">
              <a:extLst>
                <a:ext uri="{FF2B5EF4-FFF2-40B4-BE49-F238E27FC236}">
                  <a16:creationId xmlns:a16="http://schemas.microsoft.com/office/drawing/2014/main" id="{924CC488-4F96-344F-BD30-8242E705669A}"/>
                </a:ext>
              </a:extLst>
            </p:cNvPr>
            <p:cNvPicPr>
              <a:picLocks noChangeAspect="1"/>
            </p:cNvPicPr>
            <p:nvPr/>
          </p:nvPicPr>
          <p:blipFill>
            <a:blip r:embed="rId14">
              <a:extLst/>
            </a:blip>
            <a:stretch>
              <a:fillRect/>
            </a:stretch>
          </p:blipFill>
          <p:spPr>
            <a:xfrm>
              <a:off x="3203043" y="4061187"/>
              <a:ext cx="711200" cy="711200"/>
            </a:xfrm>
            <a:prstGeom prst="rect">
              <a:avLst/>
            </a:prstGeom>
          </p:spPr>
        </p:pic>
      </p:grpSp>
      <p:grpSp>
        <p:nvGrpSpPr>
          <p:cNvPr id="91" name="grp_WebApp">
            <a:extLst>
              <a:ext uri="{FF2B5EF4-FFF2-40B4-BE49-F238E27FC236}">
                <a16:creationId xmlns:a16="http://schemas.microsoft.com/office/drawing/2014/main" id="{1D6668A1-FC5A-7540-8D53-6E910E05B378}"/>
              </a:ext>
            </a:extLst>
          </p:cNvPr>
          <p:cNvGrpSpPr/>
          <p:nvPr/>
        </p:nvGrpSpPr>
        <p:grpSpPr>
          <a:xfrm>
            <a:off x="1973175" y="2585424"/>
            <a:ext cx="1514475" cy="1320422"/>
            <a:chOff x="2816655" y="2585424"/>
            <a:chExt cx="1514475" cy="1320422"/>
          </a:xfrm>
        </p:grpSpPr>
        <p:sp>
          <p:nvSpPr>
            <p:cNvPr id="92" name="TextBox 13">
              <a:extLst>
                <a:ext uri="{FF2B5EF4-FFF2-40B4-BE49-F238E27FC236}">
                  <a16:creationId xmlns:a16="http://schemas.microsoft.com/office/drawing/2014/main" id="{DDFD77ED-D08B-C447-8621-0BF761680562}"/>
                </a:ext>
              </a:extLst>
            </p:cNvPr>
            <p:cNvSpPr txBox="1">
              <a:spLocks noChangeArrowheads="1"/>
            </p:cNvSpPr>
            <p:nvPr/>
          </p:nvSpPr>
          <p:spPr bwMode="auto">
            <a:xfrm>
              <a:off x="2816655" y="3321071"/>
              <a:ext cx="15144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WebApp </a:t>
              </a:r>
              <a:r>
                <a:rPr lang="en-US" altLang="en-US"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instances</a:t>
              </a:r>
              <a:endParaRPr lang="en-US" altLang="en-US" sz="1600" dirty="0">
                <a:solidFill>
                  <a:srgbClr val="FFFFFF"/>
                </a:solidFill>
                <a:latin typeface="Amazon Ember" panose="02000000000000000000" pitchFamily="2" charset="0"/>
                <a:ea typeface="Amazon Ember" panose="020B0603020204020204" pitchFamily="34" charset="0"/>
                <a:cs typeface="Amazon Ember" panose="020B0603020204020204" pitchFamily="34" charset="0"/>
              </a:endParaRPr>
            </a:p>
          </p:txBody>
        </p:sp>
        <p:pic>
          <p:nvPicPr>
            <p:cNvPr id="93" name="Graphic 7">
              <a:extLst>
                <a:ext uri="{FF2B5EF4-FFF2-40B4-BE49-F238E27FC236}">
                  <a16:creationId xmlns:a16="http://schemas.microsoft.com/office/drawing/2014/main" id="{3101A8B8-3248-F649-B5AB-E8567297FAE8}"/>
                </a:ext>
              </a:extLst>
            </p:cNvPr>
            <p:cNvPicPr>
              <a:picLocks noChangeAspect="1"/>
            </p:cNvPicPr>
            <p:nvPr/>
          </p:nvPicPr>
          <p:blipFill>
            <a:blip r:embed="rId15">
              <a:extLst/>
            </a:blip>
            <a:stretch>
              <a:fillRect/>
            </a:stretch>
          </p:blipFill>
          <p:spPr>
            <a:xfrm>
              <a:off x="3203043" y="2585424"/>
              <a:ext cx="711200" cy="711200"/>
            </a:xfrm>
            <a:prstGeom prst="rect">
              <a:avLst/>
            </a:prstGeom>
          </p:spPr>
        </p:pic>
      </p:grpSp>
      <p:grpSp>
        <p:nvGrpSpPr>
          <p:cNvPr id="94" name="grp_VPC">
            <a:extLst>
              <a:ext uri="{FF2B5EF4-FFF2-40B4-BE49-F238E27FC236}">
                <a16:creationId xmlns:a16="http://schemas.microsoft.com/office/drawing/2014/main" id="{DC1ECB56-F385-D040-A38E-E5DA45EEAE2C}"/>
              </a:ext>
            </a:extLst>
          </p:cNvPr>
          <p:cNvGrpSpPr/>
          <p:nvPr/>
        </p:nvGrpSpPr>
        <p:grpSpPr>
          <a:xfrm>
            <a:off x="1889828" y="1723802"/>
            <a:ext cx="1650376" cy="5184998"/>
            <a:chOff x="2733308" y="1723802"/>
            <a:chExt cx="1650376" cy="5184998"/>
          </a:xfrm>
        </p:grpSpPr>
        <p:sp>
          <p:nvSpPr>
            <p:cNvPr id="95" name="Rectangle 94">
              <a:extLst>
                <a:ext uri="{FF2B5EF4-FFF2-40B4-BE49-F238E27FC236}">
                  <a16:creationId xmlns:a16="http://schemas.microsoft.com/office/drawing/2014/main" id="{5564A4D2-BA33-704B-91D2-7749D0A0CD0A}"/>
                </a:ext>
              </a:extLst>
            </p:cNvPr>
            <p:cNvSpPr/>
            <p:nvPr/>
          </p:nvSpPr>
          <p:spPr>
            <a:xfrm>
              <a:off x="2733308" y="1723802"/>
              <a:ext cx="1650376" cy="5184998"/>
            </a:xfrm>
            <a:prstGeom prst="rect">
              <a:avLst/>
            </a:prstGeom>
            <a:noFill/>
            <a:ln w="19050">
              <a:solidFill>
                <a:srgbClr val="7BAB4E"/>
              </a:solidFill>
            </a:ln>
          </p:spPr>
          <p:style>
            <a:lnRef idx="2">
              <a:schemeClr val="accent1">
                <a:shade val="50000"/>
              </a:schemeClr>
            </a:lnRef>
            <a:fillRef idx="1">
              <a:schemeClr val="accent1"/>
            </a:fillRef>
            <a:effectRef idx="0">
              <a:schemeClr val="accent1"/>
            </a:effectRef>
            <a:fontRef idx="minor">
              <a:schemeClr val="lt1"/>
            </a:fontRef>
          </p:style>
          <p:txBody>
            <a:bodyPr lIns="457200" tIns="91440"/>
            <a:lstStyle/>
            <a:p>
              <a:pPr eaLnBrk="1" fontAlgn="auto" hangingPunct="1">
                <a:spcBef>
                  <a:spcPts val="0"/>
                </a:spcBef>
                <a:spcAft>
                  <a:spcPts val="0"/>
                </a:spcAft>
                <a:defRPr/>
              </a:pPr>
              <a:r>
                <a:rPr lang="en-US" sz="1100" dirty="0">
                  <a:ln w="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r>
                <a:rPr lang="en-US" sz="1600" dirty="0">
                  <a:ln w="0"/>
                  <a:solidFill>
                    <a:schemeClr val="tx1"/>
                  </a:solidFill>
                  <a:latin typeface="Amazon Ember" panose="020B0603020204020204" pitchFamily="34" charset="0"/>
                  <a:ea typeface="Amazon Ember" panose="020B0603020204020204" pitchFamily="34" charset="0"/>
                  <a:cs typeface="Amazon Ember" panose="020B0603020204020204" pitchFamily="34" charset="0"/>
                </a:rPr>
                <a:t>VPC</a:t>
              </a:r>
              <a:endParaRPr lang="en-US" sz="1100" dirty="0">
                <a:ln w="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6" name="Graphic 77">
              <a:extLst>
                <a:ext uri="{FF2B5EF4-FFF2-40B4-BE49-F238E27FC236}">
                  <a16:creationId xmlns:a16="http://schemas.microsoft.com/office/drawing/2014/main" id="{F6BD4FE1-1CD6-594B-9582-A26F0DBD7DF9}"/>
                </a:ext>
              </a:extLst>
            </p:cNvPr>
            <p:cNvPicPr>
              <a:picLocks noChangeAspect="1"/>
            </p:cNvPicPr>
            <p:nvPr/>
          </p:nvPicPr>
          <p:blipFill>
            <a:blip r:embed="rId16">
              <a:extLst/>
            </a:blip>
            <a:stretch>
              <a:fillRect/>
            </a:stretch>
          </p:blipFill>
          <p:spPr>
            <a:xfrm>
              <a:off x="2740120" y="1736760"/>
              <a:ext cx="707981" cy="706226"/>
            </a:xfrm>
            <a:prstGeom prst="rect">
              <a:avLst/>
            </a:prstGeom>
          </p:spPr>
        </p:pic>
      </p:grpSp>
      <p:grpSp>
        <p:nvGrpSpPr>
          <p:cNvPr id="97" name="grp_AWS_Cloud">
            <a:extLst>
              <a:ext uri="{FF2B5EF4-FFF2-40B4-BE49-F238E27FC236}">
                <a16:creationId xmlns:a16="http://schemas.microsoft.com/office/drawing/2014/main" id="{E593FCEB-9983-7544-95E7-A3D59808B464}"/>
              </a:ext>
            </a:extLst>
          </p:cNvPr>
          <p:cNvGrpSpPr/>
          <p:nvPr/>
        </p:nvGrpSpPr>
        <p:grpSpPr>
          <a:xfrm>
            <a:off x="843016" y="1293940"/>
            <a:ext cx="12395264" cy="6133020"/>
            <a:chOff x="1686496" y="1293940"/>
            <a:chExt cx="12395264" cy="6133020"/>
          </a:xfrm>
        </p:grpSpPr>
        <p:sp>
          <p:nvSpPr>
            <p:cNvPr id="98" name="Rectangle 97">
              <a:extLst>
                <a:ext uri="{FF2B5EF4-FFF2-40B4-BE49-F238E27FC236}">
                  <a16:creationId xmlns:a16="http://schemas.microsoft.com/office/drawing/2014/main" id="{DBF980DA-7502-E54B-B9A4-56249BD028F2}"/>
                </a:ext>
              </a:extLst>
            </p:cNvPr>
            <p:cNvSpPr/>
            <p:nvPr/>
          </p:nvSpPr>
          <p:spPr>
            <a:xfrm>
              <a:off x="1686496" y="1293940"/>
              <a:ext cx="12395264" cy="6133020"/>
            </a:xfrm>
            <a:prstGeom prst="rect">
              <a:avLst/>
            </a:prstGeom>
            <a:noFill/>
            <a:ln w="12700">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lIns="457200" tIns="91440"/>
            <a:lstStyle/>
            <a:p>
              <a:pPr eaLnBrk="1" fontAlgn="auto" hangingPunct="1">
                <a:spcBef>
                  <a:spcPts val="0"/>
                </a:spcBef>
                <a:spcAft>
                  <a:spcPts val="0"/>
                </a:spcAft>
                <a:defRPr/>
              </a:pPr>
              <a:endParaRPr lang="en-US" sz="1200" dirty="0">
                <a:ln w="0"/>
                <a:solidFill>
                  <a:srgbClr val="FAFAFA"/>
                </a:solidFill>
              </a:endParaRPr>
            </a:p>
          </p:txBody>
        </p:sp>
        <p:pic>
          <p:nvPicPr>
            <p:cNvPr id="99" name="Graphic 47">
              <a:extLst>
                <a:ext uri="{FF2B5EF4-FFF2-40B4-BE49-F238E27FC236}">
                  <a16:creationId xmlns:a16="http://schemas.microsoft.com/office/drawing/2014/main" id="{B19AA8E9-F13C-EB4F-A57D-F90D69049480}"/>
                </a:ext>
              </a:extLst>
            </p:cNvPr>
            <p:cNvPicPr>
              <a:picLocks noChangeAspect="1"/>
            </p:cNvPicPr>
            <p:nvPr/>
          </p:nvPicPr>
          <p:blipFill>
            <a:blip r:embed="rId17">
              <a:extLst/>
            </a:blip>
            <a:stretch>
              <a:fillRect/>
            </a:stretch>
          </p:blipFill>
          <p:spPr>
            <a:xfrm>
              <a:off x="1686496" y="1293940"/>
              <a:ext cx="922591" cy="922591"/>
            </a:xfrm>
            <a:prstGeom prst="rect">
              <a:avLst/>
            </a:prstGeom>
          </p:spPr>
        </p:pic>
        <p:sp>
          <p:nvSpPr>
            <p:cNvPr id="100" name="TextBox 20">
              <a:extLst>
                <a:ext uri="{FF2B5EF4-FFF2-40B4-BE49-F238E27FC236}">
                  <a16:creationId xmlns:a16="http://schemas.microsoft.com/office/drawing/2014/main" id="{1F114F5A-D10B-5B4C-A57F-CF6347DC1378}"/>
                </a:ext>
              </a:extLst>
            </p:cNvPr>
            <p:cNvSpPr txBox="1">
              <a:spLocks noChangeArrowheads="1"/>
            </p:cNvSpPr>
            <p:nvPr/>
          </p:nvSpPr>
          <p:spPr bwMode="auto">
            <a:xfrm>
              <a:off x="2622912" y="1346637"/>
              <a:ext cx="16503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AWS Cloud</a:t>
              </a:r>
            </a:p>
          </p:txBody>
        </p:sp>
      </p:grpSp>
      <p:cxnSp>
        <p:nvCxnSpPr>
          <p:cNvPr id="101" name="workflow_Lambda_Action">
            <a:extLst>
              <a:ext uri="{FF2B5EF4-FFF2-40B4-BE49-F238E27FC236}">
                <a16:creationId xmlns:a16="http://schemas.microsoft.com/office/drawing/2014/main" id="{85AE0321-A5C4-A642-8548-7BF65C65898E}"/>
              </a:ext>
            </a:extLst>
          </p:cNvPr>
          <p:cNvCxnSpPr>
            <a:cxnSpLocks/>
            <a:stCxn id="5" idx="2"/>
            <a:endCxn id="90" idx="1"/>
          </p:cNvCxnSpPr>
          <p:nvPr/>
        </p:nvCxnSpPr>
        <p:spPr>
          <a:xfrm rot="5400000" flipH="1">
            <a:off x="5753832" y="1022519"/>
            <a:ext cx="2243490" cy="9032027"/>
          </a:xfrm>
          <a:prstGeom prst="bentConnector4">
            <a:avLst>
              <a:gd name="adj1" fmla="val -22465"/>
              <a:gd name="adj2" fmla="val 110581"/>
            </a:avLst>
          </a:prstGeom>
          <a:ln w="28575" cap="flat">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workflow_Lambda_Runbook">
            <a:extLst>
              <a:ext uri="{FF2B5EF4-FFF2-40B4-BE49-F238E27FC236}">
                <a16:creationId xmlns:a16="http://schemas.microsoft.com/office/drawing/2014/main" id="{3D64D3B7-F7F6-574E-97A8-36AF2015D883}"/>
              </a:ext>
            </a:extLst>
          </p:cNvPr>
          <p:cNvCxnSpPr>
            <a:cxnSpLocks/>
            <a:endCxn id="6" idx="1"/>
          </p:cNvCxnSpPr>
          <p:nvPr/>
        </p:nvCxnSpPr>
        <p:spPr>
          <a:xfrm>
            <a:off x="9850207" y="5697283"/>
            <a:ext cx="622209" cy="120664"/>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3" name="workflow_SNS-Lambda">
            <a:extLst>
              <a:ext uri="{FF2B5EF4-FFF2-40B4-BE49-F238E27FC236}">
                <a16:creationId xmlns:a16="http://schemas.microsoft.com/office/drawing/2014/main" id="{297DBF4D-2528-4746-BB4F-B1E22797DB1E}"/>
              </a:ext>
            </a:extLst>
          </p:cNvPr>
          <p:cNvCxnSpPr>
            <a:cxnSpLocks/>
            <a:stCxn id="18" idx="2"/>
            <a:endCxn id="8" idx="0"/>
          </p:cNvCxnSpPr>
          <p:nvPr/>
        </p:nvCxnSpPr>
        <p:spPr>
          <a:xfrm flipH="1">
            <a:off x="9609039" y="3531597"/>
            <a:ext cx="6218" cy="1956186"/>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4" name="workflow_SNS-Email">
            <a:extLst>
              <a:ext uri="{FF2B5EF4-FFF2-40B4-BE49-F238E27FC236}">
                <a16:creationId xmlns:a16="http://schemas.microsoft.com/office/drawing/2014/main" id="{E26D24DD-82AD-604D-A714-ED003A6AFC94}"/>
              </a:ext>
            </a:extLst>
          </p:cNvPr>
          <p:cNvCxnSpPr>
            <a:cxnSpLocks/>
            <a:stCxn id="18" idx="3"/>
            <a:endCxn id="15" idx="1"/>
          </p:cNvCxnSpPr>
          <p:nvPr/>
        </p:nvCxnSpPr>
        <p:spPr>
          <a:xfrm flipV="1">
            <a:off x="9850207" y="3292695"/>
            <a:ext cx="1264788" cy="3952"/>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5" name="workflow_CW_Alarm-SNS">
            <a:extLst>
              <a:ext uri="{FF2B5EF4-FFF2-40B4-BE49-F238E27FC236}">
                <a16:creationId xmlns:a16="http://schemas.microsoft.com/office/drawing/2014/main" id="{90D00A5A-9006-EF4A-985A-8E2F5508CCFB}"/>
              </a:ext>
            </a:extLst>
          </p:cNvPr>
          <p:cNvCxnSpPr>
            <a:cxnSpLocks/>
            <a:stCxn id="26" idx="3"/>
            <a:endCxn id="18" idx="1"/>
          </p:cNvCxnSpPr>
          <p:nvPr/>
        </p:nvCxnSpPr>
        <p:spPr>
          <a:xfrm flipV="1">
            <a:off x="7975401" y="3296647"/>
            <a:ext cx="1404906" cy="462472"/>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6" name="workflow_CW_Metric-Alarm">
            <a:extLst>
              <a:ext uri="{FF2B5EF4-FFF2-40B4-BE49-F238E27FC236}">
                <a16:creationId xmlns:a16="http://schemas.microsoft.com/office/drawing/2014/main" id="{2CD8D4D0-033F-D048-B347-E4536E8CBE9F}"/>
              </a:ext>
            </a:extLst>
          </p:cNvPr>
          <p:cNvCxnSpPr>
            <a:cxnSpLocks/>
            <a:stCxn id="30" idx="3"/>
            <a:endCxn id="26" idx="1"/>
          </p:cNvCxnSpPr>
          <p:nvPr/>
        </p:nvCxnSpPr>
        <p:spPr>
          <a:xfrm flipV="1">
            <a:off x="6085386" y="3759119"/>
            <a:ext cx="402949" cy="754"/>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7" name="workflow_CW_Logs-Metrics">
            <a:extLst>
              <a:ext uri="{FF2B5EF4-FFF2-40B4-BE49-F238E27FC236}">
                <a16:creationId xmlns:a16="http://schemas.microsoft.com/office/drawing/2014/main" id="{853041FC-882B-BD45-956F-C16E2A9B35DA}"/>
              </a:ext>
            </a:extLst>
          </p:cNvPr>
          <p:cNvCxnSpPr>
            <a:cxnSpLocks/>
            <a:endCxn id="30" idx="2"/>
          </p:cNvCxnSpPr>
          <p:nvPr/>
        </p:nvCxnSpPr>
        <p:spPr>
          <a:xfrm flipV="1">
            <a:off x="5089657" y="4463763"/>
            <a:ext cx="0" cy="490916"/>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8" name="workflow_VPC_Flow_Logs-CW_Logs">
            <a:extLst>
              <a:ext uri="{FF2B5EF4-FFF2-40B4-BE49-F238E27FC236}">
                <a16:creationId xmlns:a16="http://schemas.microsoft.com/office/drawing/2014/main" id="{D77DE68A-34E5-8246-B0AE-C99BB40A91E0}"/>
              </a:ext>
            </a:extLst>
          </p:cNvPr>
          <p:cNvCxnSpPr>
            <a:cxnSpLocks/>
            <a:stCxn id="87" idx="3"/>
            <a:endCxn id="40" idx="1"/>
          </p:cNvCxnSpPr>
          <p:nvPr/>
        </p:nvCxnSpPr>
        <p:spPr>
          <a:xfrm flipV="1">
            <a:off x="3069153" y="5782531"/>
            <a:ext cx="992889" cy="108409"/>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9" name="workflow_Aurora_Logs-CW_Logs">
            <a:extLst>
              <a:ext uri="{FF2B5EF4-FFF2-40B4-BE49-F238E27FC236}">
                <a16:creationId xmlns:a16="http://schemas.microsoft.com/office/drawing/2014/main" id="{BB431294-ECE9-1D4F-99CA-D694B5E3E715}"/>
              </a:ext>
            </a:extLst>
          </p:cNvPr>
          <p:cNvCxnSpPr>
            <a:cxnSpLocks/>
            <a:stCxn id="90" idx="3"/>
            <a:endCxn id="40" idx="1"/>
          </p:cNvCxnSpPr>
          <p:nvPr/>
        </p:nvCxnSpPr>
        <p:spPr>
          <a:xfrm>
            <a:off x="3070763" y="4416787"/>
            <a:ext cx="991279" cy="1365744"/>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0" name="workflow_App_Logs-CW_Logs">
            <a:extLst>
              <a:ext uri="{FF2B5EF4-FFF2-40B4-BE49-F238E27FC236}">
                <a16:creationId xmlns:a16="http://schemas.microsoft.com/office/drawing/2014/main" id="{3E23FDFF-B829-F740-A1EC-A045608677EE}"/>
              </a:ext>
            </a:extLst>
          </p:cNvPr>
          <p:cNvCxnSpPr>
            <a:stCxn id="93" idx="3"/>
            <a:endCxn id="40" idx="1"/>
          </p:cNvCxnSpPr>
          <p:nvPr/>
        </p:nvCxnSpPr>
        <p:spPr>
          <a:xfrm>
            <a:off x="3070763" y="2941024"/>
            <a:ext cx="991279" cy="2841507"/>
          </a:xfrm>
          <a:prstGeom prst="straightConnector1">
            <a:avLst/>
          </a:prstGeom>
          <a:ln w="28575">
            <a:solidFill>
              <a:srgbClr val="F29D39"/>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1" name="Title 1">
            <a:extLst>
              <a:ext uri="{FF2B5EF4-FFF2-40B4-BE49-F238E27FC236}">
                <a16:creationId xmlns:a16="http://schemas.microsoft.com/office/drawing/2014/main" id="{C4436E19-32B0-C340-978F-84BF020DCEF3}"/>
              </a:ext>
            </a:extLst>
          </p:cNvPr>
          <p:cNvSpPr>
            <a:spLocks noGrp="1"/>
          </p:cNvSpPr>
          <p:nvPr>
            <p:ph type="title"/>
          </p:nvPr>
        </p:nvSpPr>
        <p:spPr>
          <a:xfrm>
            <a:off x="548640" y="183898"/>
            <a:ext cx="13510260" cy="873186"/>
          </a:xfrm>
        </p:spPr>
        <p:txBody>
          <a:bodyPr/>
          <a:lstStyle/>
          <a:p>
            <a:r>
              <a:rPr lang="en-US" dirty="0"/>
              <a:t>Workflow of monitoring </a:t>
            </a:r>
            <a:r>
              <a:rPr lang="en-US" dirty="0">
                <a:solidFill>
                  <a:srgbClr val="FFFFFF"/>
                </a:solidFill>
              </a:rPr>
              <a:t>action</a:t>
            </a:r>
            <a:r>
              <a:rPr lang="en-US" dirty="0"/>
              <a:t> for </a:t>
            </a:r>
            <a:r>
              <a:rPr lang="en-US" dirty="0">
                <a:solidFill>
                  <a:srgbClr val="FFFFFF"/>
                </a:solidFill>
              </a:rPr>
              <a:t>Imagetrends</a:t>
            </a:r>
          </a:p>
        </p:txBody>
      </p:sp>
    </p:spTree>
    <p:extLst>
      <p:ext uri="{BB962C8B-B14F-4D97-AF65-F5344CB8AC3E}">
        <p14:creationId xmlns:p14="http://schemas.microsoft.com/office/powerpoint/2010/main" val="87765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94"/>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91"/>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88"/>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nodeType="afterEffect">
                                  <p:stCondLst>
                                    <p:cond delay="50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37"/>
                                        </p:tgtEl>
                                        <p:attrNameLst>
                                          <p:attrName>style.visibility</p:attrName>
                                        </p:attrNameLst>
                                      </p:cBhvr>
                                      <p:to>
                                        <p:strVal val="visible"/>
                                      </p:to>
                                    </p:set>
                                  </p:childTnLst>
                                </p:cTn>
                              </p:par>
                            </p:childTnLst>
                          </p:cTn>
                        </p:par>
                        <p:par>
                          <p:cTn id="26" fill="hold">
                            <p:stCondLst>
                              <p:cond delay="500"/>
                            </p:stCondLst>
                            <p:childTnLst>
                              <p:par>
                                <p:cTn id="27" presetID="22" presetClass="entr" presetSubtype="8" fill="hold" nodeType="afterEffect">
                                  <p:stCondLst>
                                    <p:cond delay="500"/>
                                  </p:stCondLst>
                                  <p:childTnLst>
                                    <p:set>
                                      <p:cBhvr>
                                        <p:cTn id="28" dur="1" fill="hold">
                                          <p:stCondLst>
                                            <p:cond delay="0"/>
                                          </p:stCondLst>
                                        </p:cTn>
                                        <p:tgtEl>
                                          <p:spTgt spid="110"/>
                                        </p:tgtEl>
                                        <p:attrNameLst>
                                          <p:attrName>style.visibility</p:attrName>
                                        </p:attrNameLst>
                                      </p:cBhvr>
                                      <p:to>
                                        <p:strVal val="visible"/>
                                      </p:to>
                                    </p:set>
                                    <p:animEffect transition="in" filter="wipe(left)">
                                      <p:cBhvr>
                                        <p:cTn id="29" dur="500"/>
                                        <p:tgtEl>
                                          <p:spTgt spid="110"/>
                                        </p:tgtEl>
                                      </p:cBhvr>
                                    </p:animEffect>
                                  </p:childTnLst>
                                </p:cTn>
                              </p:par>
                            </p:childTnLst>
                          </p:cTn>
                        </p:par>
                        <p:par>
                          <p:cTn id="30" fill="hold">
                            <p:stCondLst>
                              <p:cond delay="1500"/>
                            </p:stCondLst>
                            <p:childTnLst>
                              <p:par>
                                <p:cTn id="31" presetID="22" presetClass="entr" presetSubtype="8" fill="hold" nodeType="afterEffect">
                                  <p:stCondLst>
                                    <p:cond delay="500"/>
                                  </p:stCondLst>
                                  <p:childTnLst>
                                    <p:set>
                                      <p:cBhvr>
                                        <p:cTn id="32" dur="1" fill="hold">
                                          <p:stCondLst>
                                            <p:cond delay="0"/>
                                          </p:stCondLst>
                                        </p:cTn>
                                        <p:tgtEl>
                                          <p:spTgt spid="109"/>
                                        </p:tgtEl>
                                        <p:attrNameLst>
                                          <p:attrName>style.visibility</p:attrName>
                                        </p:attrNameLst>
                                      </p:cBhvr>
                                      <p:to>
                                        <p:strVal val="visible"/>
                                      </p:to>
                                    </p:set>
                                    <p:animEffect transition="in" filter="wipe(left)">
                                      <p:cBhvr>
                                        <p:cTn id="33" dur="500"/>
                                        <p:tgtEl>
                                          <p:spTgt spid="109"/>
                                        </p:tgtEl>
                                      </p:cBhvr>
                                    </p:animEffect>
                                  </p:childTnLst>
                                </p:cTn>
                              </p:par>
                            </p:childTnLst>
                          </p:cTn>
                        </p:par>
                        <p:par>
                          <p:cTn id="34" fill="hold">
                            <p:stCondLst>
                              <p:cond delay="2500"/>
                            </p:stCondLst>
                            <p:childTnLst>
                              <p:par>
                                <p:cTn id="35" presetID="22" presetClass="entr" presetSubtype="8" fill="hold" nodeType="afterEffect">
                                  <p:stCondLst>
                                    <p:cond delay="500"/>
                                  </p:stCondLst>
                                  <p:childTnLst>
                                    <p:set>
                                      <p:cBhvr>
                                        <p:cTn id="36" dur="1" fill="hold">
                                          <p:stCondLst>
                                            <p:cond delay="0"/>
                                          </p:stCondLst>
                                        </p:cTn>
                                        <p:tgtEl>
                                          <p:spTgt spid="108"/>
                                        </p:tgtEl>
                                        <p:attrNameLst>
                                          <p:attrName>style.visibility</p:attrName>
                                        </p:attrNameLst>
                                      </p:cBhvr>
                                      <p:to>
                                        <p:strVal val="visible"/>
                                      </p:to>
                                    </p:set>
                                    <p:animEffect transition="in" filter="wipe(left)">
                                      <p:cBhvr>
                                        <p:cTn id="37" dur="500"/>
                                        <p:tgtEl>
                                          <p:spTgt spid="10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par>
                          <p:cTn id="42" fill="hold">
                            <p:stCondLst>
                              <p:cond delay="0"/>
                            </p:stCondLst>
                            <p:childTnLst>
                              <p:par>
                                <p:cTn id="43" presetID="22" presetClass="entr" presetSubtype="4" fill="hold" nodeType="afterEffect">
                                  <p:stCondLst>
                                    <p:cond delay="500"/>
                                  </p:stCondLst>
                                  <p:childTnLst>
                                    <p:set>
                                      <p:cBhvr>
                                        <p:cTn id="44" dur="1" fill="hold">
                                          <p:stCondLst>
                                            <p:cond delay="0"/>
                                          </p:stCondLst>
                                        </p:cTn>
                                        <p:tgtEl>
                                          <p:spTgt spid="107"/>
                                        </p:tgtEl>
                                        <p:attrNameLst>
                                          <p:attrName>style.visibility</p:attrName>
                                        </p:attrNameLst>
                                      </p:cBhvr>
                                      <p:to>
                                        <p:strVal val="visible"/>
                                      </p:to>
                                    </p:set>
                                    <p:animEffect transition="in" filter="wipe(down)">
                                      <p:cBhvr>
                                        <p:cTn id="45" dur="500"/>
                                        <p:tgtEl>
                                          <p:spTgt spid="10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par>
                          <p:cTn id="50" fill="hold">
                            <p:stCondLst>
                              <p:cond delay="0"/>
                            </p:stCondLst>
                            <p:childTnLst>
                              <p:par>
                                <p:cTn id="51" presetID="22" presetClass="entr" presetSubtype="8" fill="hold" nodeType="afterEffect">
                                  <p:stCondLst>
                                    <p:cond delay="500"/>
                                  </p:stCondLst>
                                  <p:childTnLst>
                                    <p:set>
                                      <p:cBhvr>
                                        <p:cTn id="52" dur="1" fill="hold">
                                          <p:stCondLst>
                                            <p:cond delay="0"/>
                                          </p:stCondLst>
                                        </p:cTn>
                                        <p:tgtEl>
                                          <p:spTgt spid="106"/>
                                        </p:tgtEl>
                                        <p:attrNameLst>
                                          <p:attrName>style.visibility</p:attrName>
                                        </p:attrNameLst>
                                      </p:cBhvr>
                                      <p:to>
                                        <p:strVal val="visible"/>
                                      </p:to>
                                    </p:set>
                                    <p:animEffect transition="in" filter="wipe(left)">
                                      <p:cBhvr>
                                        <p:cTn id="53" dur="500"/>
                                        <p:tgtEl>
                                          <p:spTgt spid="10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500"/>
                                  </p:stCondLst>
                                  <p:childTnLst>
                                    <p:set>
                                      <p:cBhvr>
                                        <p:cTn id="60" dur="1" fill="hold">
                                          <p:stCondLst>
                                            <p:cond delay="0"/>
                                          </p:stCondLst>
                                        </p:cTn>
                                        <p:tgtEl>
                                          <p:spTgt spid="16"/>
                                        </p:tgtEl>
                                        <p:attrNameLst>
                                          <p:attrName>style.visibility</p:attrName>
                                        </p:attrNameLst>
                                      </p:cBhvr>
                                      <p:to>
                                        <p:strVal val="visible"/>
                                      </p:to>
                                    </p:se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wipe(left)">
                                      <p:cBhvr>
                                        <p:cTn id="64" dur="500"/>
                                        <p:tgtEl>
                                          <p:spTgt spid="105"/>
                                        </p:tgtEl>
                                      </p:cBhvr>
                                    </p:animEffect>
                                  </p:childTnLst>
                                </p:cTn>
                              </p:par>
                            </p:childTnLst>
                          </p:cTn>
                        </p:par>
                        <p:par>
                          <p:cTn id="65" fill="hold">
                            <p:stCondLst>
                              <p:cond delay="1000"/>
                            </p:stCondLst>
                            <p:childTnLst>
                              <p:par>
                                <p:cTn id="66" presetID="1" presetClass="entr" presetSubtype="0" fill="hold" nodeType="afterEffect">
                                  <p:stCondLst>
                                    <p:cond delay="500"/>
                                  </p:stCondLst>
                                  <p:childTnLst>
                                    <p:set>
                                      <p:cBhvr>
                                        <p:cTn id="67" dur="1" fill="hold">
                                          <p:stCondLst>
                                            <p:cond delay="0"/>
                                          </p:stCondLst>
                                        </p:cTn>
                                        <p:tgtEl>
                                          <p:spTgt spid="13"/>
                                        </p:tgtEl>
                                        <p:attrNameLst>
                                          <p:attrName>style.visibility</p:attrName>
                                        </p:attrNameLst>
                                      </p:cBhvr>
                                      <p:to>
                                        <p:strVal val="visible"/>
                                      </p:to>
                                    </p:set>
                                  </p:childTnLst>
                                </p:cTn>
                              </p:par>
                            </p:childTnLst>
                          </p:cTn>
                        </p:par>
                        <p:par>
                          <p:cTn id="68" fill="hold">
                            <p:stCondLst>
                              <p:cond delay="1500"/>
                            </p:stCondLst>
                            <p:childTnLst>
                              <p:par>
                                <p:cTn id="69" presetID="22" presetClass="entr" presetSubtype="8" fill="hold" nodeType="afterEffect">
                                  <p:stCondLst>
                                    <p:cond delay="0"/>
                                  </p:stCondLst>
                                  <p:childTnLst>
                                    <p:set>
                                      <p:cBhvr>
                                        <p:cTn id="70" dur="1" fill="hold">
                                          <p:stCondLst>
                                            <p:cond delay="0"/>
                                          </p:stCondLst>
                                        </p:cTn>
                                        <p:tgtEl>
                                          <p:spTgt spid="104"/>
                                        </p:tgtEl>
                                        <p:attrNameLst>
                                          <p:attrName>style.visibility</p:attrName>
                                        </p:attrNameLst>
                                      </p:cBhvr>
                                      <p:to>
                                        <p:strVal val="visible"/>
                                      </p:to>
                                    </p:set>
                                    <p:animEffect transition="in" filter="wipe(left)">
                                      <p:cBhvr>
                                        <p:cTn id="71" dur="500"/>
                                        <p:tgtEl>
                                          <p:spTgt spid="104"/>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9"/>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nodeType="afterEffect">
                                  <p:stCondLst>
                                    <p:cond delay="0"/>
                                  </p:stCondLst>
                                  <p:childTnLst>
                                    <p:set>
                                      <p:cBhvr>
                                        <p:cTn id="78" dur="1" fill="hold">
                                          <p:stCondLst>
                                            <p:cond delay="0"/>
                                          </p:stCondLst>
                                        </p:cTn>
                                        <p:tgtEl>
                                          <p:spTgt spid="2"/>
                                        </p:tgtEl>
                                        <p:attrNameLst>
                                          <p:attrName>style.visibility</p:attrName>
                                        </p:attrNameLst>
                                      </p:cBhvr>
                                      <p:to>
                                        <p:strVal val="visible"/>
                                      </p:to>
                                    </p:set>
                                  </p:childTnLst>
                                </p:cTn>
                              </p:par>
                            </p:childTnLst>
                          </p:cTn>
                        </p:par>
                        <p:par>
                          <p:cTn id="79" fill="hold">
                            <p:stCondLst>
                              <p:cond delay="0"/>
                            </p:stCondLst>
                            <p:childTnLst>
                              <p:par>
                                <p:cTn id="80" presetID="22" presetClass="entr" presetSubtype="1" fill="hold" nodeType="afterEffect">
                                  <p:stCondLst>
                                    <p:cond delay="500"/>
                                  </p:stCondLst>
                                  <p:childTnLst>
                                    <p:set>
                                      <p:cBhvr>
                                        <p:cTn id="81" dur="1" fill="hold">
                                          <p:stCondLst>
                                            <p:cond delay="0"/>
                                          </p:stCondLst>
                                        </p:cTn>
                                        <p:tgtEl>
                                          <p:spTgt spid="103"/>
                                        </p:tgtEl>
                                        <p:attrNameLst>
                                          <p:attrName>style.visibility</p:attrName>
                                        </p:attrNameLst>
                                      </p:cBhvr>
                                      <p:to>
                                        <p:strVal val="visible"/>
                                      </p:to>
                                    </p:set>
                                    <p:animEffect transition="in" filter="wipe(up)">
                                      <p:cBhvr>
                                        <p:cTn id="82" dur="500"/>
                                        <p:tgtEl>
                                          <p:spTgt spid="103"/>
                                        </p:tgtEl>
                                      </p:cBhvr>
                                    </p:animEffect>
                                  </p:childTnLst>
                                </p:cTn>
                              </p:par>
                            </p:childTnLst>
                          </p:cTn>
                        </p:par>
                        <p:par>
                          <p:cTn id="83" fill="hold">
                            <p:stCondLst>
                              <p:cond delay="1000"/>
                            </p:stCondLst>
                            <p:childTnLst>
                              <p:par>
                                <p:cTn id="84" presetID="22" presetClass="entr" presetSubtype="8" fill="hold" nodeType="afterEffect">
                                  <p:stCondLst>
                                    <p:cond delay="500"/>
                                  </p:stCondLst>
                                  <p:childTnLst>
                                    <p:set>
                                      <p:cBhvr>
                                        <p:cTn id="85" dur="1" fill="hold">
                                          <p:stCondLst>
                                            <p:cond delay="0"/>
                                          </p:stCondLst>
                                        </p:cTn>
                                        <p:tgtEl>
                                          <p:spTgt spid="102"/>
                                        </p:tgtEl>
                                        <p:attrNameLst>
                                          <p:attrName>style.visibility</p:attrName>
                                        </p:attrNameLst>
                                      </p:cBhvr>
                                      <p:to>
                                        <p:strVal val="visible"/>
                                      </p:to>
                                    </p:set>
                                    <p:animEffect transition="in" filter="wipe(left)">
                                      <p:cBhvr>
                                        <p:cTn id="86" dur="500"/>
                                        <p:tgtEl>
                                          <p:spTgt spid="102"/>
                                        </p:tgtEl>
                                      </p:cBhvr>
                                    </p:animEffect>
                                  </p:childTnLst>
                                </p:cTn>
                              </p:par>
                            </p:childTnLst>
                          </p:cTn>
                        </p:par>
                        <p:par>
                          <p:cTn id="87" fill="hold">
                            <p:stCondLst>
                              <p:cond delay="2000"/>
                            </p:stCondLst>
                            <p:childTnLst>
                              <p:par>
                                <p:cTn id="88" presetID="22" presetClass="entr" presetSubtype="2" fill="hold" nodeType="afterEffect">
                                  <p:stCondLst>
                                    <p:cond delay="0"/>
                                  </p:stCondLst>
                                  <p:childTnLst>
                                    <p:set>
                                      <p:cBhvr>
                                        <p:cTn id="89" dur="1" fill="hold">
                                          <p:stCondLst>
                                            <p:cond delay="0"/>
                                          </p:stCondLst>
                                        </p:cTn>
                                        <p:tgtEl>
                                          <p:spTgt spid="101"/>
                                        </p:tgtEl>
                                        <p:attrNameLst>
                                          <p:attrName>style.visibility</p:attrName>
                                        </p:attrNameLst>
                                      </p:cBhvr>
                                      <p:to>
                                        <p:strVal val="visible"/>
                                      </p:to>
                                    </p:set>
                                    <p:animEffect transition="in" filter="wipe(right)">
                                      <p:cBhvr>
                                        <p:cTn id="90"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8656" y="2634649"/>
            <a:ext cx="9534944" cy="2001069"/>
          </a:xfrm>
        </p:spPr>
        <p:txBody>
          <a:bodyPr/>
          <a:lstStyle/>
          <a:p>
            <a:r>
              <a:rPr lang="en-US" sz="8800" b="1" dirty="0">
                <a:solidFill>
                  <a:srgbClr val="FFFFFF"/>
                </a:solidFill>
                <a:latin typeface="Amazon Ember Regular"/>
              </a:rPr>
              <a:t>The Lab</a:t>
            </a:r>
            <a:br>
              <a:rPr lang="en-US" sz="8800" b="1" dirty="0">
                <a:solidFill>
                  <a:srgbClr val="FFFFFF"/>
                </a:solidFill>
                <a:latin typeface="Amazon Ember Regular"/>
              </a:rPr>
            </a:br>
            <a:r>
              <a:rPr lang="en-US" sz="2800" b="1" dirty="0">
                <a:solidFill>
                  <a:srgbClr val="FFFFFF"/>
                </a:solidFill>
                <a:latin typeface="Amazon Ember Regular"/>
              </a:rPr>
              <a:t>https://workshop.aws-management.tools/cloudwatch/</a:t>
            </a:r>
            <a:endParaRPr lang="en-US" sz="2800" dirty="0"/>
          </a:p>
        </p:txBody>
      </p:sp>
    </p:spTree>
    <p:extLst>
      <p:ext uri="{BB962C8B-B14F-4D97-AF65-F5344CB8AC3E}">
        <p14:creationId xmlns:p14="http://schemas.microsoft.com/office/powerpoint/2010/main" val="4676847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496" y="3281940"/>
            <a:ext cx="8693624" cy="1344651"/>
          </a:xfrm>
        </p:spPr>
        <p:txBody>
          <a:bodyPr/>
          <a:lstStyle/>
          <a:p>
            <a:r>
              <a:rPr lang="en-US" sz="6600" b="1" dirty="0" smtClean="0"/>
              <a:t>Time for a quick poll</a:t>
            </a:r>
            <a:endParaRPr lang="en-US" sz="6600" b="1" dirty="0"/>
          </a:p>
        </p:txBody>
      </p:sp>
    </p:spTree>
    <p:extLst>
      <p:ext uri="{BB962C8B-B14F-4D97-AF65-F5344CB8AC3E}">
        <p14:creationId xmlns:p14="http://schemas.microsoft.com/office/powerpoint/2010/main" val="40561960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93CF-B0EA-9541-9BD1-1AC8DF56FD4C}"/>
              </a:ext>
            </a:extLst>
          </p:cNvPr>
          <p:cNvSpPr txBox="1">
            <a:spLocks/>
          </p:cNvSpPr>
          <p:nvPr/>
        </p:nvSpPr>
        <p:spPr>
          <a:xfrm>
            <a:off x="1049338" y="1146704"/>
            <a:ext cx="16824325" cy="2120900"/>
          </a:xfrm>
          <a:prstGeom prst="rect">
            <a:avLst/>
          </a:prstGeom>
        </p:spPr>
        <p:txBody>
          <a:bodyPr/>
          <a:lstStyle>
            <a:lvl1pPr algn="l" defTabSz="457200" rtl="0" eaLnBrk="1" latinLnBrk="0" hangingPunct="1">
              <a:spcBef>
                <a:spcPct val="0"/>
              </a:spcBef>
              <a:buNone/>
              <a:defRPr sz="2800" b="1" i="0" kern="1200">
                <a:solidFill>
                  <a:srgbClr val="192850"/>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fontAlgn="auto">
              <a:spcAft>
                <a:spcPts val="0"/>
              </a:spcAft>
              <a:defRPr/>
            </a:pPr>
            <a:endParaRPr lang="en-US" sz="4800" dirty="0">
              <a:solidFill>
                <a:schemeClr val="tx1"/>
              </a:solidFill>
            </a:endParaRPr>
          </a:p>
        </p:txBody>
      </p:sp>
      <p:sp>
        <p:nvSpPr>
          <p:cNvPr id="3" name="Title 1">
            <a:extLst>
              <a:ext uri="{FF2B5EF4-FFF2-40B4-BE49-F238E27FC236}">
                <a16:creationId xmlns:a16="http://schemas.microsoft.com/office/drawing/2014/main" id="{84CD3F8F-5303-C349-AA75-E71853D26733}"/>
              </a:ext>
            </a:extLst>
          </p:cNvPr>
          <p:cNvSpPr>
            <a:spLocks noGrp="1"/>
          </p:cNvSpPr>
          <p:nvPr>
            <p:ph type="title"/>
          </p:nvPr>
        </p:nvSpPr>
        <p:spPr>
          <a:xfrm>
            <a:off x="548640" y="183898"/>
            <a:ext cx="13511460" cy="873186"/>
          </a:xfrm>
        </p:spPr>
        <p:txBody>
          <a:bodyPr/>
          <a:lstStyle/>
          <a:p>
            <a:r>
              <a:rPr lang="en-US" b="1" dirty="0"/>
              <a:t>Establishing metrics</a:t>
            </a:r>
          </a:p>
        </p:txBody>
      </p:sp>
      <p:sp>
        <p:nvSpPr>
          <p:cNvPr id="4" name="Content Placeholder 4">
            <a:extLst>
              <a:ext uri="{FF2B5EF4-FFF2-40B4-BE49-F238E27FC236}">
                <a16:creationId xmlns:a16="http://schemas.microsoft.com/office/drawing/2014/main" id="{7F357B81-CD20-B84F-8653-FB47EA167A46}"/>
              </a:ext>
            </a:extLst>
          </p:cNvPr>
          <p:cNvSpPr txBox="1">
            <a:spLocks/>
          </p:cNvSpPr>
          <p:nvPr/>
        </p:nvSpPr>
        <p:spPr>
          <a:xfrm>
            <a:off x="548640" y="1645920"/>
            <a:ext cx="13510260" cy="5431155"/>
          </a:xfrm>
          <a:prstGeom prst="rect">
            <a:avLst/>
          </a:prstGeom>
        </p:spPr>
        <p:txBody>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571500" indent="-571500">
              <a:spcBef>
                <a:spcPts val="0"/>
              </a:spcBef>
              <a:spcAft>
                <a:spcPts val="6500"/>
              </a:spcAft>
              <a:buClr>
                <a:srgbClr val="5983F7"/>
              </a:buClr>
              <a:buFont typeface="Arial" panose="020B0604020202020204" pitchFamily="34" charset="0"/>
              <a:buChar char="•"/>
              <a:defRPr/>
            </a:pPr>
            <a:r>
              <a:rPr lang="en-US" sz="3600" dirty="0" smtClean="0"/>
              <a:t>Configure logs to be centralized</a:t>
            </a:r>
            <a:endParaRPr lang="en-US" sz="3600" dirty="0" smtClean="0">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dirty="0" smtClean="0"/>
              <a:t>Setup filters aligned to business outcomes</a:t>
            </a:r>
          </a:p>
          <a:p>
            <a:pPr marL="571500" indent="-571500">
              <a:spcBef>
                <a:spcPts val="0"/>
              </a:spcBef>
              <a:spcAft>
                <a:spcPts val="6500"/>
              </a:spcAft>
              <a:buClr>
                <a:srgbClr val="5983F7"/>
              </a:buClr>
              <a:buFont typeface="Arial" panose="020B0604020202020204" pitchFamily="34" charset="0"/>
              <a:buChar char="•"/>
              <a:defRPr/>
            </a:pPr>
            <a:r>
              <a:rPr lang="en-US" sz="3600" dirty="0" smtClean="0"/>
              <a:t>Generate logs through user activity</a:t>
            </a:r>
            <a:endParaRPr lang="en-US" sz="3600" dirty="0" smtClean="0">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b="1" dirty="0" smtClean="0"/>
              <a:t>Verify the metrics are working as designed</a:t>
            </a:r>
            <a:endParaRPr lang="en-US" sz="3600" b="1" dirty="0">
              <a:latin typeface="Amazon Ember" panose="02000000000000000000" pitchFamily="2" charset="0"/>
            </a:endParaRPr>
          </a:p>
        </p:txBody>
      </p:sp>
      <p:pic>
        <p:nvPicPr>
          <p:cNvPr id="5" name="Graphic 8">
            <a:extLst>
              <a:ext uri="{FF2B5EF4-FFF2-40B4-BE49-F238E27FC236}">
                <a16:creationId xmlns:a16="http://schemas.microsoft.com/office/drawing/2014/main" id="{7C5C397A-ECAD-4049-8CAC-C0E54E194CCC}"/>
              </a:ext>
            </a:extLst>
          </p:cNvPr>
          <p:cNvPicPr>
            <a:picLocks noChangeAspect="1"/>
          </p:cNvPicPr>
          <p:nvPr/>
        </p:nvPicPr>
        <p:blipFill>
          <a:blip r:embed="rId3"/>
          <a:stretch>
            <a:fillRect/>
          </a:stretch>
        </p:blipFill>
        <p:spPr>
          <a:xfrm>
            <a:off x="11368624" y="1636852"/>
            <a:ext cx="1154749" cy="1154749"/>
          </a:xfrm>
          <a:prstGeom prst="rect">
            <a:avLst/>
          </a:prstGeom>
        </p:spPr>
      </p:pic>
      <p:pic>
        <p:nvPicPr>
          <p:cNvPr id="6" name="Graphic 9">
            <a:extLst>
              <a:ext uri="{FF2B5EF4-FFF2-40B4-BE49-F238E27FC236}">
                <a16:creationId xmlns:a16="http://schemas.microsoft.com/office/drawing/2014/main" id="{8B733315-A673-A341-B5BE-563AB0963E0A}"/>
              </a:ext>
            </a:extLst>
          </p:cNvPr>
          <p:cNvPicPr>
            <a:picLocks noChangeAspect="1"/>
          </p:cNvPicPr>
          <p:nvPr/>
        </p:nvPicPr>
        <p:blipFill>
          <a:blip r:embed="rId4"/>
          <a:stretch>
            <a:fillRect/>
          </a:stretch>
        </p:blipFill>
        <p:spPr>
          <a:xfrm>
            <a:off x="11328223" y="2919339"/>
            <a:ext cx="1235550" cy="1235550"/>
          </a:xfrm>
          <a:prstGeom prst="rect">
            <a:avLst/>
          </a:prstGeom>
        </p:spPr>
      </p:pic>
      <p:pic>
        <p:nvPicPr>
          <p:cNvPr id="7" name="Graphic 13">
            <a:extLst>
              <a:ext uri="{FF2B5EF4-FFF2-40B4-BE49-F238E27FC236}">
                <a16:creationId xmlns:a16="http://schemas.microsoft.com/office/drawing/2014/main" id="{FFCA2842-70DE-314B-A172-DB2E81DCB370}"/>
              </a:ext>
            </a:extLst>
          </p:cNvPr>
          <p:cNvPicPr>
            <a:picLocks noChangeAspect="1"/>
          </p:cNvPicPr>
          <p:nvPr/>
        </p:nvPicPr>
        <p:blipFill>
          <a:blip r:embed="rId5"/>
          <a:stretch>
            <a:fillRect/>
          </a:stretch>
        </p:blipFill>
        <p:spPr>
          <a:xfrm>
            <a:off x="11407576" y="5596085"/>
            <a:ext cx="1076841" cy="1076841"/>
          </a:xfrm>
          <a:prstGeom prst="rect">
            <a:avLst/>
          </a:prstGeom>
        </p:spPr>
      </p:pic>
      <p:pic>
        <p:nvPicPr>
          <p:cNvPr id="8" name="Picture 7">
            <a:extLst>
              <a:ext uri="{FF2B5EF4-FFF2-40B4-BE49-F238E27FC236}">
                <a16:creationId xmlns:a16="http://schemas.microsoft.com/office/drawing/2014/main" id="{3CB31195-3DAB-584C-A19F-F9B170B8AF6C}"/>
              </a:ext>
            </a:extLst>
          </p:cNvPr>
          <p:cNvPicPr>
            <a:picLocks noChangeAspect="1"/>
          </p:cNvPicPr>
          <p:nvPr/>
        </p:nvPicPr>
        <p:blipFill>
          <a:blip r:embed="rId6"/>
          <a:stretch>
            <a:fillRect/>
          </a:stretch>
        </p:blipFill>
        <p:spPr>
          <a:xfrm>
            <a:off x="11256471" y="4277655"/>
            <a:ext cx="1379053" cy="1379053"/>
          </a:xfrm>
          <a:prstGeom prst="rect">
            <a:avLst/>
          </a:prstGeom>
        </p:spPr>
      </p:pic>
      <p:grpSp>
        <p:nvGrpSpPr>
          <p:cNvPr id="9" name="grp_Insights">
            <a:extLst>
              <a:ext uri="{FF2B5EF4-FFF2-40B4-BE49-F238E27FC236}">
                <a16:creationId xmlns:a16="http://schemas.microsoft.com/office/drawing/2014/main" id="{24DC5F60-717B-9A48-AF0E-94E54D3C9EBD}"/>
              </a:ext>
            </a:extLst>
          </p:cNvPr>
          <p:cNvGrpSpPr/>
          <p:nvPr/>
        </p:nvGrpSpPr>
        <p:grpSpPr>
          <a:xfrm>
            <a:off x="12936537" y="-260648"/>
            <a:ext cx="1693863" cy="1505469"/>
            <a:chOff x="3352435" y="2460032"/>
            <a:chExt cx="1693863" cy="1505469"/>
          </a:xfrm>
        </p:grpSpPr>
        <p:sp>
          <p:nvSpPr>
            <p:cNvPr id="10" name="TextBox 9">
              <a:extLst>
                <a:ext uri="{FF2B5EF4-FFF2-40B4-BE49-F238E27FC236}">
                  <a16:creationId xmlns:a16="http://schemas.microsoft.com/office/drawing/2014/main" id="{F0E4E831-B891-C04B-BE2E-78892BA59273}"/>
                </a:ext>
              </a:extLst>
            </p:cNvPr>
            <p:cNvSpPr txBox="1"/>
            <p:nvPr/>
          </p:nvSpPr>
          <p:spPr bwMode="auto">
            <a:xfrm>
              <a:off x="3352435" y="2460032"/>
              <a:ext cx="1693863" cy="418256"/>
            </a:xfrm>
            <a:prstGeom prst="rect">
              <a:avLst/>
            </a:prstGeom>
            <a:noFill/>
          </p:spPr>
          <p:txBody>
            <a:bodyPr>
              <a:spAutoFit/>
            </a:bodyPr>
            <a:lstStyle/>
            <a:p>
              <a:pPr algn="ctr" defTabSz="1097212" eaLnBrk="1" fontAlgn="auto" hangingPunct="1">
                <a:spcBef>
                  <a:spcPts val="0"/>
                </a:spcBef>
                <a:spcAft>
                  <a:spcPts val="0"/>
                </a:spcAft>
                <a:defRPr/>
              </a:pPr>
              <a:endParaRPr lang="en-US" sz="2118"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1" name="Picture 10">
              <a:extLst>
                <a:ext uri="{FF2B5EF4-FFF2-40B4-BE49-F238E27FC236}">
                  <a16:creationId xmlns:a16="http://schemas.microsoft.com/office/drawing/2014/main" id="{3217EB7B-BE93-6144-94F5-1E9DE87E38EE}"/>
                </a:ext>
              </a:extLst>
            </p:cNvPr>
            <p:cNvPicPr>
              <a:picLocks noChangeAspect="1"/>
            </p:cNvPicPr>
            <p:nvPr/>
          </p:nvPicPr>
          <p:blipFill>
            <a:blip r:embed="rId7"/>
            <a:stretch>
              <a:fillRect/>
            </a:stretch>
          </p:blipFill>
          <p:spPr>
            <a:xfrm>
              <a:off x="3547116" y="2609626"/>
              <a:ext cx="1355875" cy="1355875"/>
            </a:xfrm>
            <a:prstGeom prst="rect">
              <a:avLst/>
            </a:prstGeom>
          </p:spPr>
        </p:pic>
      </p:grpSp>
    </p:spTree>
    <p:extLst>
      <p:ext uri="{BB962C8B-B14F-4D97-AF65-F5344CB8AC3E}">
        <p14:creationId xmlns:p14="http://schemas.microsoft.com/office/powerpoint/2010/main" val="328160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4CD3F8F-5303-C349-AA75-E71853D26733}"/>
              </a:ext>
            </a:extLst>
          </p:cNvPr>
          <p:cNvSpPr>
            <a:spLocks noGrp="1"/>
          </p:cNvSpPr>
          <p:nvPr>
            <p:ph type="title"/>
          </p:nvPr>
        </p:nvSpPr>
        <p:spPr>
          <a:xfrm>
            <a:off x="548640" y="183898"/>
            <a:ext cx="13511460" cy="873186"/>
          </a:xfrm>
        </p:spPr>
        <p:txBody>
          <a:bodyPr/>
          <a:lstStyle/>
          <a:p>
            <a:r>
              <a:rPr lang="en-US" b="1" dirty="0" smtClean="0"/>
              <a:t>Alerts </a:t>
            </a:r>
            <a:r>
              <a:rPr lang="en-US" b="1" dirty="0"/>
              <a:t>and notifications</a:t>
            </a:r>
          </a:p>
        </p:txBody>
      </p:sp>
      <p:sp>
        <p:nvSpPr>
          <p:cNvPr id="12" name="Content Placeholder 4">
            <a:extLst>
              <a:ext uri="{FF2B5EF4-FFF2-40B4-BE49-F238E27FC236}">
                <a16:creationId xmlns:a16="http://schemas.microsoft.com/office/drawing/2014/main" id="{7F357B81-CD20-B84F-8653-FB47EA167A46}"/>
              </a:ext>
            </a:extLst>
          </p:cNvPr>
          <p:cNvSpPr txBox="1">
            <a:spLocks/>
          </p:cNvSpPr>
          <p:nvPr/>
        </p:nvSpPr>
        <p:spPr>
          <a:xfrm>
            <a:off x="548640" y="1645920"/>
            <a:ext cx="13510260" cy="5431155"/>
          </a:xfrm>
          <a:prstGeom prst="rect">
            <a:avLst/>
          </a:prstGeom>
        </p:spPr>
        <p:txBody>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571500" indent="-571500">
              <a:spcBef>
                <a:spcPts val="0"/>
              </a:spcBef>
              <a:spcAft>
                <a:spcPts val="6500"/>
              </a:spcAft>
              <a:buClr>
                <a:srgbClr val="5983F7"/>
              </a:buClr>
              <a:buFont typeface="Arial" panose="020B0604020202020204" pitchFamily="34" charset="0"/>
              <a:buChar char="•"/>
              <a:defRPr/>
            </a:pPr>
            <a:r>
              <a:rPr lang="en-US" sz="3600" b="1" dirty="0" smtClean="0"/>
              <a:t>Alerts should be tied to business </a:t>
            </a:r>
            <a:r>
              <a:rPr lang="en-US" sz="3600" b="1" dirty="0" smtClean="0">
                <a:solidFill>
                  <a:srgbClr val="FFFFFF"/>
                </a:solidFill>
              </a:rPr>
              <a:t>outcomes</a:t>
            </a:r>
            <a:endParaRPr lang="en-US" sz="3600" b="1" dirty="0" smtClean="0">
              <a:solidFill>
                <a:srgbClr val="FFFFFF"/>
              </a:solidFill>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dirty="0" smtClean="0"/>
              <a:t>Only alarm </a:t>
            </a:r>
            <a:r>
              <a:rPr lang="en-US" sz="3600" i="1" dirty="0" smtClean="0"/>
              <a:t>when actions are required</a:t>
            </a:r>
          </a:p>
          <a:p>
            <a:pPr marL="571500" indent="-571500">
              <a:spcBef>
                <a:spcPts val="0"/>
              </a:spcBef>
              <a:spcAft>
                <a:spcPts val="6500"/>
              </a:spcAft>
              <a:buClr>
                <a:srgbClr val="5983F7"/>
              </a:buClr>
              <a:buFont typeface="Arial" panose="020B0604020202020204" pitchFamily="34" charset="0"/>
              <a:buChar char="•"/>
              <a:defRPr/>
            </a:pPr>
            <a:r>
              <a:rPr lang="en-US" sz="3600" dirty="0" smtClean="0"/>
              <a:t>Actions </a:t>
            </a:r>
            <a:r>
              <a:rPr lang="en-US" sz="3600" i="1" dirty="0" smtClean="0"/>
              <a:t>must</a:t>
            </a:r>
            <a:r>
              <a:rPr lang="en-US" sz="3600" dirty="0" smtClean="0"/>
              <a:t> be documented (runbooks)</a:t>
            </a:r>
            <a:endParaRPr lang="en-US" sz="3600" dirty="0" smtClean="0">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dirty="0" smtClean="0"/>
              <a:t>Runbooks should be reviewed &amp; updated</a:t>
            </a:r>
            <a:endParaRPr lang="en-US" sz="3600" dirty="0">
              <a:latin typeface="Amazon Ember" panose="02000000000000000000" pitchFamily="2" charset="0"/>
            </a:endParaRPr>
          </a:p>
        </p:txBody>
      </p:sp>
      <p:pic>
        <p:nvPicPr>
          <p:cNvPr id="13" name="Graphic 8">
            <a:extLst>
              <a:ext uri="{FF2B5EF4-FFF2-40B4-BE49-F238E27FC236}">
                <a16:creationId xmlns:a16="http://schemas.microsoft.com/office/drawing/2014/main" id="{681A412F-B8DA-4543-9875-FC8001366904}"/>
              </a:ext>
            </a:extLst>
          </p:cNvPr>
          <p:cNvPicPr>
            <a:picLocks noChangeAspect="1"/>
          </p:cNvPicPr>
          <p:nvPr/>
        </p:nvPicPr>
        <p:blipFill>
          <a:blip r:embed="rId3"/>
          <a:stretch>
            <a:fillRect/>
          </a:stretch>
        </p:blipFill>
        <p:spPr>
          <a:xfrm>
            <a:off x="11734384" y="1636852"/>
            <a:ext cx="1154749" cy="1154749"/>
          </a:xfrm>
          <a:prstGeom prst="rect">
            <a:avLst/>
          </a:prstGeom>
        </p:spPr>
      </p:pic>
      <p:pic>
        <p:nvPicPr>
          <p:cNvPr id="14" name="Graphic 9">
            <a:extLst>
              <a:ext uri="{FF2B5EF4-FFF2-40B4-BE49-F238E27FC236}">
                <a16:creationId xmlns:a16="http://schemas.microsoft.com/office/drawing/2014/main" id="{1C0AB18B-9E2C-CD48-946D-1DE4FA549D59}"/>
              </a:ext>
            </a:extLst>
          </p:cNvPr>
          <p:cNvPicPr>
            <a:picLocks noChangeAspect="1"/>
          </p:cNvPicPr>
          <p:nvPr/>
        </p:nvPicPr>
        <p:blipFill>
          <a:blip r:embed="rId4"/>
          <a:stretch>
            <a:fillRect/>
          </a:stretch>
        </p:blipFill>
        <p:spPr>
          <a:xfrm>
            <a:off x="11693983" y="2919339"/>
            <a:ext cx="1235550" cy="1235550"/>
          </a:xfrm>
          <a:prstGeom prst="rect">
            <a:avLst/>
          </a:prstGeom>
        </p:spPr>
      </p:pic>
      <p:pic>
        <p:nvPicPr>
          <p:cNvPr id="15" name="Picture 14">
            <a:extLst>
              <a:ext uri="{FF2B5EF4-FFF2-40B4-BE49-F238E27FC236}">
                <a16:creationId xmlns:a16="http://schemas.microsoft.com/office/drawing/2014/main" id="{D6CBCE15-5460-404D-BC64-1DA35A30D2AD}"/>
              </a:ext>
            </a:extLst>
          </p:cNvPr>
          <p:cNvPicPr>
            <a:picLocks noChangeAspect="1"/>
          </p:cNvPicPr>
          <p:nvPr/>
        </p:nvPicPr>
        <p:blipFill>
          <a:blip r:embed="rId5"/>
          <a:stretch>
            <a:fillRect/>
          </a:stretch>
        </p:blipFill>
        <p:spPr>
          <a:xfrm>
            <a:off x="11693983" y="4185960"/>
            <a:ext cx="1372192" cy="1379053"/>
          </a:xfrm>
          <a:prstGeom prst="rect">
            <a:avLst/>
          </a:prstGeom>
        </p:spPr>
      </p:pic>
      <p:grpSp>
        <p:nvGrpSpPr>
          <p:cNvPr id="16" name="Group 15">
            <a:extLst>
              <a:ext uri="{FF2B5EF4-FFF2-40B4-BE49-F238E27FC236}">
                <a16:creationId xmlns:a16="http://schemas.microsoft.com/office/drawing/2014/main" id="{9730861D-1062-2F4E-AD75-A62078647F3C}"/>
              </a:ext>
            </a:extLst>
          </p:cNvPr>
          <p:cNvGrpSpPr/>
          <p:nvPr/>
        </p:nvGrpSpPr>
        <p:grpSpPr>
          <a:xfrm>
            <a:off x="11693983" y="5565013"/>
            <a:ext cx="1409483" cy="1146457"/>
            <a:chOff x="11373772" y="5694656"/>
            <a:chExt cx="1409483" cy="1146457"/>
          </a:xfrm>
        </p:grpSpPr>
        <p:pic>
          <p:nvPicPr>
            <p:cNvPr id="17" name="Graphic 13">
              <a:extLst>
                <a:ext uri="{FF2B5EF4-FFF2-40B4-BE49-F238E27FC236}">
                  <a16:creationId xmlns:a16="http://schemas.microsoft.com/office/drawing/2014/main" id="{F46BE8AB-7E0A-D64E-9C54-83C554FC3A33}"/>
                </a:ext>
              </a:extLst>
            </p:cNvPr>
            <p:cNvPicPr>
              <a:picLocks noChangeAspect="1"/>
            </p:cNvPicPr>
            <p:nvPr/>
          </p:nvPicPr>
          <p:blipFill>
            <a:blip r:embed="rId6"/>
            <a:stretch>
              <a:fillRect/>
            </a:stretch>
          </p:blipFill>
          <p:spPr>
            <a:xfrm>
              <a:off x="11809853" y="5694656"/>
              <a:ext cx="973402" cy="978270"/>
            </a:xfrm>
            <a:prstGeom prst="rect">
              <a:avLst/>
            </a:prstGeom>
          </p:spPr>
        </p:pic>
        <p:pic>
          <p:nvPicPr>
            <p:cNvPr id="18" name="Picture 17">
              <a:extLst>
                <a:ext uri="{FF2B5EF4-FFF2-40B4-BE49-F238E27FC236}">
                  <a16:creationId xmlns:a16="http://schemas.microsoft.com/office/drawing/2014/main" id="{31869F57-E778-F241-9B00-BF10ABECBA9C}"/>
                </a:ext>
              </a:extLst>
            </p:cNvPr>
            <p:cNvPicPr>
              <a:picLocks noChangeAspect="1"/>
            </p:cNvPicPr>
            <p:nvPr/>
          </p:nvPicPr>
          <p:blipFill>
            <a:blip r:embed="rId7"/>
            <a:stretch>
              <a:fillRect/>
            </a:stretch>
          </p:blipFill>
          <p:spPr>
            <a:xfrm rot="5400000">
              <a:off x="11373772" y="5968951"/>
              <a:ext cx="872162" cy="872162"/>
            </a:xfrm>
            <a:prstGeom prst="rect">
              <a:avLst/>
            </a:prstGeom>
          </p:spPr>
        </p:pic>
      </p:grpSp>
      <p:pic>
        <p:nvPicPr>
          <p:cNvPr id="19" name="Picture 18">
            <a:extLst>
              <a:ext uri="{FF2B5EF4-FFF2-40B4-BE49-F238E27FC236}">
                <a16:creationId xmlns:a16="http://schemas.microsoft.com/office/drawing/2014/main" id="{188946D6-657F-2245-B452-16C3080549E5}"/>
              </a:ext>
            </a:extLst>
          </p:cNvPr>
          <p:cNvPicPr>
            <a:picLocks noChangeAspect="1"/>
          </p:cNvPicPr>
          <p:nvPr/>
        </p:nvPicPr>
        <p:blipFill>
          <a:blip r:embed="rId8"/>
          <a:stretch>
            <a:fillRect/>
          </a:stretch>
        </p:blipFill>
        <p:spPr>
          <a:xfrm>
            <a:off x="13145575" y="-66902"/>
            <a:ext cx="1530993" cy="1538648"/>
          </a:xfrm>
          <a:prstGeom prst="rect">
            <a:avLst/>
          </a:prstGeom>
        </p:spPr>
      </p:pic>
    </p:spTree>
    <p:extLst>
      <p:ext uri="{BB962C8B-B14F-4D97-AF65-F5344CB8AC3E}">
        <p14:creationId xmlns:p14="http://schemas.microsoft.com/office/powerpoint/2010/main" val="137348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3F8F-5303-C349-AA75-E71853D26733}"/>
              </a:ext>
            </a:extLst>
          </p:cNvPr>
          <p:cNvSpPr>
            <a:spLocks noGrp="1"/>
          </p:cNvSpPr>
          <p:nvPr>
            <p:ph type="title"/>
          </p:nvPr>
        </p:nvSpPr>
        <p:spPr>
          <a:xfrm>
            <a:off x="548640" y="183898"/>
            <a:ext cx="13511460" cy="873186"/>
          </a:xfrm>
        </p:spPr>
        <p:txBody>
          <a:bodyPr/>
          <a:lstStyle/>
          <a:p>
            <a:r>
              <a:rPr lang="en-US" b="1" dirty="0"/>
              <a:t>Responding to events</a:t>
            </a:r>
          </a:p>
        </p:txBody>
      </p:sp>
      <p:sp>
        <p:nvSpPr>
          <p:cNvPr id="3" name="Content Placeholder 4">
            <a:extLst>
              <a:ext uri="{FF2B5EF4-FFF2-40B4-BE49-F238E27FC236}">
                <a16:creationId xmlns:a16="http://schemas.microsoft.com/office/drawing/2014/main" id="{7F357B81-CD20-B84F-8653-FB47EA167A46}"/>
              </a:ext>
            </a:extLst>
          </p:cNvPr>
          <p:cNvSpPr txBox="1">
            <a:spLocks/>
          </p:cNvSpPr>
          <p:nvPr/>
        </p:nvSpPr>
        <p:spPr>
          <a:xfrm>
            <a:off x="548640" y="1645920"/>
            <a:ext cx="13510260" cy="5431155"/>
          </a:xfrm>
          <a:prstGeom prst="rect">
            <a:avLst/>
          </a:prstGeom>
        </p:spPr>
        <p:txBody>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571500" indent="-571500">
              <a:spcBef>
                <a:spcPts val="0"/>
              </a:spcBef>
              <a:spcAft>
                <a:spcPts val="6500"/>
              </a:spcAft>
              <a:buClr>
                <a:srgbClr val="5983F7"/>
              </a:buClr>
              <a:buFont typeface="Arial" panose="020B0604020202020204" pitchFamily="34" charset="0"/>
              <a:buChar char="•"/>
              <a:defRPr/>
            </a:pPr>
            <a:r>
              <a:rPr lang="en-US" sz="3600" dirty="0" smtClean="0"/>
              <a:t>Document known issues with workload</a:t>
            </a:r>
          </a:p>
          <a:p>
            <a:pPr marL="571500" indent="-571500">
              <a:spcBef>
                <a:spcPts val="0"/>
              </a:spcBef>
              <a:spcAft>
                <a:spcPts val="6500"/>
              </a:spcAft>
              <a:buClr>
                <a:srgbClr val="5983F7"/>
              </a:buClr>
              <a:buFont typeface="Arial" panose="020B0604020202020204" pitchFamily="34" charset="0"/>
              <a:buChar char="•"/>
              <a:defRPr/>
            </a:pPr>
            <a:r>
              <a:rPr lang="en-US" sz="3600" dirty="0" smtClean="0"/>
              <a:t>Determine the corrective action(s)</a:t>
            </a:r>
            <a:endParaRPr lang="en-US" sz="3600" dirty="0" smtClean="0">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b="1" dirty="0" smtClean="0"/>
              <a:t>Build a runbook for corrective action(s)</a:t>
            </a:r>
            <a:endParaRPr lang="en-US" sz="3600" b="1" dirty="0" smtClean="0">
              <a:latin typeface="Amazon Ember" panose="02000000000000000000" pitchFamily="2" charset="0"/>
            </a:endParaRPr>
          </a:p>
          <a:p>
            <a:pPr marL="571500" indent="-571500">
              <a:spcBef>
                <a:spcPts val="0"/>
              </a:spcBef>
              <a:spcAft>
                <a:spcPts val="6500"/>
              </a:spcAft>
              <a:buClr>
                <a:srgbClr val="5983F7"/>
              </a:buClr>
              <a:buFont typeface="Arial" panose="020B0604020202020204" pitchFamily="34" charset="0"/>
              <a:buChar char="•"/>
              <a:defRPr/>
            </a:pPr>
            <a:r>
              <a:rPr lang="en-US" sz="3600" dirty="0" smtClean="0"/>
              <a:t>Automate the corrective action runbook(s)</a:t>
            </a:r>
            <a:endParaRPr lang="en-US" sz="3600" dirty="0">
              <a:latin typeface="Amazon Ember" panose="02000000000000000000" pitchFamily="2" charset="0"/>
            </a:endParaRPr>
          </a:p>
        </p:txBody>
      </p:sp>
      <p:pic>
        <p:nvPicPr>
          <p:cNvPr id="4" name="Graphic 8">
            <a:extLst>
              <a:ext uri="{FF2B5EF4-FFF2-40B4-BE49-F238E27FC236}">
                <a16:creationId xmlns:a16="http://schemas.microsoft.com/office/drawing/2014/main" id="{681A412F-B8DA-4543-9875-FC8001366904}"/>
              </a:ext>
            </a:extLst>
          </p:cNvPr>
          <p:cNvPicPr>
            <a:picLocks noChangeAspect="1"/>
          </p:cNvPicPr>
          <p:nvPr/>
        </p:nvPicPr>
        <p:blipFill>
          <a:blip r:embed="rId2"/>
          <a:stretch>
            <a:fillRect/>
          </a:stretch>
        </p:blipFill>
        <p:spPr>
          <a:xfrm>
            <a:off x="11368624" y="1636852"/>
            <a:ext cx="1154749" cy="1154749"/>
          </a:xfrm>
          <a:prstGeom prst="rect">
            <a:avLst/>
          </a:prstGeom>
        </p:spPr>
      </p:pic>
      <p:pic>
        <p:nvPicPr>
          <p:cNvPr id="5" name="Graphic 9">
            <a:extLst>
              <a:ext uri="{FF2B5EF4-FFF2-40B4-BE49-F238E27FC236}">
                <a16:creationId xmlns:a16="http://schemas.microsoft.com/office/drawing/2014/main" id="{1C0AB18B-9E2C-CD48-946D-1DE4FA549D59}"/>
              </a:ext>
            </a:extLst>
          </p:cNvPr>
          <p:cNvPicPr>
            <a:picLocks noChangeAspect="1"/>
          </p:cNvPicPr>
          <p:nvPr/>
        </p:nvPicPr>
        <p:blipFill>
          <a:blip r:embed="rId3"/>
          <a:stretch>
            <a:fillRect/>
          </a:stretch>
        </p:blipFill>
        <p:spPr>
          <a:xfrm>
            <a:off x="11328223" y="2919339"/>
            <a:ext cx="1235550" cy="1235550"/>
          </a:xfrm>
          <a:prstGeom prst="rect">
            <a:avLst/>
          </a:prstGeom>
        </p:spPr>
      </p:pic>
      <p:pic>
        <p:nvPicPr>
          <p:cNvPr id="6" name="Picture 5">
            <a:extLst>
              <a:ext uri="{FF2B5EF4-FFF2-40B4-BE49-F238E27FC236}">
                <a16:creationId xmlns:a16="http://schemas.microsoft.com/office/drawing/2014/main" id="{D6CBCE15-5460-404D-BC64-1DA35A30D2AD}"/>
              </a:ext>
            </a:extLst>
          </p:cNvPr>
          <p:cNvPicPr>
            <a:picLocks noChangeAspect="1"/>
          </p:cNvPicPr>
          <p:nvPr/>
        </p:nvPicPr>
        <p:blipFill>
          <a:blip r:embed="rId4"/>
          <a:stretch>
            <a:fillRect/>
          </a:stretch>
        </p:blipFill>
        <p:spPr>
          <a:xfrm>
            <a:off x="11328223" y="4185960"/>
            <a:ext cx="1372192" cy="1379053"/>
          </a:xfrm>
          <a:prstGeom prst="rect">
            <a:avLst/>
          </a:prstGeom>
        </p:spPr>
      </p:pic>
      <p:grpSp>
        <p:nvGrpSpPr>
          <p:cNvPr id="7" name="Group 6">
            <a:extLst>
              <a:ext uri="{FF2B5EF4-FFF2-40B4-BE49-F238E27FC236}">
                <a16:creationId xmlns:a16="http://schemas.microsoft.com/office/drawing/2014/main" id="{9730861D-1062-2F4E-AD75-A62078647F3C}"/>
              </a:ext>
            </a:extLst>
          </p:cNvPr>
          <p:cNvGrpSpPr/>
          <p:nvPr/>
        </p:nvGrpSpPr>
        <p:grpSpPr>
          <a:xfrm>
            <a:off x="11328223" y="5565013"/>
            <a:ext cx="1409483" cy="1146457"/>
            <a:chOff x="11373772" y="5694656"/>
            <a:chExt cx="1409483" cy="1146457"/>
          </a:xfrm>
        </p:grpSpPr>
        <p:pic>
          <p:nvPicPr>
            <p:cNvPr id="8" name="Graphic 13">
              <a:extLst>
                <a:ext uri="{FF2B5EF4-FFF2-40B4-BE49-F238E27FC236}">
                  <a16:creationId xmlns:a16="http://schemas.microsoft.com/office/drawing/2014/main" id="{F46BE8AB-7E0A-D64E-9C54-83C554FC3A33}"/>
                </a:ext>
              </a:extLst>
            </p:cNvPr>
            <p:cNvPicPr>
              <a:picLocks noChangeAspect="1"/>
            </p:cNvPicPr>
            <p:nvPr/>
          </p:nvPicPr>
          <p:blipFill>
            <a:blip r:embed="rId5"/>
            <a:stretch>
              <a:fillRect/>
            </a:stretch>
          </p:blipFill>
          <p:spPr>
            <a:xfrm>
              <a:off x="11809853" y="5694656"/>
              <a:ext cx="973402" cy="978270"/>
            </a:xfrm>
            <a:prstGeom prst="rect">
              <a:avLst/>
            </a:prstGeom>
          </p:spPr>
        </p:pic>
        <p:pic>
          <p:nvPicPr>
            <p:cNvPr id="9" name="Picture 8">
              <a:extLst>
                <a:ext uri="{FF2B5EF4-FFF2-40B4-BE49-F238E27FC236}">
                  <a16:creationId xmlns:a16="http://schemas.microsoft.com/office/drawing/2014/main" id="{31869F57-E778-F241-9B00-BF10ABECBA9C}"/>
                </a:ext>
              </a:extLst>
            </p:cNvPr>
            <p:cNvPicPr>
              <a:picLocks noChangeAspect="1"/>
            </p:cNvPicPr>
            <p:nvPr/>
          </p:nvPicPr>
          <p:blipFill>
            <a:blip r:embed="rId6"/>
            <a:stretch>
              <a:fillRect/>
            </a:stretch>
          </p:blipFill>
          <p:spPr>
            <a:xfrm rot="5400000">
              <a:off x="11373772" y="5968951"/>
              <a:ext cx="872162" cy="872162"/>
            </a:xfrm>
            <a:prstGeom prst="rect">
              <a:avLst/>
            </a:prstGeom>
          </p:spPr>
        </p:pic>
      </p:grpSp>
      <p:pic>
        <p:nvPicPr>
          <p:cNvPr id="10" name="Picture 9">
            <a:extLst>
              <a:ext uri="{FF2B5EF4-FFF2-40B4-BE49-F238E27FC236}">
                <a16:creationId xmlns:a16="http://schemas.microsoft.com/office/drawing/2014/main" id="{305D0854-5EAE-EB46-AC9D-AC020B62106D}"/>
              </a:ext>
            </a:extLst>
          </p:cNvPr>
          <p:cNvPicPr>
            <a:picLocks noChangeAspect="1"/>
          </p:cNvPicPr>
          <p:nvPr/>
        </p:nvPicPr>
        <p:blipFill>
          <a:blip r:embed="rId3"/>
          <a:stretch>
            <a:fillRect/>
          </a:stretch>
        </p:blipFill>
        <p:spPr>
          <a:xfrm>
            <a:off x="12943841" y="-173661"/>
            <a:ext cx="1588303" cy="1588303"/>
          </a:xfrm>
          <a:prstGeom prst="rect">
            <a:avLst/>
          </a:prstGeom>
        </p:spPr>
      </p:pic>
    </p:spTree>
    <p:extLst>
      <p:ext uri="{BB962C8B-B14F-4D97-AF65-F5344CB8AC3E}">
        <p14:creationId xmlns:p14="http://schemas.microsoft.com/office/powerpoint/2010/main" val="325334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34230" y="3150724"/>
            <a:ext cx="12435840" cy="1488168"/>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sz="4800" b="1" dirty="0">
                <a:solidFill>
                  <a:schemeClr val="bg1"/>
                </a:solidFill>
              </a:rPr>
              <a:t>What have you </a:t>
            </a:r>
            <a:r>
              <a:rPr lang="en-US" sz="4800" b="1" dirty="0" smtClean="0">
                <a:solidFill>
                  <a:schemeClr val="bg1"/>
                </a:solidFill>
              </a:rPr>
              <a:t>learned</a:t>
            </a:r>
            <a:r>
              <a:rPr lang="en-US" sz="4800" b="1" dirty="0">
                <a:solidFill>
                  <a:schemeClr val="bg1"/>
                </a:solidFill>
              </a:rPr>
              <a:t/>
            </a:r>
            <a:br>
              <a:rPr lang="en-US" sz="4800" b="1" dirty="0">
                <a:solidFill>
                  <a:schemeClr val="bg1"/>
                </a:solidFill>
              </a:rPr>
            </a:br>
            <a:r>
              <a:rPr lang="en-US" sz="4800" b="1" dirty="0">
                <a:solidFill>
                  <a:schemeClr val="bg1"/>
                </a:solidFill>
              </a:rPr>
              <a:t>and what should you do now</a:t>
            </a:r>
            <a:r>
              <a:rPr lang="en-US" sz="5400" b="1" dirty="0">
                <a:solidFill>
                  <a:schemeClr val="bg1"/>
                </a:solidFill>
              </a:rPr>
              <a:t>?</a:t>
            </a:r>
            <a:endParaRPr lang="en-US" sz="4400" b="1" dirty="0">
              <a:solidFill>
                <a:schemeClr val="bg1"/>
              </a:solidFill>
            </a:endParaRPr>
          </a:p>
        </p:txBody>
      </p:sp>
    </p:spTree>
    <p:extLst>
      <p:ext uri="{BB962C8B-B14F-4D97-AF65-F5344CB8AC3E}">
        <p14:creationId xmlns:p14="http://schemas.microsoft.com/office/powerpoint/2010/main" val="31869691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56F9-1807-5F44-ABCB-E5F10A6C83AC}"/>
              </a:ext>
            </a:extLst>
          </p:cNvPr>
          <p:cNvSpPr>
            <a:spLocks noGrp="1"/>
          </p:cNvSpPr>
          <p:nvPr>
            <p:ph type="title"/>
          </p:nvPr>
        </p:nvSpPr>
        <p:spPr>
          <a:xfrm>
            <a:off x="548640" y="183898"/>
            <a:ext cx="13511460" cy="873186"/>
          </a:xfrm>
        </p:spPr>
        <p:txBody>
          <a:bodyPr/>
          <a:lstStyle/>
          <a:p>
            <a:r>
              <a:rPr lang="en-US" sz="4800" b="1" dirty="0"/>
              <a:t>Plan</a:t>
            </a:r>
          </a:p>
        </p:txBody>
      </p:sp>
      <p:sp>
        <p:nvSpPr>
          <p:cNvPr id="3" name="Content Placeholder 3">
            <a:extLst>
              <a:ext uri="{FF2B5EF4-FFF2-40B4-BE49-F238E27FC236}">
                <a16:creationId xmlns:a16="http://schemas.microsoft.com/office/drawing/2014/main" id="{8DBCF22F-5BDE-694F-8991-49740147D983}"/>
              </a:ext>
            </a:extLst>
          </p:cNvPr>
          <p:cNvSpPr txBox="1">
            <a:spLocks/>
          </p:cNvSpPr>
          <p:nvPr/>
        </p:nvSpPr>
        <p:spPr>
          <a:xfrm>
            <a:off x="548640" y="1645920"/>
            <a:ext cx="13510260" cy="5431155"/>
          </a:xfrm>
          <a:prstGeom prst="rect">
            <a:avLst/>
          </a:prstGeom>
          <a:noFill/>
          <a:effectLst>
            <a:softEdge rad="76200"/>
          </a:effectLst>
        </p:spPr>
        <p:txBody>
          <a:bodyPr>
            <a:normAutofit/>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457200" indent="-457200">
              <a:spcBef>
                <a:spcPts val="0"/>
              </a:spcBef>
              <a:spcAft>
                <a:spcPts val="3000"/>
              </a:spcAft>
              <a:buClr>
                <a:schemeClr val="tx2">
                  <a:lumMod val="75000"/>
                </a:schemeClr>
              </a:buClr>
              <a:buFont typeface="Arial" panose="020B0604020202020204" pitchFamily="34" charset="0"/>
              <a:buChar char="•"/>
            </a:pPr>
            <a:r>
              <a:rPr lang="en-US" sz="4400" dirty="0" smtClean="0"/>
              <a:t>Recognize the signs that monitoring strategy</a:t>
            </a:r>
            <a:r>
              <a:rPr lang="en-US" sz="4400" dirty="0" smtClean="0">
                <a:solidFill>
                  <a:srgbClr val="FFFFFF"/>
                </a:solidFill>
                <a:latin typeface="Amazon Ember" panose="02000000000000000000" pitchFamily="2" charset="0"/>
              </a:rPr>
              <a:t> </a:t>
            </a:r>
            <a:r>
              <a:rPr lang="en-US" sz="4400" dirty="0" smtClean="0"/>
              <a:t>needs improvement</a:t>
            </a:r>
          </a:p>
          <a:p>
            <a:pPr marL="457200" indent="-457200">
              <a:spcBef>
                <a:spcPts val="0"/>
              </a:spcBef>
              <a:spcAft>
                <a:spcPts val="3000"/>
              </a:spcAft>
              <a:buClr>
                <a:schemeClr val="tx2">
                  <a:lumMod val="75000"/>
                </a:schemeClr>
              </a:buClr>
              <a:buFont typeface="Arial" panose="020B0604020202020204" pitchFamily="34" charset="0"/>
              <a:buChar char="•"/>
            </a:pPr>
            <a:r>
              <a:rPr lang="en-US" sz="4400" dirty="0" smtClean="0"/>
              <a:t>Focus on understanding business </a:t>
            </a:r>
            <a:r>
              <a:rPr lang="en-US" sz="4400" dirty="0" smtClean="0">
                <a:solidFill>
                  <a:srgbClr val="FFFFFF"/>
                </a:solidFill>
              </a:rPr>
              <a:t>outcomes first</a:t>
            </a:r>
            <a:endParaRPr lang="en-US" sz="4400" dirty="0" smtClean="0">
              <a:solidFill>
                <a:srgbClr val="FFFFFF"/>
              </a:solidFill>
              <a:latin typeface="Amazon Ember" panose="02000000000000000000" pitchFamily="2" charset="0"/>
            </a:endParaRPr>
          </a:p>
          <a:p>
            <a:pPr marL="457200" indent="-457200">
              <a:spcBef>
                <a:spcPts val="0"/>
              </a:spcBef>
              <a:spcAft>
                <a:spcPts val="3000"/>
              </a:spcAft>
              <a:buClr>
                <a:schemeClr val="tx2">
                  <a:lumMod val="75000"/>
                </a:schemeClr>
              </a:buClr>
              <a:buFont typeface="Arial" panose="020B0604020202020204" pitchFamily="34" charset="0"/>
              <a:buChar char="•"/>
            </a:pPr>
            <a:r>
              <a:rPr lang="en-US" sz="4400" dirty="0" smtClean="0"/>
              <a:t>Walk through each of the steps to develop a monitoring </a:t>
            </a:r>
            <a:r>
              <a:rPr lang="en-US" sz="4400" dirty="0" smtClean="0">
                <a:solidFill>
                  <a:srgbClr val="FFFFFF"/>
                </a:solidFill>
              </a:rPr>
              <a:t>plan</a:t>
            </a:r>
            <a:endParaRPr lang="en-US" sz="4400" dirty="0">
              <a:solidFill>
                <a:srgbClr val="FFFFFF"/>
              </a:solidFill>
              <a:latin typeface="Amazon Ember" panose="02000000000000000000" pitchFamily="2" charset="0"/>
            </a:endParaRPr>
          </a:p>
        </p:txBody>
      </p:sp>
    </p:spTree>
    <p:extLst>
      <p:ext uri="{BB962C8B-B14F-4D97-AF65-F5344CB8AC3E}">
        <p14:creationId xmlns:p14="http://schemas.microsoft.com/office/powerpoint/2010/main" val="80389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56F9-1807-5F44-ABCB-E5F10A6C83AC}"/>
              </a:ext>
            </a:extLst>
          </p:cNvPr>
          <p:cNvSpPr>
            <a:spLocks noGrp="1"/>
          </p:cNvSpPr>
          <p:nvPr>
            <p:ph type="title"/>
          </p:nvPr>
        </p:nvSpPr>
        <p:spPr>
          <a:xfrm>
            <a:off x="548640" y="183898"/>
            <a:ext cx="13511460" cy="873186"/>
          </a:xfrm>
        </p:spPr>
        <p:txBody>
          <a:bodyPr/>
          <a:lstStyle/>
          <a:p>
            <a:r>
              <a:rPr lang="en-US" sz="4800" b="1" dirty="0"/>
              <a:t>Do</a:t>
            </a:r>
          </a:p>
        </p:txBody>
      </p:sp>
      <p:sp>
        <p:nvSpPr>
          <p:cNvPr id="3" name="Content Placeholder 3">
            <a:extLst>
              <a:ext uri="{FF2B5EF4-FFF2-40B4-BE49-F238E27FC236}">
                <a16:creationId xmlns:a16="http://schemas.microsoft.com/office/drawing/2014/main" id="{8DBCF22F-5BDE-694F-8991-49740147D983}"/>
              </a:ext>
            </a:extLst>
          </p:cNvPr>
          <p:cNvSpPr txBox="1">
            <a:spLocks/>
          </p:cNvSpPr>
          <p:nvPr/>
        </p:nvSpPr>
        <p:spPr>
          <a:xfrm>
            <a:off x="548640" y="1645920"/>
            <a:ext cx="13510260" cy="5431155"/>
          </a:xfrm>
          <a:prstGeom prst="rect">
            <a:avLst/>
          </a:prstGeom>
          <a:noFill/>
          <a:effectLst>
            <a:softEdge rad="76200"/>
          </a:effectLst>
        </p:spPr>
        <p:txBody>
          <a:bodyPr>
            <a:normAutofit/>
          </a:bodyPr>
          <a:lstStyle>
            <a:lvl1pPr marL="0" indent="0" algn="l" defTabSz="731520" rtl="0" eaLnBrk="1" latinLnBrk="0" hangingPunct="1">
              <a:spcBef>
                <a:spcPct val="20000"/>
              </a:spcBef>
              <a:buFontTx/>
              <a:buNone/>
              <a:defRPr sz="3840" b="0" i="0" kern="1200">
                <a:solidFill>
                  <a:schemeClr val="bg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3200" b="0" i="0" kern="1200">
                <a:solidFill>
                  <a:schemeClr val="bg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880" b="0" i="0" kern="1200">
                <a:solidFill>
                  <a:schemeClr val="bg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2560" b="0" i="0" kern="1200">
                <a:solidFill>
                  <a:schemeClr val="bg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571500" indent="-571500">
              <a:spcBef>
                <a:spcPts val="0"/>
              </a:spcBef>
              <a:spcAft>
                <a:spcPts val="3000"/>
              </a:spcAft>
              <a:buClr>
                <a:schemeClr val="tx2">
                  <a:lumMod val="75000"/>
                </a:schemeClr>
              </a:buClr>
              <a:buFont typeface="Arial" panose="020B0604020202020204" pitchFamily="34" charset="0"/>
              <a:buChar char="•"/>
            </a:pPr>
            <a:r>
              <a:rPr lang="en-US" sz="4400" dirty="0" smtClean="0"/>
              <a:t>Implement the plan to gain insight into the workload</a:t>
            </a:r>
            <a:endParaRPr lang="en-US" sz="4400" dirty="0" smtClean="0">
              <a:latin typeface="Amazon Ember" panose="02000000000000000000" pitchFamily="2" charset="0"/>
            </a:endParaRPr>
          </a:p>
          <a:p>
            <a:pPr marL="571500" indent="-571500">
              <a:spcBef>
                <a:spcPts val="0"/>
              </a:spcBef>
              <a:spcAft>
                <a:spcPts val="3000"/>
              </a:spcAft>
              <a:buClr>
                <a:schemeClr val="tx2">
                  <a:lumMod val="75000"/>
                </a:schemeClr>
              </a:buClr>
              <a:buFont typeface="Arial" panose="020B0604020202020204" pitchFamily="34" charset="0"/>
              <a:buChar char="•"/>
            </a:pPr>
            <a:r>
              <a:rPr lang="en-US" sz="4400" dirty="0" smtClean="0"/>
              <a:t>Ensure there is understanding of when business outcomes are at risk </a:t>
            </a:r>
          </a:p>
          <a:p>
            <a:pPr marL="571500" indent="-571500">
              <a:spcBef>
                <a:spcPts val="0"/>
              </a:spcBef>
              <a:spcAft>
                <a:spcPts val="3000"/>
              </a:spcAft>
              <a:buClr>
                <a:schemeClr val="tx2">
                  <a:lumMod val="75000"/>
                </a:schemeClr>
              </a:buClr>
              <a:buFont typeface="Arial" panose="020B0604020202020204" pitchFamily="34" charset="0"/>
              <a:buChar char="•"/>
            </a:pPr>
            <a:r>
              <a:rPr lang="en-US" sz="4400" dirty="0" smtClean="0"/>
              <a:t>Improve MTTD and MTTR through automation</a:t>
            </a:r>
            <a:endParaRPr lang="en-US" sz="4400" dirty="0">
              <a:latin typeface="Amazon Ember" panose="02000000000000000000" pitchFamily="2" charset="0"/>
            </a:endParaRPr>
          </a:p>
        </p:txBody>
      </p:sp>
    </p:spTree>
    <p:extLst>
      <p:ext uri="{BB962C8B-B14F-4D97-AF65-F5344CB8AC3E}">
        <p14:creationId xmlns:p14="http://schemas.microsoft.com/office/powerpoint/2010/main" val="162979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34230" y="3150724"/>
            <a:ext cx="12435840" cy="1488168"/>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sz="8800" b="1" dirty="0">
                <a:solidFill>
                  <a:schemeClr val="bg1"/>
                </a:solidFill>
              </a:rPr>
              <a:t>Q&amp;A</a:t>
            </a:r>
            <a:endParaRPr lang="en-US" sz="8000" b="1" dirty="0">
              <a:solidFill>
                <a:schemeClr val="bg1"/>
              </a:solidFill>
            </a:endParaRPr>
          </a:p>
        </p:txBody>
      </p:sp>
    </p:spTree>
    <p:extLst>
      <p:ext uri="{BB962C8B-B14F-4D97-AF65-F5344CB8AC3E}">
        <p14:creationId xmlns:p14="http://schemas.microsoft.com/office/powerpoint/2010/main" val="6801237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7D44F6-C8E2-3A46-A8ED-E60F2C8C2E3A}"/>
              </a:ext>
            </a:extLst>
          </p:cNvPr>
          <p:cNvSpPr>
            <a:spLocks noGrp="1"/>
          </p:cNvSpPr>
          <p:nvPr>
            <p:ph type="title"/>
          </p:nvPr>
        </p:nvSpPr>
        <p:spPr>
          <a:xfrm>
            <a:off x="548640" y="2481329"/>
            <a:ext cx="12435840" cy="1634490"/>
          </a:xfrm>
        </p:spPr>
        <p:txBody>
          <a:bodyPr/>
          <a:lstStyle/>
          <a:p>
            <a:r>
              <a:rPr lang="en-US" sz="8800" b="1" dirty="0"/>
              <a:t>Thank you!</a:t>
            </a:r>
          </a:p>
        </p:txBody>
      </p:sp>
    </p:spTree>
    <p:extLst>
      <p:ext uri="{BB962C8B-B14F-4D97-AF65-F5344CB8AC3E}">
        <p14:creationId xmlns:p14="http://schemas.microsoft.com/office/powerpoint/2010/main" val="157821907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eckTemplate-AWS">
  <a:themeElements>
    <a:clrScheme name="AWS Colors">
      <a:dk1>
        <a:srgbClr val="1D516C"/>
      </a:dk1>
      <a:lt1>
        <a:srgbClr val="FFFFFF"/>
      </a:lt1>
      <a:dk2>
        <a:srgbClr val="1D516C"/>
      </a:dk2>
      <a:lt2>
        <a:srgbClr val="F8F8F8"/>
      </a:lt2>
      <a:accent1>
        <a:srgbClr val="FF9900"/>
      </a:accent1>
      <a:accent2>
        <a:srgbClr val="00A1C9"/>
      </a:accent2>
      <a:accent3>
        <a:srgbClr val="007DBC"/>
      </a:accent3>
      <a:accent4>
        <a:srgbClr val="69AF34"/>
      </a:accent4>
      <a:accent5>
        <a:srgbClr val="EB5F07"/>
      </a:accent5>
      <a:accent6>
        <a:srgbClr val="545B64"/>
      </a:accent6>
      <a:hlink>
        <a:srgbClr val="00E0EA"/>
      </a:hlink>
      <a:folHlink>
        <a:srgbClr val="0069E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50000"/>
          </a:schemeClr>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97C89A-FD0C-431E-81F6-90225B937683}">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3.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DeckTemplate_AWS</Template>
  <TotalTime>691</TotalTime>
  <Words>2920</Words>
  <Application>Microsoft Office PowerPoint</Application>
  <PresentationFormat>Custom</PresentationFormat>
  <Paragraphs>610</Paragraphs>
  <Slides>31</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Amazon Ember</vt:lpstr>
      <vt:lpstr>Amazon Ember Display</vt:lpstr>
      <vt:lpstr>Amazon Ember Light</vt:lpstr>
      <vt:lpstr>Amazon Ember Regular</vt:lpstr>
      <vt:lpstr>Arial</vt:lpstr>
      <vt:lpstr>Calibri</vt:lpstr>
      <vt:lpstr>Consolas</vt:lpstr>
      <vt:lpstr>Courier</vt:lpstr>
      <vt:lpstr>Lucida Console</vt:lpstr>
      <vt:lpstr>Segoe UI</vt:lpstr>
      <vt:lpstr>Times New Roman</vt:lpstr>
      <vt:lpstr>DeckTemplate-AWS</vt:lpstr>
      <vt:lpstr>PowerPoint Presentation</vt:lpstr>
      <vt:lpstr>Why are we here?</vt:lpstr>
      <vt:lpstr>Why do you need a monitoring strategy?</vt:lpstr>
      <vt:lpstr>Why do you need a monitoring strategy?</vt:lpstr>
      <vt:lpstr>Does monitoring need your attention?</vt:lpstr>
      <vt:lpstr>What is a Monitoring Strategy? And how do you build one?</vt:lpstr>
      <vt:lpstr>What goes into a monitoring strategy?</vt:lpstr>
      <vt:lpstr>Categories of insight</vt:lpstr>
      <vt:lpstr>What is the workflow to build a strategy?</vt:lpstr>
      <vt:lpstr>Time for a quick poll</vt:lpstr>
      <vt:lpstr>AWS services that support observability</vt:lpstr>
      <vt:lpstr>Building a Monitoring Plan</vt:lpstr>
      <vt:lpstr>Personas and requirements</vt:lpstr>
      <vt:lpstr>Key Performance Indicators</vt:lpstr>
      <vt:lpstr>System architecture and insights</vt:lpstr>
      <vt:lpstr>Thresholds for testing</vt:lpstr>
      <vt:lpstr>Reporting</vt:lpstr>
      <vt:lpstr>Alerts and actions</vt:lpstr>
      <vt:lpstr>Time for a quick poll</vt:lpstr>
      <vt:lpstr>Implementing Monitoring</vt:lpstr>
      <vt:lpstr>Workflow of monitoring action for Imagetrends</vt:lpstr>
      <vt:lpstr>The Lab https://workshop.aws-management.tools/cloudwatch/</vt:lpstr>
      <vt:lpstr>Time for a quick poll</vt:lpstr>
      <vt:lpstr>Establishing metrics</vt:lpstr>
      <vt:lpstr>Alerts and notifications</vt:lpstr>
      <vt:lpstr>Responding to events</vt:lpstr>
      <vt:lpstr>PowerPoint Presentation</vt:lpstr>
      <vt:lpstr>Plan</vt:lpstr>
      <vt:lpstr>Do</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Screnci, Christine</cp:lastModifiedBy>
  <cp:revision>39</cp:revision>
  <dcterms:created xsi:type="dcterms:W3CDTF">2016-06-17T18:22:10Z</dcterms:created>
  <dcterms:modified xsi:type="dcterms:W3CDTF">2021-05-24T17:22:21Z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