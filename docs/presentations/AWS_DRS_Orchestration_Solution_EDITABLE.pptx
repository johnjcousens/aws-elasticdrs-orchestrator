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2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DEB436-079C-E14E-B624-670D10577AB8}" v="1" dt="2025-11-23T16:42:01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>
        <p:scale>
          <a:sx n="121" d="100"/>
          <a:sy n="121" d="100"/>
        </p:scale>
        <p:origin x="1904" y="1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usens, John" userId="b2529625-9044-4ea9-83ad-127df0810ac9" providerId="ADAL" clId="{79B846CD-7975-5655-8769-EAB7AB05833F}"/>
    <pc:docChg chg="custSel mod modSld sldOrd">
      <pc:chgData name="Cousens, John" userId="b2529625-9044-4ea9-83ad-127df0810ac9" providerId="ADAL" clId="{79B846CD-7975-5655-8769-EAB7AB05833F}" dt="2025-11-23T16:44:25.536" v="355" actId="12"/>
      <pc:docMkLst>
        <pc:docMk/>
      </pc:docMkLst>
      <pc:sldChg chg="modSp mod">
        <pc:chgData name="Cousens, John" userId="b2529625-9044-4ea9-83ad-127df0810ac9" providerId="ADAL" clId="{79B846CD-7975-5655-8769-EAB7AB05833F}" dt="2025-11-23T16:37:53.571" v="103" actId="20577"/>
        <pc:sldMkLst>
          <pc:docMk/>
          <pc:sldMk cId="0" sldId="257"/>
        </pc:sldMkLst>
        <pc:spChg chg="mod">
          <ac:chgData name="Cousens, John" userId="b2529625-9044-4ea9-83ad-127df0810ac9" providerId="ADAL" clId="{79B846CD-7975-5655-8769-EAB7AB05833F}" dt="2025-11-23T16:37:53.571" v="103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Cousens, John" userId="b2529625-9044-4ea9-83ad-127df0810ac9" providerId="ADAL" clId="{79B846CD-7975-5655-8769-EAB7AB05833F}" dt="2025-11-23T16:36:10.326" v="49" actId="255"/>
        <pc:sldMkLst>
          <pc:docMk/>
          <pc:sldMk cId="0" sldId="258"/>
        </pc:sldMkLst>
        <pc:spChg chg="mod">
          <ac:chgData name="Cousens, John" userId="b2529625-9044-4ea9-83ad-127df0810ac9" providerId="ADAL" clId="{79B846CD-7975-5655-8769-EAB7AB05833F}" dt="2025-11-23T16:36:10.326" v="49" actId="255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Cousens, John" userId="b2529625-9044-4ea9-83ad-127df0810ac9" providerId="ADAL" clId="{79B846CD-7975-5655-8769-EAB7AB05833F}" dt="2025-11-23T16:44:08.736" v="351" actId="12"/>
        <pc:sldMkLst>
          <pc:docMk/>
          <pc:sldMk cId="0" sldId="260"/>
        </pc:sldMkLst>
        <pc:spChg chg="mod">
          <ac:chgData name="Cousens, John" userId="b2529625-9044-4ea9-83ad-127df0810ac9" providerId="ADAL" clId="{79B846CD-7975-5655-8769-EAB7AB05833F}" dt="2025-11-23T16:44:08.736" v="351" actId="12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Cousens, John" userId="b2529625-9044-4ea9-83ad-127df0810ac9" providerId="ADAL" clId="{79B846CD-7975-5655-8769-EAB7AB05833F}" dt="2025-11-23T16:44:16.941" v="353" actId="12"/>
        <pc:sldMkLst>
          <pc:docMk/>
          <pc:sldMk cId="0" sldId="261"/>
        </pc:sldMkLst>
        <pc:spChg chg="mod">
          <ac:chgData name="Cousens, John" userId="b2529625-9044-4ea9-83ad-127df0810ac9" providerId="ADAL" clId="{79B846CD-7975-5655-8769-EAB7AB05833F}" dt="2025-11-23T16:44:16.941" v="353" actId="12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Cousens, John" userId="b2529625-9044-4ea9-83ad-127df0810ac9" providerId="ADAL" clId="{79B846CD-7975-5655-8769-EAB7AB05833F}" dt="2025-11-23T16:44:25.536" v="355" actId="12"/>
        <pc:sldMkLst>
          <pc:docMk/>
          <pc:sldMk cId="0" sldId="262"/>
        </pc:sldMkLst>
        <pc:spChg chg="mod">
          <ac:chgData name="Cousens, John" userId="b2529625-9044-4ea9-83ad-127df0810ac9" providerId="ADAL" clId="{79B846CD-7975-5655-8769-EAB7AB05833F}" dt="2025-11-23T16:44:25.536" v="355" actId="12"/>
          <ac:spMkLst>
            <pc:docMk/>
            <pc:sldMk cId="0" sldId="262"/>
            <ac:spMk id="3" creationId="{00000000-0000-0000-0000-000000000000}"/>
          </ac:spMkLst>
        </pc:spChg>
      </pc:sldChg>
      <pc:sldChg chg="modSp mod ord">
        <pc:chgData name="Cousens, John" userId="b2529625-9044-4ea9-83ad-127df0810ac9" providerId="ADAL" clId="{79B846CD-7975-5655-8769-EAB7AB05833F}" dt="2025-11-23T16:38:25.165" v="106" actId="1076"/>
        <pc:sldMkLst>
          <pc:docMk/>
          <pc:sldMk cId="0" sldId="272"/>
        </pc:sldMkLst>
        <pc:picChg chg="mod">
          <ac:chgData name="Cousens, John" userId="b2529625-9044-4ea9-83ad-127df0810ac9" providerId="ADAL" clId="{79B846CD-7975-5655-8769-EAB7AB05833F}" dt="2025-11-23T16:38:25.165" v="106" actId="1076"/>
          <ac:picMkLst>
            <pc:docMk/>
            <pc:sldMk cId="0" sldId="272"/>
            <ac:picMk id="3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9900"/>
                </a:solidFill>
                <a:latin typeface="Amazon Ember Display"/>
              </a:defRPr>
            </a:pPr>
            <a:r>
              <a:t>AWS DRS Orchestration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latin typeface="Amazon Ember"/>
              </a:defRPr>
            </a:pPr>
            <a:r>
              <a:t>Serverless Disaster Recovery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latin typeface="Amazon Ember"/>
              </a:defRPr>
            </a:pPr>
            <a:r>
              <a:t>Enterprise-Grade Solution for Automated Recovery</a:t>
            </a:r>
          </a:p>
        </p:txBody>
      </p:sp>
      <p:pic>
        <p:nvPicPr>
          <p:cNvPr id="5" name="Picture 4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5303520"/>
            <a:ext cx="1371600" cy="4937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179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latin typeface="Amazon Ember"/>
              </a:defRPr>
            </a:pPr>
            <a:r>
              <a:t>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9900"/>
                </a:solidFill>
                <a:latin typeface="Amazon Ember Display"/>
              </a:defRPr>
            </a:pPr>
            <a:r>
              <a:t>What is AWS DRS Orchestration?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36303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000" dirty="0"/>
              <a:t>Wave-based recovery execution (</a:t>
            </a:r>
            <a:r>
              <a:rPr lang="en-US" sz="2000" dirty="0"/>
              <a:t>modeled after</a:t>
            </a:r>
            <a:r>
              <a:rPr sz="2000" dirty="0"/>
              <a:t> VMware SRM)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000" dirty="0"/>
              <a:t>Server dependency management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000" dirty="0"/>
              <a:t>One-click drill testing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000" dirty="0"/>
              <a:t>Real-time progress monitoring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000" dirty="0"/>
              <a:t>Complete audit trail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 sz="2000" dirty="0"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000" b="1" dirty="0"/>
              <a:t>Built with</a:t>
            </a:r>
            <a:r>
              <a:rPr sz="2000" dirty="0"/>
              <a:t>: 100% AWS serverless technologies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000" b="1" dirty="0"/>
              <a:t>Deployment</a:t>
            </a:r>
            <a:r>
              <a:rPr sz="2000" dirty="0"/>
              <a:t>: </a:t>
            </a:r>
            <a:r>
              <a:rPr lang="en-US" sz="2000" dirty="0"/>
              <a:t>Modular Nested </a:t>
            </a:r>
            <a:r>
              <a:rPr sz="2000" dirty="0"/>
              <a:t>CloudFormation</a:t>
            </a:r>
            <a:r>
              <a:rPr lang="en-US" sz="2000" dirty="0"/>
              <a:t> </a:t>
            </a:r>
            <a:r>
              <a:rPr lang="en-US" sz="2000" dirty="0" err="1"/>
              <a:t>IaC</a:t>
            </a:r>
            <a:endParaRPr sz="2000" dirty="0"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000" b="1" dirty="0"/>
              <a:t>Cost</a:t>
            </a:r>
            <a:r>
              <a:rPr sz="2000" dirty="0"/>
              <a:t>: $3,360/year (fixed, regardless of server count)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2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9900"/>
                </a:solidFill>
                <a:latin typeface="Amazon Ember Display"/>
              </a:defRPr>
            </a:pPr>
            <a:r>
              <a:t>The Problem We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715026" cy="4062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400" b="1" dirty="0"/>
              <a:t>WITHOUT ORCHESTRATION: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rPr sz="2000" dirty="0"/>
              <a:t>Manual server recovery (error-prone)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rPr sz="2000" dirty="0"/>
              <a:t>No dependency management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rPr sz="2000" dirty="0"/>
              <a:t>12-16 hour recovery times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rPr sz="2000" dirty="0"/>
              <a:t>Complex drill testing procedures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rPr sz="2000" dirty="0"/>
              <a:t>No visibility into recovery progress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 sz="2000" dirty="0"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lang="en-US" sz="2400" b="1" dirty="0"/>
              <a:t>DRS ADOPTION </a:t>
            </a:r>
            <a:r>
              <a:rPr sz="2400" b="1" dirty="0"/>
              <a:t>CHALLENGE: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rPr sz="2000" dirty="0"/>
              <a:t>Customers have VMware SRM orchestration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rPr sz="2000" dirty="0"/>
              <a:t>AWS DRS lacks equivalent capabilities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rPr sz="2000" dirty="0"/>
              <a:t>This gap blocks AWS DRS 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3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9900"/>
                </a:solidFill>
                <a:latin typeface="Amazon Ember Display"/>
              </a:defRPr>
            </a:pPr>
            <a:r>
              <a:t>Architecture Components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261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React + TypeScript + MUI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Modern web UI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CDN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CloudFront + S3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Global distribution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Cognito User Pools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Secure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API Gateway (REST)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Managed API layer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Compute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Lambda (Python 3.12)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Business logic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Orchestration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Step Functions (35+ states)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Wave-based execution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DRS API + EC2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Recovery &amp; health checks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Automation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SSM Documents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Post-recovery hooks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DynamoDB (3 tables)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Configuration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270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Monitoring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CloudWatch + CloudTrail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Logs and audit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4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F9900"/>
                </a:solidFill>
              </a:defRPr>
            </a:pPr>
            <a:r>
              <a:t>Solution Architecture</a:t>
            </a:r>
          </a:p>
        </p:txBody>
      </p:sp>
      <p:pic>
        <p:nvPicPr>
          <p:cNvPr id="3" name="Picture 2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87" y="1509823"/>
            <a:ext cx="8980826" cy="44125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9900"/>
                </a:solidFill>
                <a:latin typeface="Amazon Ember Display"/>
              </a:defRPr>
            </a:pPr>
            <a:r>
              <a:rPr dirty="0"/>
              <a:t>Core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6368" y="1655379"/>
            <a:ext cx="9177512" cy="33701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400" b="1" dirty="0"/>
              <a:t>Protection Groups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Group </a:t>
            </a:r>
            <a:r>
              <a:rPr lang="en-US" sz="2000" dirty="0"/>
              <a:t>DRS Source S</a:t>
            </a:r>
            <a:r>
              <a:rPr sz="2000" dirty="0"/>
              <a:t>ervers </a:t>
            </a:r>
            <a:r>
              <a:rPr lang="en-US" sz="2000" dirty="0"/>
              <a:t>L</a:t>
            </a:r>
            <a:r>
              <a:rPr sz="2000" dirty="0"/>
              <a:t>ogically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Auto-discover DRS </a:t>
            </a:r>
            <a:r>
              <a:rPr lang="en-US" sz="2000" dirty="0"/>
              <a:t>Source S</a:t>
            </a:r>
            <a:r>
              <a:rPr sz="2000" dirty="0"/>
              <a:t>ervers</a:t>
            </a:r>
            <a:r>
              <a:rPr lang="en-US" sz="2000" dirty="0"/>
              <a:t> with a Per Region Selector</a:t>
            </a:r>
            <a:endParaRPr sz="2000" dirty="0"/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Reusable </a:t>
            </a:r>
            <a:r>
              <a:rPr lang="en-US" sz="2000" dirty="0"/>
              <a:t>A</a:t>
            </a:r>
            <a:r>
              <a:rPr sz="2000" dirty="0"/>
              <a:t>cross </a:t>
            </a:r>
            <a:r>
              <a:rPr lang="en-US" sz="2000" dirty="0"/>
              <a:t>P</a:t>
            </a:r>
            <a:r>
              <a:rPr sz="2000" dirty="0"/>
              <a:t>lans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 sz="2000" dirty="0"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400" b="1" dirty="0"/>
              <a:t>Recovery Plans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Multi-</a:t>
            </a:r>
            <a:r>
              <a:rPr lang="en-US" sz="2000" dirty="0"/>
              <a:t>W</a:t>
            </a:r>
            <a:r>
              <a:rPr sz="2000" dirty="0"/>
              <a:t>ave </a:t>
            </a:r>
            <a:r>
              <a:rPr lang="en-US" sz="2000" dirty="0" err="1"/>
              <a:t>Depedency</a:t>
            </a:r>
            <a:r>
              <a:rPr lang="en-US" sz="2000" dirty="0"/>
              <a:t> R</a:t>
            </a:r>
            <a:r>
              <a:rPr sz="2000" dirty="0"/>
              <a:t>ecovery </a:t>
            </a:r>
            <a:r>
              <a:rPr lang="en-US" sz="2000" dirty="0"/>
              <a:t>S</a:t>
            </a:r>
            <a:r>
              <a:rPr sz="2000" dirty="0"/>
              <a:t>equences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Wave 1: | Wave 2: </a:t>
            </a:r>
            <a:r>
              <a:rPr lang="en-US" sz="2000" dirty="0"/>
              <a:t>(Depends on Wave 1)</a:t>
            </a:r>
            <a:r>
              <a:rPr sz="2000" dirty="0"/>
              <a:t>| Wave 3:</a:t>
            </a:r>
            <a:r>
              <a:rPr lang="en-US" sz="2000" dirty="0"/>
              <a:t> (Depends on Wave 2)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lang="en-US" sz="2000" dirty="0"/>
              <a:t>Sequential or Parallel recovery order in waves</a:t>
            </a:r>
            <a:endParaRPr sz="2000" dirty="0"/>
          </a:p>
        </p:txBody>
      </p:sp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5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9900"/>
                </a:solidFill>
                <a:latin typeface="Amazon Ember Display"/>
              </a:defRPr>
            </a:pPr>
            <a:r>
              <a:t>Wave-Based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396303" cy="30239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400" b="1" dirty="0"/>
              <a:t>Wave-Based Execution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15-second delays between servers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30-second delays between waves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Automatic retry with exponential backoff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 sz="2000" b="1" dirty="0"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400" b="1" dirty="0"/>
              <a:t>Drill Mode Testing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Creates test instances (not cutover</a:t>
            </a:r>
            <a:r>
              <a:rPr lang="en-US" sz="2000" dirty="0"/>
              <a:t> yet in MVP</a:t>
            </a:r>
            <a:r>
              <a:rPr sz="2000" dirty="0"/>
              <a:t>)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Zero impact on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6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9900"/>
                </a:solidFill>
                <a:latin typeface="Amazon Ember Display"/>
              </a:defRPr>
            </a:pPr>
            <a:r>
              <a:t>Real-Time Monitoring &amp; One-Click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4132" cy="4062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400" b="1" dirty="0"/>
              <a:t>Real-Time Monitoring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Execution history (start/end times)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Job status tracking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CloudWatch integration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Audit trail in CloudTrail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 sz="2000" dirty="0"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rPr sz="2400" b="1" dirty="0"/>
              <a:t>One-Click Recovery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Select recovery plan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Choose drill vs production mode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Click 'Execute Recovery'</a:t>
            </a:r>
          </a:p>
          <a:p>
            <a:pPr marL="800100" lvl="1" indent="-342900">
              <a:spcBef>
                <a:spcPts val="300"/>
              </a:spcBef>
              <a:buFont typeface="Arial" panose="020B0604020202020204" pitchFamily="34" charset="0"/>
              <a:buChar char="•"/>
              <a:defRPr sz="1400">
                <a:latin typeface="Amazon Ember"/>
              </a:defRPr>
            </a:pPr>
            <a:r>
              <a:rPr sz="2000" dirty="0"/>
              <a:t>Monitor progress in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7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9900"/>
                </a:solidFill>
                <a:latin typeface="Amazon Ember Display"/>
              </a:defRPr>
            </a:pPr>
            <a:r>
              <a:t>Performance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Before (Manual)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After (Orchestrated)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Recovery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12-16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4-6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65%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Setup Time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2-3 weeks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&lt; 1 hour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99% faster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Drill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4-5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2-3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98%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Error Rate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15-20%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&lt; 2%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90% reduction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8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9900"/>
                </a:solidFill>
                <a:latin typeface="Amazon Ember Display"/>
              </a:defRPr>
            </a:pPr>
            <a:r>
              <a:t>AWS DRS Orchestration Platform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Monthly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Annual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Lambda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$1,200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Recovery execution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DynamoDB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$600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3 tables (on-demand)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API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REST API requests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CloudFront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$20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$240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Global CDN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Frontend hosting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Cognito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$20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$240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User authentication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CloudWatch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Log retention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CloudTrail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$120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Audit logging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$3,360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Fixed cost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9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9900"/>
                </a:solidFill>
                <a:latin typeface="Amazon Ember Display"/>
              </a:defRPr>
            </a:pPr>
            <a:r>
              <a:t>Total Solution Cost (1,000 Servers)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Annual Cost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AWS DRS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$480,000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Scales with server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+ Orchestration Platform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$3,360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Fixed serverless cost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= Total 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$483,360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Complete DR solution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10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9900"/>
                </a:solidFill>
                <a:latin typeface="Amazon Ember Display"/>
              </a:defRPr>
            </a:pPr>
            <a:r>
              <a:t>Competitive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Orchestration Cost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Setup Time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Serverless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Wave Support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AWS DRS 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$3.4K/year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&lt; 1 hour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✅ 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✅ 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VMware SRM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$1M+/year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Weeks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❌ 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✅ Yes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Zerto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$100K+/year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❌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⚠️ 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Azure Site Recovery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$50K+/year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Days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❌ 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❌ 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11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9900"/>
                </a:solidFill>
                <a:latin typeface="Amazon Ember Display"/>
              </a:defRPr>
            </a:pPr>
            <a:r>
              <a:t>TCO Summary (3-Year, 1,000 Servers)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3-Year Total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Annual Avg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mazon Ember"/>
                        </a:defRPr>
                      </a:pPr>
                      <a:r>
                        <a:t>Staffing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VMware SRM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$10.2M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$3.4M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4 FTEs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AWS DRS + Orch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$2.1M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$697K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1 FTE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Savings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$8.1M (79%)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$2.7M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mazon Ember"/>
                        </a:defRPr>
                      </a:pPr>
                      <a:r>
                        <a:t>3 FTEs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12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9900"/>
                </a:solidFill>
                <a:latin typeface="Amazon Ember Display"/>
              </a:defRPr>
            </a:pPr>
            <a:r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For DR Managers: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Familiar VMware SRM-like interface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One-click recovery execution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Real-time progress visibility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For DevOps Engineers: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Infrastructure as Code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API-first design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CloudWatch observability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For CIOs/Finance: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79% cost reduction vs VMware SRM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Zero capital expenditure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75% staff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13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9900"/>
                </a:solidFill>
                <a:latin typeface="Amazon Ember Display"/>
              </a:defRPr>
            </a:pPr>
            <a:r>
              <a:t>Deployment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Phase 1: Setup (30 minutes)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Deploy CloudFormation master template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Configure Cognito users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Review IAM permissions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Phase 2: Configuration (30 minutes)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Discover DRS source servers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Create protection groups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Define recovery plans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Phase 3: Testing (30 minutes)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Execute drill recovery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Validate server launch</a:t>
            </a:r>
          </a:p>
          <a:p>
            <a:pPr lvl="1">
              <a:spcBef>
                <a:spcPts val="300"/>
              </a:spcBef>
              <a:defRPr sz="1400">
                <a:latin typeface="Amazon Ember"/>
              </a:defRPr>
            </a:pPr>
            <a:r>
              <a:t>Review execution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14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9900"/>
                </a:solidFill>
                <a:latin typeface="Amazon Ember Display"/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1. Solution: Serverless orchestration for AWS DRS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2. Cost: $3,360/year (99.7% cheaper than VMware SRM)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3. Performance: 65% faster recovery (16h → 6h)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4. Savings: $8.1M over 3 years (79% vs VMware SRM)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5. Deployment: &lt; 1 hour via CloudFormation</a:t>
            </a:r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endParaRPr/>
          </a:p>
          <a:p>
            <a:pPr>
              <a:spcBef>
                <a:spcPts val="600"/>
              </a:spcBef>
              <a:defRPr sz="1600">
                <a:latin typeface="Amazon Ember"/>
              </a:defRPr>
            </a:pPr>
            <a:r>
              <a:t>6. Value: Enterprise-grade capabilities at serverless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008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32F3E"/>
                </a:solidFill>
                <a:latin typeface="Amazon Ember"/>
              </a:defRPr>
            </a:pPr>
            <a:r>
              <a:t>15 of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6446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232F3E"/>
                </a:solidFill>
                <a:latin typeface="Amazon Ember"/>
              </a:defRPr>
            </a:pPr>
            <a:r>
              <a:t>Confidential - Internal Use Only | November 2025</a:t>
            </a:r>
          </a:p>
        </p:txBody>
      </p:sp>
      <p:pic>
        <p:nvPicPr>
          <p:cNvPr id="7" name="Picture 6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6446520"/>
            <a:ext cx="88900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9900"/>
                </a:solidFill>
                <a:latin typeface="Amazon Ember Display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931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latin typeface="Amazon Ember"/>
              </a:defRPr>
            </a:pPr>
            <a:r>
              <a:t>AWS DRS Orchestration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latin typeface="Amazon Ember"/>
              </a:defRPr>
            </a:pPr>
            <a:r>
              <a:t>Making Enterprise Disaster Recovery Simple, Fast, and Cost-Effective</a:t>
            </a:r>
          </a:p>
        </p:txBody>
      </p:sp>
      <p:pic>
        <p:nvPicPr>
          <p:cNvPr id="5" name="Picture 4" descr="aw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5760720"/>
            <a:ext cx="1371600" cy="493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953</Words>
  <Application>Microsoft Macintosh PowerPoint</Application>
  <PresentationFormat>On-screen Show (4:3)</PresentationFormat>
  <Paragraphs>283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Cousens</cp:lastModifiedBy>
  <cp:revision>1</cp:revision>
  <dcterms:created xsi:type="dcterms:W3CDTF">2013-01-27T09:14:16Z</dcterms:created>
  <dcterms:modified xsi:type="dcterms:W3CDTF">2025-11-23T16:44:28Z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2025-11-23T16:32:11Z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c5f8ed6d-296f-46d8-9e2a-43c5cba96ca5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