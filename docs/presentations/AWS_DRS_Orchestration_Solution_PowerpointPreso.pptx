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121" d="100"/>
          <a:sy n="121" d="100"/>
        </p:scale>
        <p:origin x="1904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565" y="1060704"/>
            <a:ext cx="8502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9900"/>
                </a:solidFill>
                <a:latin typeface="Amazon Ember Display"/>
              </a:defRPr>
            </a:pPr>
            <a:r>
              <a:rPr dirty="0"/>
              <a:t>AWS DRS Orchestration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9916" y="2786687"/>
            <a:ext cx="6264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latin typeface="Amazon Ember"/>
              </a:defRPr>
            </a:pPr>
            <a:r>
              <a:rPr dirty="0"/>
              <a:t>Serverless Disaster Recovery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9613" y="4363804"/>
            <a:ext cx="5864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latin typeface="Amazon Ember"/>
              </a:defRPr>
            </a:pPr>
            <a:r>
              <a:rPr dirty="0"/>
              <a:t>Enterprise-Grade Solution for Automated Recovery</a:t>
            </a:r>
          </a:p>
        </p:txBody>
      </p:sp>
      <p:pic>
        <p:nvPicPr>
          <p:cNvPr id="5" name="Picture 4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5303520"/>
            <a:ext cx="1371600" cy="493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Amazon Ember"/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29044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9900"/>
                </a:solidFill>
                <a:latin typeface="Amazon Ember Display"/>
              </a:defRPr>
            </a:pPr>
            <a:r>
              <a:rPr dirty="0"/>
              <a:t>What is AWS DRS Orchestration?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3848" y="1690062"/>
            <a:ext cx="763630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Wave-based recovery execution (</a:t>
            </a:r>
            <a:r>
              <a:rPr lang="en-US" sz="2000" dirty="0"/>
              <a:t>modeled after</a:t>
            </a:r>
            <a:r>
              <a:rPr sz="2000" dirty="0"/>
              <a:t> VMware SRM)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Server dependency management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One-click drill testing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Real-time progress monitoring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Complete audit trail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b="1" dirty="0"/>
              <a:t>Built with</a:t>
            </a:r>
            <a:r>
              <a:rPr sz="2000" dirty="0"/>
              <a:t>: 100% AWS serverless technologies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b="1" dirty="0"/>
              <a:t>Deployment</a:t>
            </a:r>
            <a:r>
              <a:rPr sz="2000" dirty="0"/>
              <a:t>: </a:t>
            </a:r>
            <a:r>
              <a:rPr lang="en-US" sz="2000" dirty="0"/>
              <a:t>Modular Nested </a:t>
            </a:r>
            <a:r>
              <a:rPr sz="2000" dirty="0"/>
              <a:t>CloudFormation</a:t>
            </a:r>
            <a:r>
              <a:rPr lang="en-US" sz="2000" dirty="0"/>
              <a:t> </a:t>
            </a:r>
            <a:r>
              <a:rPr lang="en-US" sz="2000" dirty="0" err="1"/>
              <a:t>IaC</a:t>
            </a: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b="1" dirty="0"/>
              <a:t>Cost</a:t>
            </a:r>
            <a:r>
              <a:rPr sz="2000" dirty="0"/>
              <a:t>: $3,360/year (fixed, regardless of server count)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2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9900"/>
                </a:solidFill>
                <a:latin typeface="Amazon Ember Display"/>
              </a:defRPr>
            </a:pPr>
            <a:r>
              <a:t>The Problem We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97674"/>
            <a:ext cx="5715026" cy="40626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WITHOUT ORCHESTRATION: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rPr sz="2000" dirty="0"/>
              <a:t>Manual server recovery (error-prone)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rPr sz="2000" dirty="0"/>
              <a:t>No dependency management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rPr sz="2000" dirty="0"/>
              <a:t>12-16 hour recovery times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rPr sz="2000" dirty="0"/>
              <a:t>Complex drill testing procedures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rPr sz="2000" dirty="0"/>
              <a:t>No visibility into recovery progress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lang="en-US" sz="2400" b="1" dirty="0"/>
              <a:t>DRS ADOPTION </a:t>
            </a:r>
            <a:r>
              <a:rPr sz="2400" b="1" dirty="0"/>
              <a:t>CHALLENGE: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rPr sz="2000" dirty="0"/>
              <a:t>Customers have VMware SRM orchestration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rPr sz="2000" dirty="0"/>
              <a:t>AWS DRS lacks equivalent capabilities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rPr sz="2000" dirty="0"/>
              <a:t>This gap blocks AWS DRS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3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00"/>
                </a:solidFill>
                <a:latin typeface="Amazon Ember Display"/>
              </a:defRPr>
            </a:pPr>
            <a:r>
              <a:t>Architecture Components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26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React + TypeScript + MUI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Modern web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CDN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CloudFront + S3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Global distribution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Cognito User Pools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Secure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API Gateway (REST)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Managed API layer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Lambda (Python 3.12)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Business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Step Functions (35+ states)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Wave-based execution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DRS API + EC2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Recovery &amp; health checks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SSM Documents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Post-recovery hooks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DynamoDB (3 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Configuration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27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CloudWatch + CloudTrail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Logs and audit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4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9900"/>
                </a:solidFill>
              </a:defRPr>
            </a:pPr>
            <a:r>
              <a:t>Solution Architecture</a:t>
            </a:r>
          </a:p>
        </p:txBody>
      </p:sp>
      <p:pic>
        <p:nvPicPr>
          <p:cNvPr id="3" name="Picture 2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7" y="1509823"/>
            <a:ext cx="8980826" cy="4412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9900"/>
                </a:solidFill>
                <a:latin typeface="Amazon Ember Display"/>
              </a:defRPr>
            </a:pPr>
            <a:r>
              <a:rPr dirty="0"/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6368" y="1655379"/>
            <a:ext cx="8754320" cy="3323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Protection Groups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Group </a:t>
            </a:r>
            <a:r>
              <a:rPr lang="en-US" sz="2000" dirty="0"/>
              <a:t>DRS Source S</a:t>
            </a:r>
            <a:r>
              <a:rPr sz="2000" dirty="0"/>
              <a:t>ervers </a:t>
            </a:r>
            <a:r>
              <a:rPr lang="en-US" sz="2000" dirty="0"/>
              <a:t>L</a:t>
            </a:r>
            <a:r>
              <a:rPr sz="2000" dirty="0"/>
              <a:t>ogically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Auto-discover DRS </a:t>
            </a:r>
            <a:r>
              <a:rPr lang="en-US" sz="2000" dirty="0"/>
              <a:t>Source S</a:t>
            </a:r>
            <a:r>
              <a:rPr sz="2000" dirty="0"/>
              <a:t>ervers</a:t>
            </a:r>
            <a:r>
              <a:rPr lang="en-US" sz="2000" dirty="0"/>
              <a:t> with a Per Region Selector</a:t>
            </a:r>
            <a:endParaRPr sz="2000" dirty="0"/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Reusable </a:t>
            </a:r>
            <a:r>
              <a:rPr lang="en-US" sz="2000" dirty="0"/>
              <a:t>A</a:t>
            </a:r>
            <a:r>
              <a:rPr sz="2000" dirty="0"/>
              <a:t>cross </a:t>
            </a:r>
            <a:r>
              <a:rPr lang="en-US" sz="2000" dirty="0"/>
              <a:t>P</a:t>
            </a:r>
            <a:r>
              <a:rPr sz="2000" dirty="0"/>
              <a:t>lans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Recovery Plans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Multi-</a:t>
            </a:r>
            <a:r>
              <a:rPr lang="en-US" sz="2000" dirty="0"/>
              <a:t>W</a:t>
            </a:r>
            <a:r>
              <a:rPr sz="2000" dirty="0"/>
              <a:t>ave </a:t>
            </a:r>
            <a:r>
              <a:rPr lang="en-US" sz="2000" dirty="0"/>
              <a:t>Dependency R</a:t>
            </a:r>
            <a:r>
              <a:rPr sz="2000" dirty="0"/>
              <a:t>ecovery </a:t>
            </a:r>
            <a:r>
              <a:rPr lang="en-US" sz="2000" dirty="0"/>
              <a:t>S</a:t>
            </a:r>
            <a:r>
              <a:rPr sz="2000" dirty="0"/>
              <a:t>equences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1900" dirty="0"/>
              <a:t>Wave 1: | Wave 2: </a:t>
            </a:r>
            <a:r>
              <a:rPr lang="en-US" sz="1900" dirty="0"/>
              <a:t>(Depends on Wave 1)</a:t>
            </a:r>
            <a:r>
              <a:rPr sz="1900" dirty="0"/>
              <a:t>| Wave 3:</a:t>
            </a:r>
            <a:r>
              <a:rPr lang="en-US" sz="1900" dirty="0"/>
              <a:t> (Depends on Wave 2)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lang="en-US" sz="2000" dirty="0"/>
              <a:t>Sequential or Parallel recovery order in waves</a:t>
            </a:r>
            <a:endParaRPr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5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9900"/>
                </a:solidFill>
                <a:latin typeface="Amazon Ember Display"/>
              </a:defRPr>
            </a:pPr>
            <a:r>
              <a:t>Wave-Based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005444" cy="30239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Wave-Based Execution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15-second delays between servers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30-second delays between waves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Automatic retry with exponential backoff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b="1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Drill Mode Testing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Creates test instances (no </a:t>
            </a:r>
            <a:r>
              <a:rPr lang="en-US" sz="2000" dirty="0"/>
              <a:t>actual </a:t>
            </a:r>
            <a:r>
              <a:rPr sz="2000" dirty="0"/>
              <a:t>cutover</a:t>
            </a:r>
            <a:r>
              <a:rPr lang="en-US" sz="2000" dirty="0"/>
              <a:t> yet in MVP</a:t>
            </a:r>
            <a:r>
              <a:rPr sz="2000" dirty="0"/>
              <a:t>)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Zero impact on replication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6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9900"/>
                </a:solidFill>
                <a:latin typeface="Amazon Ember Display"/>
              </a:defRPr>
            </a:pPr>
            <a:r>
              <a:t>Real-Time Monitoring &amp; One-Click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4132" cy="37164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Real-Time Monitoring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Execution history (start/end times)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Job status tracking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CloudWatch integration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Audit trail in CloudTrail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One-Click Recovery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Select </a:t>
            </a:r>
            <a:r>
              <a:rPr lang="en-US" sz="2000" dirty="0"/>
              <a:t>R</a:t>
            </a:r>
            <a:r>
              <a:rPr sz="2000" dirty="0"/>
              <a:t>ecovery </a:t>
            </a:r>
            <a:r>
              <a:rPr lang="en-US" sz="2000" dirty="0"/>
              <a:t>P</a:t>
            </a:r>
            <a:r>
              <a:rPr sz="2000" dirty="0"/>
              <a:t>lan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Click 'Execute Recovery'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Monitor progress in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7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00"/>
                </a:solidFill>
                <a:latin typeface="Amazon Ember Display"/>
              </a:defRPr>
            </a:pPr>
            <a:r>
              <a:t>AWS DRS Orchestration Platform Cost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Lambda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Recovery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DynamoDB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$600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3 tables (on-demand)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REST API requests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CloudFront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Global CDN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Frontend hosting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Cognito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User authentication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CloudWatch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Log retention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CloudTrail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Audit logging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$3,360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Fixed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9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00"/>
                </a:solidFill>
                <a:latin typeface="Amazon Ember Display"/>
              </a:defRPr>
            </a:pPr>
            <a:r>
              <a:t>Total Solution Cost (1,000 Servers)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Annual Cost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AWS DRS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$480,000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Scales with server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+ Orchestration Platform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$3,360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Fixed serverless cost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= Total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$483,360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Complete DR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10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00"/>
                </a:solidFill>
                <a:latin typeface="Amazon Ember Display"/>
              </a:defRPr>
            </a:pPr>
            <a:r>
              <a:t>Competitive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Orchestration Cost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Setup Time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Serverless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Wave Support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AWS DRS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$3.4K/year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&lt; 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✅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✅ 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VMware SRM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$1M+/year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Zerto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$100K+/year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❌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⚠️ 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Azure Site Recovery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$50K+/year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11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00"/>
                </a:solidFill>
                <a:latin typeface="Amazon Ember Display"/>
              </a:defRPr>
            </a:pPr>
            <a:r>
              <a:t>TCO Summary (3-Year, 1,000 Servers)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3-Year Total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Annual Avg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Staffing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VMware SRM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$10.2M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4 FTEs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AWS DRS + Orch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$2.1M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$697K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1 FTE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$8.1M (79%)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3 FTEs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12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9900"/>
                </a:solidFill>
                <a:latin typeface="Amazon Ember Display"/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7038" y="993227"/>
            <a:ext cx="6545382" cy="5239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For DR Managers</a:t>
            </a:r>
            <a:r>
              <a:rPr lang="en-US" sz="2400" b="1" dirty="0"/>
              <a:t> and Staff</a:t>
            </a:r>
            <a:r>
              <a:rPr sz="2400" b="1" dirty="0"/>
              <a:t>: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Familiar VMware SRM-like interface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One-click recovery execution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Real-time progress visibility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For DevOps Engineers: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lang="en-US" sz="2000" dirty="0"/>
              <a:t>Modular CloudFormation </a:t>
            </a:r>
            <a:r>
              <a:rPr sz="2000" dirty="0"/>
              <a:t>Infrastructure as Code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API-first </a:t>
            </a:r>
            <a:r>
              <a:rPr lang="en-US" sz="2000" dirty="0"/>
              <a:t>D</a:t>
            </a:r>
            <a:r>
              <a:rPr sz="2000" dirty="0"/>
              <a:t>esign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CloudWatch </a:t>
            </a:r>
            <a:r>
              <a:rPr lang="en-US" sz="2000" dirty="0"/>
              <a:t>O</a:t>
            </a:r>
            <a:r>
              <a:rPr sz="2000" dirty="0"/>
              <a:t>bservability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For CIOs/Finance: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79% cost reduction vs VMware SRM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Zero capital expenditure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75% staff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13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9900"/>
                </a:solidFill>
                <a:latin typeface="Amazon Ember Display"/>
              </a:defRPr>
            </a:pPr>
            <a:r>
              <a:t>Deployment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5093" y="1138044"/>
            <a:ext cx="5758308" cy="5239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Phase 1: Setup (30 minutes)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Deploy CloudFormation master template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Configure Cognito users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Review IAM permissions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Phase 2: Configuration (30 minutes)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Discover DRS source servers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Create protection groups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Define recovery plans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400" b="1" dirty="0"/>
              <a:t>Phase 3: Testing (30 minutes)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Execute drill recovery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Validate server launch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  <a:defRPr sz="1400">
                <a:latin typeface="Amazon Ember"/>
              </a:defRPr>
            </a:pPr>
            <a:r>
              <a:rPr sz="2000" dirty="0"/>
              <a:t>Review execution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14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9900"/>
                </a:solidFill>
                <a:latin typeface="Amazon Ember Display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027" y="1305341"/>
            <a:ext cx="8553945" cy="42473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1. Solution: Serverless </a:t>
            </a:r>
            <a:r>
              <a:rPr lang="en-US" sz="2000" dirty="0"/>
              <a:t>O</a:t>
            </a:r>
            <a:r>
              <a:rPr sz="2000" dirty="0"/>
              <a:t>rchestration for AWS DRS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2. Cost: $3,360/year (99.7% cheaper than VMware SRM)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3. Performance: 65% faster recovery (16h → 6h</a:t>
            </a:r>
            <a:r>
              <a:rPr lang="en-US" sz="2000" dirty="0"/>
              <a:t> for 1000 EC2 Instances</a:t>
            </a:r>
            <a:r>
              <a:rPr sz="2000" dirty="0"/>
              <a:t>)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4. Savings: $8.1M over 3 years (79% vs VMware SRM)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5. Deployment: &lt; 1 hour via CloudFormation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 sz="2000" dirty="0"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rPr sz="2000" dirty="0"/>
              <a:t>6. Value: Enterprise-grade </a:t>
            </a:r>
            <a:r>
              <a:rPr lang="en-US" sz="2000" dirty="0"/>
              <a:t>C</a:t>
            </a:r>
            <a:r>
              <a:rPr sz="2000" dirty="0"/>
              <a:t>apabilities at serverless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15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92177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9900"/>
                </a:solidFill>
                <a:latin typeface="Amazon Ember Display"/>
              </a:defRPr>
            </a:pPr>
            <a:r>
              <a:rPr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20977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mazon Ember"/>
              </a:defRPr>
            </a:pPr>
            <a:r>
              <a:rPr dirty="0"/>
              <a:t>AWS DRS Orchestration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latin typeface="Amazon Ember"/>
              </a:defRPr>
            </a:pPr>
            <a:r>
              <a:t>Making Enterprise Disaster Recovery Simple, Fast, and Cost-Effective</a:t>
            </a:r>
          </a:p>
        </p:txBody>
      </p:sp>
      <p:pic>
        <p:nvPicPr>
          <p:cNvPr id="5" name="Picture 4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5760720"/>
            <a:ext cx="1371600" cy="493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902</Words>
  <Application>Microsoft Macintosh PowerPoint</Application>
  <PresentationFormat>On-screen Show (4:3)</PresentationFormat>
  <Paragraphs>259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Cousens</cp:lastModifiedBy>
  <cp:revision>4</cp:revision>
  <dcterms:created xsi:type="dcterms:W3CDTF">2013-01-27T09:14:16Z</dcterms:created>
  <dcterms:modified xsi:type="dcterms:W3CDTF">2025-11-23T17:02:09Z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2025-11-23T16:32:11Z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c5f8ed6d-296f-46d8-9e2a-43c5cba96ca5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